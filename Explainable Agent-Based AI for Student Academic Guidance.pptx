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Relationship Id="rId4" Type="http://schemas.openxmlformats.org/officeDocument/2006/relationships/custom-properties" Target="docProps/custom.xml" 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</p:sldIdLst>
  <p:notesMasterIdLst>
    <p:notesMasterId r:id="rId39"/>
  </p:notesMasterIdLst>
  <p:sldSz cx="16256000" cy="9144000"/>
  <p:notesSz cx="9144000" cy="16256000"/>
  <p:embeddedFontLst>
    <p:embeddedFont>
      <p:font typeface="Quattrocento Sans" charset="-122" pitchFamily="34"/>
      <p:regular r:id="rId44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notesMaster" Target="notesMasters/notesMaster1.xml"/><Relationship Id="rId40" Type="http://schemas.openxmlformats.org/officeDocument/2006/relationships/presProps" Target="presProps.xml"/><Relationship Id="rId41" Type="http://schemas.openxmlformats.org/officeDocument/2006/relationships/viewProps" Target="viewProps.xml"/><Relationship Id="rId42" Type="http://schemas.openxmlformats.org/officeDocument/2006/relationships/theme" Target="theme/theme1.xml"/><Relationship Id="rId43" Type="http://schemas.openxmlformats.org/officeDocument/2006/relationships/tableStyles" Target="tableStyles.xml"/><Relationship Id="rId44" Type="http://schemas.openxmlformats.org/officeDocument/2006/relationships/font" Target="fonts/font1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okc/7emsas32o6uyo/mnt/agents/output/xai-academic-guidance/images/4_Minimalist_Glowing_Neural_Network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gradFill rotWithShape="1" flip="none">
            <a:gsLst>
              <a:gs pos="0">
                <a:srgbClr val="0F172A">
                  <a:alpha val="80000"/>
                </a:srgbClr>
              </a:gs>
              <a:gs pos="100000">
                <a:srgbClr val="0F172A">
                  <a:alpha val="95000"/>
                </a:srgbClr>
              </a:gs>
            </a:gsLst>
            <a:path path="circle"/>
          </a:gradFill>
          <a:ln w="12700">
            <a:solidFill>
              <a:srgbClr val="333333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6858000" y="3302000"/>
            <a:ext cx="2540000" cy="3810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5" name="Text 2"/>
          <p:cNvSpPr/>
          <p:nvPr/>
        </p:nvSpPr>
        <p:spPr>
          <a:xfrm>
            <a:off x="1270000" y="3556000"/>
            <a:ext cx="1371600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4000" b="1" spc="300" kern="0" dirty="0">
                <a:solidFill>
                  <a:srgbClr val="F8FAF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EXPLAINABLE AGENT-BASED AI</a:t>
            </a:r>
            <a:endParaRPr lang="en-US" sz="4000" dirty="0"/>
          </a:p>
          <a:p>
            <a:pPr algn="ctr">
              <a:lnSpc>
                <a:spcPct val="130000"/>
              </a:lnSpc>
            </a:pPr>
            <a:r>
              <a:rPr lang="en-US" sz="4000" b="1" spc="300" kern="0" dirty="0">
                <a:solidFill>
                  <a:srgbClr val="F8FAF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FOR STUDENT ACADEMIC GUIDANCE</a:t>
            </a:r>
            <a:endParaRPr lang="en-US" sz="4000" dirty="0"/>
          </a:p>
        </p:txBody>
      </p:sp>
      <p:sp>
        <p:nvSpPr>
          <p:cNvPr id="6" name="Text 3"/>
          <p:cNvSpPr/>
          <p:nvPr/>
        </p:nvSpPr>
        <p:spPr>
          <a:xfrm>
            <a:off x="2540000" y="5334000"/>
            <a:ext cx="11176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0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Solving the Black Box Problem in AI-Driven Career Recommendations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6858000" y="6096000"/>
            <a:ext cx="2540000" cy="25400"/>
          </a:xfrm>
          <a:prstGeom prst="rect">
            <a:avLst/>
          </a:prstGeom>
          <a:solidFill>
            <a:srgbClr val="64748B">
              <a:alpha val="50196"/>
            </a:srgbClr>
          </a:solidFill>
          <a:ln/>
        </p:spPr>
      </p:sp>
      <p:sp>
        <p:nvSpPr>
          <p:cNvPr id="8" name="Text 5"/>
          <p:cNvSpPr/>
          <p:nvPr/>
        </p:nvSpPr>
        <p:spPr>
          <a:xfrm>
            <a:off x="3810000" y="6350000"/>
            <a:ext cx="8636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60000"/>
              </a:lnSpc>
            </a:pPr>
            <a:r>
              <a:rPr lang="en-US" sz="14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Final Year Project Presentation</a:t>
            </a:r>
            <a:endParaRPr lang="en-US" sz="1600" dirty="0"/>
          </a:p>
          <a:p>
            <a:pPr algn="ctr">
              <a:lnSpc>
                <a:spcPct val="160000"/>
              </a:lnSpc>
            </a:pPr>
            <a:r>
              <a:rPr lang="en-US" sz="14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Computer Science Department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A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635000"/>
            <a:ext cx="381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200" b="1" spc="300" kern="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OVERVIEW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762000" y="952500"/>
            <a:ext cx="63500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3200" b="1" dirty="0">
                <a:solidFill>
                  <a:srgbClr val="1E293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Presentation Outline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62000" y="1651000"/>
            <a:ext cx="1016000" cy="3810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5" name="Shape 3"/>
          <p:cNvSpPr/>
          <p:nvPr/>
        </p:nvSpPr>
        <p:spPr>
          <a:xfrm>
            <a:off x="762000" y="2159000"/>
            <a:ext cx="4572000" cy="27940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79500" y="2413000"/>
            <a:ext cx="1016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4200" b="1" dirty="0">
                <a:solidFill>
                  <a:srgbClr val="D9770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79500" y="3111500"/>
            <a:ext cx="3937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8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Introduction &amp; Problem Statement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13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Black Box problem, RQs, objectives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842000" y="2159000"/>
            <a:ext cx="4572000" cy="27940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159500" y="2413000"/>
            <a:ext cx="1016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4200" b="1" dirty="0">
                <a:solidFill>
                  <a:srgbClr val="D9770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02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159500" y="3111500"/>
            <a:ext cx="3937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8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Literature Review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13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AI in Ed, XAI foundations, research gap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10922000" y="2159000"/>
            <a:ext cx="4572000" cy="27940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1239500" y="2413000"/>
            <a:ext cx="1016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4200" b="1" dirty="0">
                <a:solidFill>
                  <a:srgbClr val="D9770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03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1239500" y="3111500"/>
            <a:ext cx="3937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8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Methodology &amp; Data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13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Dataset, preprocessing, model architecture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762000" y="5334000"/>
            <a:ext cx="4572000" cy="27940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79500" y="5588000"/>
            <a:ext cx="1016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4200" b="1" dirty="0">
                <a:solidFill>
                  <a:srgbClr val="D9770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04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079500" y="6286500"/>
            <a:ext cx="3937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8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XAI Analysis &amp; Results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13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Evaluation, SHAP interpretation, insights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5842000" y="5334000"/>
            <a:ext cx="4572000" cy="27940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159500" y="5588000"/>
            <a:ext cx="1016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4200" b="1" dirty="0">
                <a:solidFill>
                  <a:srgbClr val="D9770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05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159500" y="6286500"/>
            <a:ext cx="3937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8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System Implementation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13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Architecture, tech stack, core features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10922000" y="5334000"/>
            <a:ext cx="4572000" cy="27940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1239500" y="5588000"/>
            <a:ext cx="1016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4200" b="1" dirty="0">
                <a:solidFill>
                  <a:srgbClr val="D9770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06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1239500" y="6286500"/>
            <a:ext cx="3937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8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Demonstration &amp; Future Work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13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Dual demo, scalability, enhancements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2286000"/>
            <a:ext cx="2540000" cy="1143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7200" b="1" dirty="0">
                <a:solidFill>
                  <a:srgbClr val="D9770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01</a:t>
            </a:r>
            <a:endParaRPr lang="en-US" sz="1600" dirty="0"/>
          </a:p>
        </p:txBody>
      </p:sp>
      <p:sp>
        <p:nvSpPr>
          <p:cNvPr id="3" name="Shape 1"/>
          <p:cNvSpPr/>
          <p:nvPr/>
        </p:nvSpPr>
        <p:spPr>
          <a:xfrm>
            <a:off x="762000" y="3619500"/>
            <a:ext cx="1270000" cy="3810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4" name="Text 2"/>
          <p:cNvSpPr/>
          <p:nvPr/>
        </p:nvSpPr>
        <p:spPr>
          <a:xfrm>
            <a:off x="762000" y="3873500"/>
            <a:ext cx="1016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600" b="1" spc="200" kern="0" dirty="0">
                <a:solidFill>
                  <a:srgbClr val="F8FAF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INTRODUCTION &amp; PROBLEM STATEMENT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62000" y="4699000"/>
            <a:ext cx="889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Defining the Black Box problem and research objectives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A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45720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Text 1"/>
          <p:cNvSpPr/>
          <p:nvPr/>
        </p:nvSpPr>
        <p:spPr>
          <a:xfrm>
            <a:off x="0" y="0"/>
            <a:ext cx="27051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b="1" spc="100" kern="0" dirty="0">
                <a:solidFill>
                  <a:srgbClr val="D9770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INTRODUCTION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2705100" y="0"/>
            <a:ext cx="27051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spc="100" kern="0" dirty="0">
                <a:solidFill>
                  <a:srgbClr val="F8FAF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LITERATURE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10200" y="0"/>
            <a:ext cx="27178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spc="100" kern="0" dirty="0">
                <a:solidFill>
                  <a:srgbClr val="F8FAF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METHODOLOGY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128000" y="0"/>
            <a:ext cx="27051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spc="100" kern="0" dirty="0">
                <a:solidFill>
                  <a:srgbClr val="F8FAF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XAI RESULTS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0833100" y="0"/>
            <a:ext cx="27178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spc="100" kern="0" dirty="0">
                <a:solidFill>
                  <a:srgbClr val="F8FAF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IMPLEMENTATION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3550900" y="0"/>
            <a:ext cx="27051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spc="100" kern="0" dirty="0">
                <a:solidFill>
                  <a:srgbClr val="F8FAF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DEMONSTRATION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62000" y="660400"/>
            <a:ext cx="11430000" cy="482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b="1" dirty="0">
                <a:solidFill>
                  <a:srgbClr val="1E293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Problem Statement: The Black Box in AI Career Guidance</a:t>
            </a:r>
            <a:endParaRPr lang="en-US" sz="2800" dirty="0"/>
          </a:p>
        </p:txBody>
      </p:sp>
      <p:sp>
        <p:nvSpPr>
          <p:cNvPr id="10" name="Shape 8"/>
          <p:cNvSpPr/>
          <p:nvPr/>
        </p:nvSpPr>
        <p:spPr>
          <a:xfrm>
            <a:off x="762000" y="1206500"/>
            <a:ext cx="762000" cy="3810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11" name="Text 9"/>
          <p:cNvSpPr/>
          <p:nvPr/>
        </p:nvSpPr>
        <p:spPr>
          <a:xfrm>
            <a:off x="762000" y="1460500"/>
            <a:ext cx="7366000" cy="431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70000"/>
              </a:lnSpc>
            </a:pPr>
            <a:r>
              <a:rPr lang="en-US" sz="1800" dirty="0">
                <a:solidFill>
                  <a:srgbClr val="D9770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■</a:t>
            </a:r>
            <a:pPr>
              <a:lnSpc>
                <a:spcPct val="170000"/>
              </a:lnSpc>
            </a:pPr>
            <a:r>
              <a:rPr lang="en-US" sz="1800" dirty="0">
                <a:solidFill>
                  <a:srgbClr val="0F172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AI-driven career recommendation systems increasingly influence student academic decisions</a:t>
            </a:r>
            <a:endParaRPr lang="en-US" sz="1800" dirty="0"/>
          </a:p>
          <a:p>
            <a:pPr>
              <a:lnSpc>
                <a:spcPct val="170000"/>
              </a:lnSpc>
              <a:spcBef>
                <a:spcPts val="1200"/>
              </a:spcBef>
            </a:pPr>
            <a:r>
              <a:rPr lang="en-US" sz="1800" dirty="0">
                <a:solidFill>
                  <a:srgbClr val="D9770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■</a:t>
            </a:r>
            <a:pPr>
              <a:lnSpc>
                <a:spcPct val="170000"/>
              </a:lnSpc>
              <a:spcBef>
                <a:spcPts val="1200"/>
              </a:spcBef>
            </a:pPr>
            <a:r>
              <a:rPr lang="en-US" sz="1800" dirty="0">
                <a:solidFill>
                  <a:srgbClr val="0F172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Most systems operate as </a:t>
            </a:r>
            <a:pPr>
              <a:lnSpc>
                <a:spcPct val="170000"/>
              </a:lnSpc>
              <a:spcBef>
                <a:spcPts val="1200"/>
              </a:spcBef>
            </a:pPr>
            <a:r>
              <a:rPr lang="en-US" sz="1800" b="1" dirty="0">
                <a:solidFill>
                  <a:srgbClr val="0F172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"black boxes"</a:t>
            </a:r>
            <a:pPr>
              <a:lnSpc>
                <a:spcPct val="170000"/>
              </a:lnSpc>
              <a:spcBef>
                <a:spcPts val="1200"/>
              </a:spcBef>
            </a:pPr>
            <a:r>
              <a:rPr lang="en-US" sz="1800" dirty="0">
                <a:solidFill>
                  <a:srgbClr val="0F172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— students receive recommendations without understanding why</a:t>
            </a:r>
            <a:endParaRPr lang="en-US" sz="1800" dirty="0"/>
          </a:p>
          <a:p>
            <a:pPr>
              <a:lnSpc>
                <a:spcPct val="170000"/>
              </a:lnSpc>
              <a:spcBef>
                <a:spcPts val="1200"/>
              </a:spcBef>
            </a:pPr>
            <a:r>
              <a:rPr lang="en-US" sz="1800" dirty="0">
                <a:solidFill>
                  <a:srgbClr val="D9770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■</a:t>
            </a:r>
            <a:pPr>
              <a:lnSpc>
                <a:spcPct val="170000"/>
              </a:lnSpc>
              <a:spcBef>
                <a:spcPts val="1200"/>
              </a:spcBef>
            </a:pPr>
            <a:r>
              <a:rPr lang="en-US" sz="1800" dirty="0">
                <a:solidFill>
                  <a:srgbClr val="0F172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Lack of transparency erodes trust and prevents students from making informed skill development choices</a:t>
            </a:r>
            <a:endParaRPr lang="en-US" sz="1800" dirty="0"/>
          </a:p>
          <a:p>
            <a:pPr>
              <a:lnSpc>
                <a:spcPct val="170000"/>
              </a:lnSpc>
              <a:spcBef>
                <a:spcPts val="1200"/>
              </a:spcBef>
            </a:pPr>
            <a:r>
              <a:rPr lang="en-US" sz="1800" dirty="0">
                <a:solidFill>
                  <a:srgbClr val="D9770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■</a:t>
            </a:r>
            <a:pPr>
              <a:lnSpc>
                <a:spcPct val="170000"/>
              </a:lnSpc>
              <a:spcBef>
                <a:spcPts val="1200"/>
              </a:spcBef>
            </a:pPr>
            <a:r>
              <a:rPr lang="en-US" sz="1800" dirty="0">
                <a:solidFill>
                  <a:srgbClr val="0F172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Critical need for </a:t>
            </a:r>
            <a:pPr>
              <a:lnSpc>
                <a:spcPct val="170000"/>
              </a:lnSpc>
              <a:spcBef>
                <a:spcPts val="1200"/>
              </a:spcBef>
            </a:pPr>
            <a:r>
              <a:rPr lang="en-US" sz="1800" b="1" dirty="0">
                <a:solidFill>
                  <a:srgbClr val="0F172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Explainable AI (XAI)</a:t>
            </a:r>
            <a:pPr>
              <a:lnSpc>
                <a:spcPct val="170000"/>
              </a:lnSpc>
              <a:spcBef>
                <a:spcPts val="1200"/>
              </a:spcBef>
            </a:pPr>
            <a:r>
              <a:rPr lang="en-US" sz="1800" dirty="0">
                <a:solidFill>
                  <a:srgbClr val="0F172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to bridge the gap between prediction and comprehension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8636000" y="1460500"/>
            <a:ext cx="6858000" cy="43180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3" name="Shape 11"/>
          <p:cNvSpPr/>
          <p:nvPr/>
        </p:nvSpPr>
        <p:spPr>
          <a:xfrm>
            <a:off x="11671300" y="2794000"/>
            <a:ext cx="533400" cy="609600"/>
          </a:xfrm>
          <a:custGeom>
            <a:avLst/>
            <a:gdLst/>
            <a:ahLst/>
            <a:cxnLst/>
            <a:rect l="l" t="t" r="r" b="b"/>
            <a:pathLst>
              <a:path w="533400" h="609600">
                <a:moveTo>
                  <a:pt x="76200" y="95250"/>
                </a:moveTo>
                <a:cubicBezTo>
                  <a:pt x="65723" y="95250"/>
                  <a:pt x="57150" y="103823"/>
                  <a:pt x="57150" y="114300"/>
                </a:cubicBezTo>
                <a:lnTo>
                  <a:pt x="57150" y="495300"/>
                </a:lnTo>
                <a:cubicBezTo>
                  <a:pt x="57150" y="505778"/>
                  <a:pt x="65723" y="514350"/>
                  <a:pt x="76200" y="514350"/>
                </a:cubicBezTo>
                <a:lnTo>
                  <a:pt x="457200" y="514350"/>
                </a:lnTo>
                <a:cubicBezTo>
                  <a:pt x="467678" y="514350"/>
                  <a:pt x="476250" y="505778"/>
                  <a:pt x="476250" y="495300"/>
                </a:cubicBezTo>
                <a:lnTo>
                  <a:pt x="476250" y="114300"/>
                </a:lnTo>
                <a:cubicBezTo>
                  <a:pt x="476250" y="103823"/>
                  <a:pt x="467678" y="95250"/>
                  <a:pt x="457200" y="95250"/>
                </a:cubicBezTo>
                <a:lnTo>
                  <a:pt x="76200" y="95250"/>
                </a:lnTo>
                <a:close/>
                <a:moveTo>
                  <a:pt x="0" y="114300"/>
                </a:moveTo>
                <a:cubicBezTo>
                  <a:pt x="0" y="72271"/>
                  <a:pt x="34171" y="38100"/>
                  <a:pt x="76200" y="38100"/>
                </a:cubicBezTo>
                <a:lnTo>
                  <a:pt x="457200" y="38100"/>
                </a:lnTo>
                <a:cubicBezTo>
                  <a:pt x="499229" y="38100"/>
                  <a:pt x="533400" y="72271"/>
                  <a:pt x="533400" y="114300"/>
                </a:cubicBezTo>
                <a:lnTo>
                  <a:pt x="533400" y="495300"/>
                </a:lnTo>
                <a:cubicBezTo>
                  <a:pt x="533400" y="537329"/>
                  <a:pt x="499229" y="571500"/>
                  <a:pt x="457200" y="571500"/>
                </a:cubicBezTo>
                <a:lnTo>
                  <a:pt x="76200" y="571500"/>
                </a:lnTo>
                <a:cubicBezTo>
                  <a:pt x="34171" y="571500"/>
                  <a:pt x="0" y="537329"/>
                  <a:pt x="0" y="495300"/>
                </a:cubicBezTo>
                <a:lnTo>
                  <a:pt x="0" y="114300"/>
                </a:lnTo>
                <a:close/>
                <a:moveTo>
                  <a:pt x="152400" y="152400"/>
                </a:moveTo>
                <a:cubicBezTo>
                  <a:pt x="173428" y="152400"/>
                  <a:pt x="190500" y="169472"/>
                  <a:pt x="190500" y="190500"/>
                </a:cubicBezTo>
                <a:cubicBezTo>
                  <a:pt x="190500" y="211528"/>
                  <a:pt x="173428" y="228600"/>
                  <a:pt x="152400" y="228600"/>
                </a:cubicBezTo>
                <a:cubicBezTo>
                  <a:pt x="131372" y="228600"/>
                  <a:pt x="114300" y="211528"/>
                  <a:pt x="114300" y="190500"/>
                </a:cubicBezTo>
                <a:cubicBezTo>
                  <a:pt x="114300" y="169472"/>
                  <a:pt x="131372" y="152400"/>
                  <a:pt x="152400" y="152400"/>
                </a:cubicBezTo>
                <a:close/>
                <a:moveTo>
                  <a:pt x="314325" y="238125"/>
                </a:moveTo>
                <a:cubicBezTo>
                  <a:pt x="324445" y="238125"/>
                  <a:pt x="333851" y="243483"/>
                  <a:pt x="338971" y="252174"/>
                </a:cubicBezTo>
                <a:lnTo>
                  <a:pt x="434221" y="414099"/>
                </a:lnTo>
                <a:cubicBezTo>
                  <a:pt x="439460" y="422910"/>
                  <a:pt x="439460" y="433864"/>
                  <a:pt x="434340" y="442793"/>
                </a:cubicBezTo>
                <a:cubicBezTo>
                  <a:pt x="429220" y="451723"/>
                  <a:pt x="419814" y="457200"/>
                  <a:pt x="409575" y="457200"/>
                </a:cubicBezTo>
                <a:lnTo>
                  <a:pt x="123825" y="457200"/>
                </a:lnTo>
                <a:cubicBezTo>
                  <a:pt x="113228" y="457200"/>
                  <a:pt x="103346" y="451247"/>
                  <a:pt x="98465" y="441841"/>
                </a:cubicBezTo>
                <a:cubicBezTo>
                  <a:pt x="93583" y="432435"/>
                  <a:pt x="94298" y="421005"/>
                  <a:pt x="100370" y="412313"/>
                </a:cubicBezTo>
                <a:lnTo>
                  <a:pt x="167045" y="317063"/>
                </a:lnTo>
                <a:cubicBezTo>
                  <a:pt x="172403" y="309443"/>
                  <a:pt x="181094" y="304919"/>
                  <a:pt x="190500" y="304919"/>
                </a:cubicBezTo>
                <a:cubicBezTo>
                  <a:pt x="199906" y="304919"/>
                  <a:pt x="208597" y="309443"/>
                  <a:pt x="213955" y="317063"/>
                </a:cubicBezTo>
                <a:lnTo>
                  <a:pt x="234434" y="346353"/>
                </a:lnTo>
                <a:lnTo>
                  <a:pt x="289798" y="252293"/>
                </a:lnTo>
                <a:cubicBezTo>
                  <a:pt x="294918" y="243602"/>
                  <a:pt x="304324" y="238244"/>
                  <a:pt x="314444" y="238244"/>
                </a:cubicBezTo>
                <a:close/>
              </a:path>
            </a:pathLst>
          </a:custGeom>
          <a:solidFill>
            <a:srgbClr val="64748B"/>
          </a:solidFill>
          <a:ln/>
        </p:spPr>
      </p:sp>
      <p:sp>
        <p:nvSpPr>
          <p:cNvPr id="14" name="Text 12"/>
          <p:cNvSpPr/>
          <p:nvPr/>
        </p:nvSpPr>
        <p:spPr>
          <a:xfrm>
            <a:off x="9144000" y="3556000"/>
            <a:ext cx="5842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50000"/>
              </a:lnSpc>
            </a:pPr>
            <a:r>
              <a:rPr lang="en-US" sz="14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[Insert Diagram: Black Box AI vs. Explainable AI</a:t>
            </a:r>
            <a:endParaRPr lang="en-US" sz="1600" dirty="0"/>
          </a:p>
          <a:p>
            <a:pPr algn="ctr">
              <a:lnSpc>
                <a:spcPct val="150000"/>
              </a:lnSpc>
            </a:pPr>
            <a:r>
              <a:rPr lang="en-US" sz="14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Comparison Illustration]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762000" y="5969000"/>
            <a:ext cx="14732000" cy="127000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/>
        </p:spPr>
      </p:sp>
      <p:sp>
        <p:nvSpPr>
          <p:cNvPr id="16" name="Text 14"/>
          <p:cNvSpPr/>
          <p:nvPr/>
        </p:nvSpPr>
        <p:spPr>
          <a:xfrm>
            <a:off x="1143000" y="6096000"/>
            <a:ext cx="13970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800" b="1" dirty="0">
                <a:solidFill>
                  <a:srgbClr val="F8FAF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Core Issue:</a:t>
            </a:r>
            <a:pPr>
              <a:lnSpc>
                <a:spcPct val="150000"/>
              </a:lnSpc>
            </a:pPr>
            <a:r>
              <a:rPr lang="en-US" sz="1800" dirty="0">
                <a:solidFill>
                  <a:srgbClr val="F8FAF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Students need more than a career recommendation — they need to understand </a:t>
            </a:r>
            <a:pPr>
              <a:lnSpc>
                <a:spcPct val="150000"/>
              </a:lnSpc>
            </a:pPr>
            <a:r>
              <a:rPr lang="en-US" sz="1800" i="1" dirty="0">
                <a:solidFill>
                  <a:srgbClr val="F8FAF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why</a:t>
            </a:r>
            <a:pPr>
              <a:lnSpc>
                <a:spcPct val="150000"/>
              </a:lnSpc>
            </a:pPr>
            <a:r>
              <a:rPr lang="en-US" sz="1800" dirty="0">
                <a:solidFill>
                  <a:srgbClr val="F8FAF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 career was recommended and </a:t>
            </a:r>
            <a:pPr>
              <a:lnSpc>
                <a:spcPct val="150000"/>
              </a:lnSpc>
            </a:pPr>
            <a:r>
              <a:rPr lang="en-US" sz="1800" i="1" dirty="0">
                <a:solidFill>
                  <a:srgbClr val="F8FAF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what skills</a:t>
            </a:r>
            <a:pPr>
              <a:lnSpc>
                <a:spcPct val="150000"/>
              </a:lnSpc>
            </a:pPr>
            <a:r>
              <a:rPr lang="en-US" sz="1800" dirty="0">
                <a:solidFill>
                  <a:srgbClr val="F8FAF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they need to develop. Our project solves this through Explainable Agent-Based AI.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4986000" y="87630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200" dirty="0">
                <a:solidFill>
                  <a:srgbClr val="64748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04</a:t>
            </a:r>
            <a:endParaRPr lang="en-US" sz="1200" dirty="0"/>
          </a:p>
        </p:txBody>
      </p:sp>
    </p:spTree>
  </p:cSld>
  <p:clrMapOvr>
    <a:masterClrMapping/>
  </p:clrMapOvr>
  <p:transition>
    <p:fade/>
    <p:spd val="med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A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45720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Text 1"/>
          <p:cNvSpPr/>
          <p:nvPr/>
        </p:nvSpPr>
        <p:spPr>
          <a:xfrm>
            <a:off x="0" y="0"/>
            <a:ext cx="27051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b="1" spc="100" kern="0" dirty="0">
                <a:solidFill>
                  <a:srgbClr val="D9770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INTRODUCTION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2705100" y="0"/>
            <a:ext cx="27051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spc="100" kern="0" dirty="0">
                <a:solidFill>
                  <a:srgbClr val="F8FAF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LITERATURE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10200" y="0"/>
            <a:ext cx="27178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spc="100" kern="0" dirty="0">
                <a:solidFill>
                  <a:srgbClr val="F8FAF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METHODOLOGY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128000" y="0"/>
            <a:ext cx="27051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spc="100" kern="0" dirty="0">
                <a:solidFill>
                  <a:srgbClr val="F8FAF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XAI RESULTS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0833100" y="0"/>
            <a:ext cx="27178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spc="100" kern="0" dirty="0">
                <a:solidFill>
                  <a:srgbClr val="F8FAF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IMPLEMENTATION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3550900" y="0"/>
            <a:ext cx="27051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spc="100" kern="0" dirty="0">
                <a:solidFill>
                  <a:srgbClr val="F8FAF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DEMONSTRATION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62000" y="660400"/>
            <a:ext cx="7620000" cy="482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b="1" dirty="0">
                <a:solidFill>
                  <a:srgbClr val="1E293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Research Questions</a:t>
            </a:r>
            <a:endParaRPr lang="en-US" sz="2800" dirty="0"/>
          </a:p>
        </p:txBody>
      </p:sp>
      <p:sp>
        <p:nvSpPr>
          <p:cNvPr id="10" name="Shape 8"/>
          <p:cNvSpPr/>
          <p:nvPr/>
        </p:nvSpPr>
        <p:spPr>
          <a:xfrm>
            <a:off x="762000" y="1206500"/>
            <a:ext cx="762000" cy="3810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11" name="Shape 9"/>
          <p:cNvSpPr/>
          <p:nvPr/>
        </p:nvSpPr>
        <p:spPr>
          <a:xfrm>
            <a:off x="762000" y="1524000"/>
            <a:ext cx="4699000" cy="21590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62000" y="1524000"/>
            <a:ext cx="76200" cy="215900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13" name="Text 11"/>
          <p:cNvSpPr/>
          <p:nvPr/>
        </p:nvSpPr>
        <p:spPr>
          <a:xfrm>
            <a:off x="1079500" y="1676400"/>
            <a:ext cx="127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300" b="1" spc="100" kern="0" dirty="0">
                <a:solidFill>
                  <a:srgbClr val="D9770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RQ1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079500" y="2032000"/>
            <a:ext cx="4127500" cy="146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How can </a:t>
            </a:r>
            <a:pPr>
              <a:lnSpc>
                <a:spcPct val="150000"/>
              </a:lnSpc>
            </a:pPr>
            <a:r>
              <a:rPr lang="en-US" sz="1600" b="1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Explainable AI (XAI)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techniques demystify career prediction decisions for CS students?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5778500" y="1524000"/>
            <a:ext cx="4699000" cy="21590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778500" y="1524000"/>
            <a:ext cx="76200" cy="215900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17" name="Text 15"/>
          <p:cNvSpPr/>
          <p:nvPr/>
        </p:nvSpPr>
        <p:spPr>
          <a:xfrm>
            <a:off x="6096000" y="1676400"/>
            <a:ext cx="127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300" b="1" spc="100" kern="0" dirty="0">
                <a:solidFill>
                  <a:srgbClr val="D9770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RQ2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096000" y="2032000"/>
            <a:ext cx="4127500" cy="146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What </a:t>
            </a:r>
            <a:pPr>
              <a:lnSpc>
                <a:spcPct val="150000"/>
              </a:lnSpc>
            </a:pPr>
            <a:r>
              <a:rPr lang="en-US" sz="1600" b="1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feature engineering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approach best captures student academic profiles for career matching?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10795000" y="1524000"/>
            <a:ext cx="4699000" cy="21590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795000" y="1524000"/>
            <a:ext cx="76200" cy="215900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21" name="Text 19"/>
          <p:cNvSpPr/>
          <p:nvPr/>
        </p:nvSpPr>
        <p:spPr>
          <a:xfrm>
            <a:off x="11112500" y="1676400"/>
            <a:ext cx="127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300" b="1" spc="100" kern="0" dirty="0">
                <a:solidFill>
                  <a:srgbClr val="D9770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RQ3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1112500" y="2032000"/>
            <a:ext cx="4127500" cy="146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How can </a:t>
            </a:r>
            <a:pPr>
              <a:lnSpc>
                <a:spcPct val="150000"/>
              </a:lnSpc>
            </a:pPr>
            <a:r>
              <a:rPr lang="en-US" sz="1600" b="1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agent-based architecture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deliver personalized, transparent academic guidance at scale?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762000" y="4064000"/>
            <a:ext cx="14732000" cy="3556000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4" name="Shape 22"/>
          <p:cNvSpPr/>
          <p:nvPr/>
        </p:nvSpPr>
        <p:spPr>
          <a:xfrm>
            <a:off x="7861300" y="5080000"/>
            <a:ext cx="533400" cy="609600"/>
          </a:xfrm>
          <a:custGeom>
            <a:avLst/>
            <a:gdLst/>
            <a:ahLst/>
            <a:cxnLst/>
            <a:rect l="l" t="t" r="r" b="b"/>
            <a:pathLst>
              <a:path w="533400" h="609600">
                <a:moveTo>
                  <a:pt x="76200" y="95250"/>
                </a:moveTo>
                <a:cubicBezTo>
                  <a:pt x="65723" y="95250"/>
                  <a:pt x="57150" y="103823"/>
                  <a:pt x="57150" y="114300"/>
                </a:cubicBezTo>
                <a:lnTo>
                  <a:pt x="57150" y="495300"/>
                </a:lnTo>
                <a:cubicBezTo>
                  <a:pt x="57150" y="505778"/>
                  <a:pt x="65723" y="514350"/>
                  <a:pt x="76200" y="514350"/>
                </a:cubicBezTo>
                <a:lnTo>
                  <a:pt x="457200" y="514350"/>
                </a:lnTo>
                <a:cubicBezTo>
                  <a:pt x="467678" y="514350"/>
                  <a:pt x="476250" y="505778"/>
                  <a:pt x="476250" y="495300"/>
                </a:cubicBezTo>
                <a:lnTo>
                  <a:pt x="476250" y="114300"/>
                </a:lnTo>
                <a:cubicBezTo>
                  <a:pt x="476250" y="103823"/>
                  <a:pt x="467678" y="95250"/>
                  <a:pt x="457200" y="95250"/>
                </a:cubicBezTo>
                <a:lnTo>
                  <a:pt x="76200" y="95250"/>
                </a:lnTo>
                <a:close/>
                <a:moveTo>
                  <a:pt x="0" y="114300"/>
                </a:moveTo>
                <a:cubicBezTo>
                  <a:pt x="0" y="72271"/>
                  <a:pt x="34171" y="38100"/>
                  <a:pt x="76200" y="38100"/>
                </a:cubicBezTo>
                <a:lnTo>
                  <a:pt x="457200" y="38100"/>
                </a:lnTo>
                <a:cubicBezTo>
                  <a:pt x="499229" y="38100"/>
                  <a:pt x="533400" y="72271"/>
                  <a:pt x="533400" y="114300"/>
                </a:cubicBezTo>
                <a:lnTo>
                  <a:pt x="533400" y="495300"/>
                </a:lnTo>
                <a:cubicBezTo>
                  <a:pt x="533400" y="537329"/>
                  <a:pt x="499229" y="571500"/>
                  <a:pt x="457200" y="571500"/>
                </a:cubicBezTo>
                <a:lnTo>
                  <a:pt x="76200" y="571500"/>
                </a:lnTo>
                <a:cubicBezTo>
                  <a:pt x="34171" y="571500"/>
                  <a:pt x="0" y="537329"/>
                  <a:pt x="0" y="495300"/>
                </a:cubicBezTo>
                <a:lnTo>
                  <a:pt x="0" y="114300"/>
                </a:lnTo>
                <a:close/>
                <a:moveTo>
                  <a:pt x="152400" y="152400"/>
                </a:moveTo>
                <a:cubicBezTo>
                  <a:pt x="173428" y="152400"/>
                  <a:pt x="190500" y="169472"/>
                  <a:pt x="190500" y="190500"/>
                </a:cubicBezTo>
                <a:cubicBezTo>
                  <a:pt x="190500" y="211528"/>
                  <a:pt x="173428" y="228600"/>
                  <a:pt x="152400" y="228600"/>
                </a:cubicBezTo>
                <a:cubicBezTo>
                  <a:pt x="131372" y="228600"/>
                  <a:pt x="114300" y="211528"/>
                  <a:pt x="114300" y="190500"/>
                </a:cubicBezTo>
                <a:cubicBezTo>
                  <a:pt x="114300" y="169472"/>
                  <a:pt x="131372" y="152400"/>
                  <a:pt x="152400" y="152400"/>
                </a:cubicBezTo>
                <a:close/>
                <a:moveTo>
                  <a:pt x="314325" y="238125"/>
                </a:moveTo>
                <a:cubicBezTo>
                  <a:pt x="324445" y="238125"/>
                  <a:pt x="333851" y="243483"/>
                  <a:pt x="338971" y="252174"/>
                </a:cubicBezTo>
                <a:lnTo>
                  <a:pt x="434221" y="414099"/>
                </a:lnTo>
                <a:cubicBezTo>
                  <a:pt x="439460" y="422910"/>
                  <a:pt x="439460" y="433864"/>
                  <a:pt x="434340" y="442793"/>
                </a:cubicBezTo>
                <a:cubicBezTo>
                  <a:pt x="429220" y="451723"/>
                  <a:pt x="419814" y="457200"/>
                  <a:pt x="409575" y="457200"/>
                </a:cubicBezTo>
                <a:lnTo>
                  <a:pt x="123825" y="457200"/>
                </a:lnTo>
                <a:cubicBezTo>
                  <a:pt x="113228" y="457200"/>
                  <a:pt x="103346" y="451247"/>
                  <a:pt x="98465" y="441841"/>
                </a:cubicBezTo>
                <a:cubicBezTo>
                  <a:pt x="93583" y="432435"/>
                  <a:pt x="94298" y="421005"/>
                  <a:pt x="100370" y="412313"/>
                </a:cubicBezTo>
                <a:lnTo>
                  <a:pt x="167045" y="317063"/>
                </a:lnTo>
                <a:cubicBezTo>
                  <a:pt x="172403" y="309443"/>
                  <a:pt x="181094" y="304919"/>
                  <a:pt x="190500" y="304919"/>
                </a:cubicBezTo>
                <a:cubicBezTo>
                  <a:pt x="199906" y="304919"/>
                  <a:pt x="208597" y="309443"/>
                  <a:pt x="213955" y="317063"/>
                </a:cubicBezTo>
                <a:lnTo>
                  <a:pt x="234434" y="346353"/>
                </a:lnTo>
                <a:lnTo>
                  <a:pt x="289798" y="252293"/>
                </a:lnTo>
                <a:cubicBezTo>
                  <a:pt x="294918" y="243602"/>
                  <a:pt x="304324" y="238244"/>
                  <a:pt x="314444" y="238244"/>
                </a:cubicBezTo>
                <a:close/>
              </a:path>
            </a:pathLst>
          </a:custGeom>
          <a:solidFill>
            <a:srgbClr val="64748B"/>
          </a:solidFill>
          <a:ln/>
        </p:spPr>
      </p:sp>
      <p:sp>
        <p:nvSpPr>
          <p:cNvPr id="25" name="Text 23"/>
          <p:cNvSpPr/>
          <p:nvPr/>
        </p:nvSpPr>
        <p:spPr>
          <a:xfrm>
            <a:off x="4318000" y="5842000"/>
            <a:ext cx="762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[Insert Diagram: Research Question Hierarchy / Mind Map]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14986000" y="87630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200" dirty="0">
                <a:solidFill>
                  <a:srgbClr val="64748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05</a:t>
            </a:r>
            <a:endParaRPr lang="en-US" sz="1200" dirty="0"/>
          </a:p>
        </p:txBody>
      </p:sp>
    </p:spTree>
  </p:cSld>
  <p:clrMapOvr>
    <a:masterClrMapping/>
  </p:clrMapOvr>
  <p:transition>
    <p:fade/>
    <p:spd val="med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A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45720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Text 1"/>
          <p:cNvSpPr/>
          <p:nvPr/>
        </p:nvSpPr>
        <p:spPr>
          <a:xfrm>
            <a:off x="0" y="0"/>
            <a:ext cx="27051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b="1" spc="100" kern="0" dirty="0">
                <a:solidFill>
                  <a:srgbClr val="D9770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INTRODUCTION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2705100" y="0"/>
            <a:ext cx="27051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spc="100" kern="0" dirty="0">
                <a:solidFill>
                  <a:srgbClr val="F8FAF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LITERATURE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10200" y="0"/>
            <a:ext cx="27178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spc="100" kern="0" dirty="0">
                <a:solidFill>
                  <a:srgbClr val="F8FAF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METHODOLOGY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128000" y="0"/>
            <a:ext cx="27051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spc="100" kern="0" dirty="0">
                <a:solidFill>
                  <a:srgbClr val="F8FAF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XAI RESULTS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0833100" y="0"/>
            <a:ext cx="27178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spc="100" kern="0" dirty="0">
                <a:solidFill>
                  <a:srgbClr val="F8FAF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IMPLEMENTATION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3550900" y="0"/>
            <a:ext cx="27051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spc="100" kern="0" dirty="0">
                <a:solidFill>
                  <a:srgbClr val="F8FAF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DEMONSTRATION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62000" y="660400"/>
            <a:ext cx="7620000" cy="482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b="1" dirty="0">
                <a:solidFill>
                  <a:srgbClr val="1E293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Research Objectives &amp; Scope</a:t>
            </a:r>
            <a:endParaRPr lang="en-US" sz="2800" dirty="0"/>
          </a:p>
        </p:txBody>
      </p:sp>
      <p:sp>
        <p:nvSpPr>
          <p:cNvPr id="10" name="Shape 8"/>
          <p:cNvSpPr/>
          <p:nvPr/>
        </p:nvSpPr>
        <p:spPr>
          <a:xfrm>
            <a:off x="762000" y="1206500"/>
            <a:ext cx="762000" cy="3810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11" name="Shape 9"/>
          <p:cNvSpPr/>
          <p:nvPr/>
        </p:nvSpPr>
        <p:spPr>
          <a:xfrm>
            <a:off x="762000" y="1524000"/>
            <a:ext cx="457200" cy="457200"/>
          </a:xfrm>
          <a:prstGeom prst="ellipse">
            <a:avLst/>
          </a:prstGeom>
          <a:solidFill>
            <a:srgbClr val="D97706"/>
          </a:solidFill>
          <a:ln/>
        </p:spPr>
      </p:sp>
      <p:sp>
        <p:nvSpPr>
          <p:cNvPr id="12" name="Text 10"/>
          <p:cNvSpPr/>
          <p:nvPr/>
        </p:nvSpPr>
        <p:spPr>
          <a:xfrm>
            <a:off x="762000" y="1524000"/>
            <a:ext cx="4572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b="1" dirty="0">
                <a:solidFill>
                  <a:srgbClr val="F8FAF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397000" y="1498600"/>
            <a:ext cx="635000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800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Develop an </a:t>
            </a:r>
            <a:pPr>
              <a:lnSpc>
                <a:spcPct val="150000"/>
              </a:lnSpc>
            </a:pPr>
            <a:r>
              <a:rPr lang="en-US" sz="1800" b="1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interpretable ML pipeline</a:t>
            </a:r>
            <a:pPr>
              <a:lnSpc>
                <a:spcPct val="150000"/>
              </a:lnSpc>
            </a:pPr>
            <a:r>
              <a:rPr lang="en-US" sz="1800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using Decision Trees + SHAP for career prediction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762000" y="2540000"/>
            <a:ext cx="457200" cy="457200"/>
          </a:xfrm>
          <a:prstGeom prst="ellipse">
            <a:avLst/>
          </a:prstGeom>
          <a:solidFill>
            <a:srgbClr val="D97706"/>
          </a:solidFill>
          <a:ln/>
        </p:spPr>
      </p:sp>
      <p:sp>
        <p:nvSpPr>
          <p:cNvPr id="15" name="Text 13"/>
          <p:cNvSpPr/>
          <p:nvPr/>
        </p:nvSpPr>
        <p:spPr>
          <a:xfrm>
            <a:off x="762000" y="2540000"/>
            <a:ext cx="4572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b="1" dirty="0">
                <a:solidFill>
                  <a:srgbClr val="F8FAF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397000" y="2514600"/>
            <a:ext cx="635000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800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Engineer </a:t>
            </a:r>
            <a:pPr>
              <a:lnSpc>
                <a:spcPct val="150000"/>
              </a:lnSpc>
            </a:pPr>
            <a:r>
              <a:rPr lang="en-US" sz="1800" b="1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domain-specific features</a:t>
            </a:r>
            <a:pPr>
              <a:lnSpc>
                <a:spcPct val="150000"/>
              </a:lnSpc>
            </a:pPr>
            <a:r>
              <a:rPr lang="en-US" sz="1800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from student data (GPA, programming skills, interests)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762000" y="3556000"/>
            <a:ext cx="457200" cy="457200"/>
          </a:xfrm>
          <a:prstGeom prst="ellipse">
            <a:avLst/>
          </a:prstGeom>
          <a:solidFill>
            <a:srgbClr val="D97706"/>
          </a:solidFill>
          <a:ln/>
        </p:spPr>
      </p:sp>
      <p:sp>
        <p:nvSpPr>
          <p:cNvPr id="18" name="Text 16"/>
          <p:cNvSpPr/>
          <p:nvPr/>
        </p:nvSpPr>
        <p:spPr>
          <a:xfrm>
            <a:off x="762000" y="3556000"/>
            <a:ext cx="4572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b="1" dirty="0">
                <a:solidFill>
                  <a:srgbClr val="F8FAF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397000" y="3530600"/>
            <a:ext cx="635000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800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Build an </a:t>
            </a:r>
            <a:pPr>
              <a:lnSpc>
                <a:spcPct val="150000"/>
              </a:lnSpc>
            </a:pPr>
            <a:r>
              <a:rPr lang="en-US" sz="1800" b="1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agent-based system</a:t>
            </a:r>
            <a:pPr>
              <a:lnSpc>
                <a:spcPct val="150000"/>
              </a:lnSpc>
            </a:pPr>
            <a:r>
              <a:rPr lang="en-US" sz="1800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integrating real-time XAI visualizations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762000" y="4572000"/>
            <a:ext cx="457200" cy="457200"/>
          </a:xfrm>
          <a:prstGeom prst="ellipse">
            <a:avLst/>
          </a:prstGeom>
          <a:solidFill>
            <a:srgbClr val="D97706"/>
          </a:solidFill>
          <a:ln/>
        </p:spPr>
      </p:sp>
      <p:sp>
        <p:nvSpPr>
          <p:cNvPr id="21" name="Text 19"/>
          <p:cNvSpPr/>
          <p:nvPr/>
        </p:nvSpPr>
        <p:spPr>
          <a:xfrm>
            <a:off x="762000" y="4572000"/>
            <a:ext cx="4572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b="1" dirty="0">
                <a:solidFill>
                  <a:srgbClr val="F8FAF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4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397000" y="4546600"/>
            <a:ext cx="635000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800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Validate effectiveness through </a:t>
            </a:r>
            <a:pPr>
              <a:lnSpc>
                <a:spcPct val="150000"/>
              </a:lnSpc>
            </a:pPr>
            <a:r>
              <a:rPr lang="en-US" sz="1800" b="1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dual-end demonstration</a:t>
            </a:r>
            <a:pPr>
              <a:lnSpc>
                <a:spcPct val="150000"/>
              </a:lnSpc>
            </a:pPr>
            <a:r>
              <a:rPr lang="en-US" sz="1800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(Student UX + System Flow)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8382000" y="1524000"/>
            <a:ext cx="7112000" cy="39370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4" name="Shape 22"/>
          <p:cNvSpPr/>
          <p:nvPr/>
        </p:nvSpPr>
        <p:spPr>
          <a:xfrm>
            <a:off x="11671300" y="2921000"/>
            <a:ext cx="533400" cy="609600"/>
          </a:xfrm>
          <a:custGeom>
            <a:avLst/>
            <a:gdLst/>
            <a:ahLst/>
            <a:cxnLst/>
            <a:rect l="l" t="t" r="r" b="b"/>
            <a:pathLst>
              <a:path w="533400" h="609600">
                <a:moveTo>
                  <a:pt x="76200" y="95250"/>
                </a:moveTo>
                <a:cubicBezTo>
                  <a:pt x="65723" y="95250"/>
                  <a:pt x="57150" y="103823"/>
                  <a:pt x="57150" y="114300"/>
                </a:cubicBezTo>
                <a:lnTo>
                  <a:pt x="57150" y="495300"/>
                </a:lnTo>
                <a:cubicBezTo>
                  <a:pt x="57150" y="505778"/>
                  <a:pt x="65723" y="514350"/>
                  <a:pt x="76200" y="514350"/>
                </a:cubicBezTo>
                <a:lnTo>
                  <a:pt x="457200" y="514350"/>
                </a:lnTo>
                <a:cubicBezTo>
                  <a:pt x="467678" y="514350"/>
                  <a:pt x="476250" y="505778"/>
                  <a:pt x="476250" y="495300"/>
                </a:cubicBezTo>
                <a:lnTo>
                  <a:pt x="476250" y="114300"/>
                </a:lnTo>
                <a:cubicBezTo>
                  <a:pt x="476250" y="103823"/>
                  <a:pt x="467678" y="95250"/>
                  <a:pt x="457200" y="95250"/>
                </a:cubicBezTo>
                <a:lnTo>
                  <a:pt x="76200" y="95250"/>
                </a:lnTo>
                <a:close/>
                <a:moveTo>
                  <a:pt x="0" y="114300"/>
                </a:moveTo>
                <a:cubicBezTo>
                  <a:pt x="0" y="72271"/>
                  <a:pt x="34171" y="38100"/>
                  <a:pt x="76200" y="38100"/>
                </a:cubicBezTo>
                <a:lnTo>
                  <a:pt x="457200" y="38100"/>
                </a:lnTo>
                <a:cubicBezTo>
                  <a:pt x="499229" y="38100"/>
                  <a:pt x="533400" y="72271"/>
                  <a:pt x="533400" y="114300"/>
                </a:cubicBezTo>
                <a:lnTo>
                  <a:pt x="533400" y="495300"/>
                </a:lnTo>
                <a:cubicBezTo>
                  <a:pt x="533400" y="537329"/>
                  <a:pt x="499229" y="571500"/>
                  <a:pt x="457200" y="571500"/>
                </a:cubicBezTo>
                <a:lnTo>
                  <a:pt x="76200" y="571500"/>
                </a:lnTo>
                <a:cubicBezTo>
                  <a:pt x="34171" y="571500"/>
                  <a:pt x="0" y="537329"/>
                  <a:pt x="0" y="495300"/>
                </a:cubicBezTo>
                <a:lnTo>
                  <a:pt x="0" y="114300"/>
                </a:lnTo>
                <a:close/>
                <a:moveTo>
                  <a:pt x="152400" y="152400"/>
                </a:moveTo>
                <a:cubicBezTo>
                  <a:pt x="173428" y="152400"/>
                  <a:pt x="190500" y="169472"/>
                  <a:pt x="190500" y="190500"/>
                </a:cubicBezTo>
                <a:cubicBezTo>
                  <a:pt x="190500" y="211528"/>
                  <a:pt x="173428" y="228600"/>
                  <a:pt x="152400" y="228600"/>
                </a:cubicBezTo>
                <a:cubicBezTo>
                  <a:pt x="131372" y="228600"/>
                  <a:pt x="114300" y="211528"/>
                  <a:pt x="114300" y="190500"/>
                </a:cubicBezTo>
                <a:cubicBezTo>
                  <a:pt x="114300" y="169472"/>
                  <a:pt x="131372" y="152400"/>
                  <a:pt x="152400" y="152400"/>
                </a:cubicBezTo>
                <a:close/>
                <a:moveTo>
                  <a:pt x="314325" y="238125"/>
                </a:moveTo>
                <a:cubicBezTo>
                  <a:pt x="324445" y="238125"/>
                  <a:pt x="333851" y="243483"/>
                  <a:pt x="338971" y="252174"/>
                </a:cubicBezTo>
                <a:lnTo>
                  <a:pt x="434221" y="414099"/>
                </a:lnTo>
                <a:cubicBezTo>
                  <a:pt x="439460" y="422910"/>
                  <a:pt x="439460" y="433864"/>
                  <a:pt x="434340" y="442793"/>
                </a:cubicBezTo>
                <a:cubicBezTo>
                  <a:pt x="429220" y="451723"/>
                  <a:pt x="419814" y="457200"/>
                  <a:pt x="409575" y="457200"/>
                </a:cubicBezTo>
                <a:lnTo>
                  <a:pt x="123825" y="457200"/>
                </a:lnTo>
                <a:cubicBezTo>
                  <a:pt x="113228" y="457200"/>
                  <a:pt x="103346" y="451247"/>
                  <a:pt x="98465" y="441841"/>
                </a:cubicBezTo>
                <a:cubicBezTo>
                  <a:pt x="93583" y="432435"/>
                  <a:pt x="94298" y="421005"/>
                  <a:pt x="100370" y="412313"/>
                </a:cubicBezTo>
                <a:lnTo>
                  <a:pt x="167045" y="317063"/>
                </a:lnTo>
                <a:cubicBezTo>
                  <a:pt x="172403" y="309443"/>
                  <a:pt x="181094" y="304919"/>
                  <a:pt x="190500" y="304919"/>
                </a:cubicBezTo>
                <a:cubicBezTo>
                  <a:pt x="199906" y="304919"/>
                  <a:pt x="208597" y="309443"/>
                  <a:pt x="213955" y="317063"/>
                </a:cubicBezTo>
                <a:lnTo>
                  <a:pt x="234434" y="346353"/>
                </a:lnTo>
                <a:lnTo>
                  <a:pt x="289798" y="252293"/>
                </a:lnTo>
                <a:cubicBezTo>
                  <a:pt x="294918" y="243602"/>
                  <a:pt x="304324" y="238244"/>
                  <a:pt x="314444" y="238244"/>
                </a:cubicBezTo>
                <a:close/>
              </a:path>
            </a:pathLst>
          </a:custGeom>
          <a:solidFill>
            <a:srgbClr val="64748B"/>
          </a:solidFill>
          <a:ln/>
        </p:spPr>
      </p:sp>
      <p:sp>
        <p:nvSpPr>
          <p:cNvPr id="25" name="Text 23"/>
          <p:cNvSpPr/>
          <p:nvPr/>
        </p:nvSpPr>
        <p:spPr>
          <a:xfrm>
            <a:off x="9144000" y="3683000"/>
            <a:ext cx="5588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50000"/>
              </a:lnSpc>
            </a:pPr>
            <a:r>
              <a:rPr lang="en-US" sz="14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[Insert Diagram: Research Objectives</a:t>
            </a:r>
            <a:endParaRPr lang="en-US" sz="1600" dirty="0"/>
          </a:p>
          <a:p>
            <a:pPr algn="ctr">
              <a:lnSpc>
                <a:spcPct val="150000"/>
              </a:lnSpc>
            </a:pPr>
            <a:r>
              <a:rPr lang="en-US" sz="14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Flowchart]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762000" y="5842000"/>
            <a:ext cx="14732000" cy="127000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/>
        </p:spPr>
      </p:sp>
      <p:sp>
        <p:nvSpPr>
          <p:cNvPr id="27" name="Text 25"/>
          <p:cNvSpPr/>
          <p:nvPr/>
        </p:nvSpPr>
        <p:spPr>
          <a:xfrm>
            <a:off x="1143000" y="5969000"/>
            <a:ext cx="13970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800" b="1" dirty="0">
                <a:solidFill>
                  <a:srgbClr val="F8FAF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Project Scope:</a:t>
            </a:r>
            <a:pPr>
              <a:lnSpc>
                <a:spcPct val="150000"/>
              </a:lnSpc>
            </a:pPr>
            <a:r>
              <a:rPr lang="en-US" sz="1800" dirty="0">
                <a:solidFill>
                  <a:srgbClr val="F8FAF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End-to-end system covering data collection → ML model training → XAI explanation generation → full-stack web application with agent-based guidance, voice tutoring, and RAG-powered resource retrieval.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14986000" y="87630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200" dirty="0">
                <a:solidFill>
                  <a:srgbClr val="64748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06</a:t>
            </a:r>
            <a:endParaRPr lang="en-US" sz="1200" dirty="0"/>
          </a:p>
        </p:txBody>
      </p:sp>
    </p:spTree>
  </p:cSld>
  <p:clrMapOvr>
    <a:masterClrMapping/>
  </p:clrMapOvr>
  <p:transition>
    <p:fade/>
    <p:spd val="med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2286000"/>
            <a:ext cx="2540000" cy="1143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7200" b="1" dirty="0">
                <a:solidFill>
                  <a:srgbClr val="D9770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02</a:t>
            </a:r>
            <a:endParaRPr lang="en-US" sz="1600" dirty="0"/>
          </a:p>
        </p:txBody>
      </p:sp>
      <p:sp>
        <p:nvSpPr>
          <p:cNvPr id="3" name="Shape 1"/>
          <p:cNvSpPr/>
          <p:nvPr/>
        </p:nvSpPr>
        <p:spPr>
          <a:xfrm>
            <a:off x="762000" y="3619500"/>
            <a:ext cx="1270000" cy="3810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4" name="Text 2"/>
          <p:cNvSpPr/>
          <p:nvPr/>
        </p:nvSpPr>
        <p:spPr>
          <a:xfrm>
            <a:off x="762000" y="3873500"/>
            <a:ext cx="762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600" b="1" spc="200" kern="0" dirty="0">
                <a:solidFill>
                  <a:srgbClr val="F8FAF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LITERATURE REVIEW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62000" y="4699000"/>
            <a:ext cx="889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AI in Education, Explainable AI, and identified research gaps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A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45720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Text 1"/>
          <p:cNvSpPr/>
          <p:nvPr/>
        </p:nvSpPr>
        <p:spPr>
          <a:xfrm>
            <a:off x="0" y="0"/>
            <a:ext cx="27051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spc="100" kern="0" dirty="0">
                <a:solidFill>
                  <a:srgbClr val="F8FAF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INTRODUCTION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2705100" y="0"/>
            <a:ext cx="27051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b="1" spc="100" kern="0" dirty="0">
                <a:solidFill>
                  <a:srgbClr val="D9770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LITERATURE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10200" y="0"/>
            <a:ext cx="27178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spc="100" kern="0" dirty="0">
                <a:solidFill>
                  <a:srgbClr val="F8FAF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METHODOLOGY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128000" y="0"/>
            <a:ext cx="27051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spc="100" kern="0" dirty="0">
                <a:solidFill>
                  <a:srgbClr val="F8FAF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XAI RESULTS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0833100" y="0"/>
            <a:ext cx="27178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spc="100" kern="0" dirty="0">
                <a:solidFill>
                  <a:srgbClr val="F8FAF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IMPLEMENTATION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3550900" y="0"/>
            <a:ext cx="27051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spc="100" kern="0" dirty="0">
                <a:solidFill>
                  <a:srgbClr val="F8FAF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DEMONSTRATION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62000" y="660400"/>
            <a:ext cx="10160000" cy="482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b="1" dirty="0">
                <a:solidFill>
                  <a:srgbClr val="1E293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AI in Educational Guidance Systems</a:t>
            </a:r>
            <a:endParaRPr lang="en-US" sz="2800" dirty="0"/>
          </a:p>
        </p:txBody>
      </p:sp>
      <p:sp>
        <p:nvSpPr>
          <p:cNvPr id="10" name="Shape 8"/>
          <p:cNvSpPr/>
          <p:nvPr/>
        </p:nvSpPr>
        <p:spPr>
          <a:xfrm>
            <a:off x="762000" y="1206500"/>
            <a:ext cx="762000" cy="3810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11" name="Text 9"/>
          <p:cNvSpPr/>
          <p:nvPr/>
        </p:nvSpPr>
        <p:spPr>
          <a:xfrm>
            <a:off x="762000" y="1460500"/>
            <a:ext cx="7366000" cy="3365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800" dirty="0">
                <a:solidFill>
                  <a:srgbClr val="D9770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■</a:t>
            </a:r>
            <a:pPr>
              <a:lnSpc>
                <a:spcPct val="150000"/>
              </a:lnSpc>
            </a:pPr>
            <a:r>
              <a:rPr lang="en-US" sz="1800" dirty="0">
                <a:solidFill>
                  <a:srgbClr val="0F172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Early rule-based systems (expert systems) gave way to ML-driven recommendation engines</a:t>
            </a:r>
            <a:endParaRPr lang="en-US" sz="1800" dirty="0"/>
          </a:p>
          <a:p>
            <a:pPr>
              <a:lnSpc>
                <a:spcPct val="150000"/>
              </a:lnSpc>
              <a:spcBef>
                <a:spcPts val="1000"/>
              </a:spcBef>
            </a:pPr>
            <a:r>
              <a:rPr lang="en-US" sz="1800" dirty="0">
                <a:solidFill>
                  <a:srgbClr val="D9770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■</a:t>
            </a:r>
            <a:pPr>
              <a:lnSpc>
                <a:spcPct val="150000"/>
              </a:lnSpc>
              <a:spcBef>
                <a:spcPts val="1000"/>
              </a:spcBef>
            </a:pPr>
            <a:r>
              <a:rPr lang="en-US" sz="1800" dirty="0">
                <a:solidFill>
                  <a:srgbClr val="0F172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Modern approaches use collaborative filtering, neural networks, and hybrid models</a:t>
            </a:r>
            <a:endParaRPr lang="en-US" sz="1800" dirty="0"/>
          </a:p>
          <a:p>
            <a:pPr>
              <a:lnSpc>
                <a:spcPct val="150000"/>
              </a:lnSpc>
              <a:spcBef>
                <a:spcPts val="1000"/>
              </a:spcBef>
            </a:pPr>
            <a:r>
              <a:rPr lang="en-US" sz="1800" dirty="0">
                <a:solidFill>
                  <a:srgbClr val="D9770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■</a:t>
            </a:r>
            <a:pPr>
              <a:lnSpc>
                <a:spcPct val="150000"/>
              </a:lnSpc>
              <a:spcBef>
                <a:spcPts val="1000"/>
              </a:spcBef>
            </a:pPr>
            <a:r>
              <a:rPr lang="en-US" sz="1800" dirty="0">
                <a:solidFill>
                  <a:srgbClr val="0F172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</a:t>
            </a:r>
            <a:pPr>
              <a:lnSpc>
                <a:spcPct val="150000"/>
              </a:lnSpc>
              <a:spcBef>
                <a:spcPts val="1000"/>
              </a:spcBef>
            </a:pPr>
            <a:r>
              <a:rPr lang="en-US" sz="1800" b="1" dirty="0">
                <a:solidFill>
                  <a:srgbClr val="0F172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Limitation:</a:t>
            </a:r>
            <a:pPr>
              <a:lnSpc>
                <a:spcPct val="150000"/>
              </a:lnSpc>
              <a:spcBef>
                <a:spcPts val="1000"/>
              </a:spcBef>
            </a:pPr>
            <a:r>
              <a:rPr lang="en-US" sz="1800" dirty="0">
                <a:solidFill>
                  <a:srgbClr val="0F172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Most systems prioritize accuracy over interpretability</a:t>
            </a:r>
            <a:endParaRPr lang="en-US" sz="1800" dirty="0"/>
          </a:p>
          <a:p>
            <a:pPr>
              <a:lnSpc>
                <a:spcPct val="150000"/>
              </a:lnSpc>
              <a:spcBef>
                <a:spcPts val="1000"/>
              </a:spcBef>
            </a:pPr>
            <a:r>
              <a:rPr lang="en-US" sz="1800" dirty="0">
                <a:solidFill>
                  <a:srgbClr val="D9770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■</a:t>
            </a:r>
            <a:pPr>
              <a:lnSpc>
                <a:spcPct val="150000"/>
              </a:lnSpc>
              <a:spcBef>
                <a:spcPts val="1000"/>
              </a:spcBef>
            </a:pPr>
            <a:r>
              <a:rPr lang="en-US" sz="1800" dirty="0">
                <a:solidFill>
                  <a:srgbClr val="0F172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Students as end-users require transparency for trust and actionable feedback</a:t>
            </a:r>
            <a:endParaRPr lang="en-US" sz="18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62000" y="5461000"/>
          <a:ext cx="14732000" cy="3048000"/>
        </p:xfrm>
        <a:graphic>
          <a:graphicData uri="http://schemas.openxmlformats.org/drawingml/2006/table">
            <a:tbl>
              <a:tblPr/>
              <a:tblGrid>
                <a:gridCol w="3241040"/>
                <a:gridCol w="2946400"/>
                <a:gridCol w="2946400"/>
                <a:gridCol w="2651760"/>
                <a:gridCol w="2946400"/>
              </a:tblGrid>
              <a:tr h="486655"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F8FAF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System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F8FAF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Approach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F8FAF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Explainability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F8FAF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Agent-Based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F8FAF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Limitation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640336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0F172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Rule-Based Advisors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0F172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Expert Systems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D97706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High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0F172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No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0F172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Static, not adaptive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0336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0F172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Collaborative Filtering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0F172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Matrix Factorization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D97706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Low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0F172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No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0F172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Cold start problem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640336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0F172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Deep Learning Models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0F172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Neural Networks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D97706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None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0F172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No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0F172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Black box nature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0336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0F172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Our System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0F172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Decision Tree + SHAP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D97706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Full (Local + Global)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D97706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Yes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0F172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Scalable, transparent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13" name="Text 10"/>
          <p:cNvSpPr/>
          <p:nvPr/>
        </p:nvSpPr>
        <p:spPr>
          <a:xfrm>
            <a:off x="762000" y="8191500"/>
            <a:ext cx="508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64748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Table 1: Comparison of AI Guidance Systems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14986000" y="87630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200" dirty="0">
                <a:solidFill>
                  <a:srgbClr val="64748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08</a:t>
            </a:r>
            <a:endParaRPr lang="en-US" sz="1200" dirty="0"/>
          </a:p>
        </p:txBody>
      </p:sp>
    </p:spTree>
  </p:cSld>
  <p:clrMapOvr>
    <a:masterClrMapping/>
  </p:clrMapOvr>
  <p:transition>
    <p:fade/>
    <p:spd val="med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A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45720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Text 1"/>
          <p:cNvSpPr/>
          <p:nvPr/>
        </p:nvSpPr>
        <p:spPr>
          <a:xfrm>
            <a:off x="0" y="0"/>
            <a:ext cx="27051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spc="100" kern="0" dirty="0">
                <a:solidFill>
                  <a:srgbClr val="F8FAF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INTRODUCTION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2705100" y="0"/>
            <a:ext cx="27051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b="1" spc="100" kern="0" dirty="0">
                <a:solidFill>
                  <a:srgbClr val="D9770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LITERATURE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10200" y="0"/>
            <a:ext cx="27178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spc="100" kern="0" dirty="0">
                <a:solidFill>
                  <a:srgbClr val="F8FAF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METHODOLOGY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128000" y="0"/>
            <a:ext cx="27051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spc="100" kern="0" dirty="0">
                <a:solidFill>
                  <a:srgbClr val="F8FAF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XAI RESULTS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0833100" y="0"/>
            <a:ext cx="27178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spc="100" kern="0" dirty="0">
                <a:solidFill>
                  <a:srgbClr val="F8FAF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IMPLEMENTATION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3550900" y="0"/>
            <a:ext cx="27051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spc="100" kern="0" dirty="0">
                <a:solidFill>
                  <a:srgbClr val="F8FAF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DEMONSTRATION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62000" y="660400"/>
            <a:ext cx="11430000" cy="482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b="1" dirty="0">
                <a:solidFill>
                  <a:srgbClr val="1E293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Explainable AI (XAI): Foundations &amp; Techniques</a:t>
            </a:r>
            <a:endParaRPr lang="en-US" sz="2800" dirty="0"/>
          </a:p>
        </p:txBody>
      </p:sp>
      <p:sp>
        <p:nvSpPr>
          <p:cNvPr id="10" name="Shape 8"/>
          <p:cNvSpPr/>
          <p:nvPr/>
        </p:nvSpPr>
        <p:spPr>
          <a:xfrm>
            <a:off x="762000" y="1206500"/>
            <a:ext cx="762000" cy="3810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11" name="Text 9"/>
          <p:cNvSpPr/>
          <p:nvPr/>
        </p:nvSpPr>
        <p:spPr>
          <a:xfrm>
            <a:off x="762000" y="1460500"/>
            <a:ext cx="7366000" cy="381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800" dirty="0">
                <a:solidFill>
                  <a:srgbClr val="D9770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■</a:t>
            </a:r>
            <a:pPr>
              <a:lnSpc>
                <a:spcPct val="150000"/>
              </a:lnSpc>
            </a:pPr>
            <a:r>
              <a:rPr lang="en-US" sz="1800" dirty="0">
                <a:solidFill>
                  <a:srgbClr val="0F172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XAI aims to make AI decisions understandable to humans </a:t>
            </a:r>
            <a:pPr>
              <a:lnSpc>
                <a:spcPct val="150000"/>
              </a:lnSpc>
            </a:pPr>
            <a:r>
              <a:rPr lang="en-US" sz="1800" i="1" dirty="0">
                <a:solidFill>
                  <a:srgbClr val="0F172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(DARPA, 2017; Gunning et al.)</a:t>
            </a:r>
            <a:endParaRPr lang="en-US" sz="1800" dirty="0"/>
          </a:p>
          <a:p>
            <a:pPr>
              <a:lnSpc>
                <a:spcPct val="150000"/>
              </a:lnSpc>
              <a:spcBef>
                <a:spcPts val="1000"/>
              </a:spcBef>
            </a:pPr>
            <a:r>
              <a:rPr lang="en-US" sz="1800" dirty="0">
                <a:solidFill>
                  <a:srgbClr val="D9770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■</a:t>
            </a:r>
            <a:pPr>
              <a:lnSpc>
                <a:spcPct val="150000"/>
              </a:lnSpc>
              <a:spcBef>
                <a:spcPts val="1000"/>
              </a:spcBef>
            </a:pPr>
            <a:r>
              <a:rPr lang="en-US" sz="1800" dirty="0">
                <a:solidFill>
                  <a:srgbClr val="0F172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</a:t>
            </a:r>
            <a:pPr>
              <a:lnSpc>
                <a:spcPct val="150000"/>
              </a:lnSpc>
              <a:spcBef>
                <a:spcPts val="1000"/>
              </a:spcBef>
            </a:pPr>
            <a:r>
              <a:rPr lang="en-US" sz="1800" b="1" dirty="0">
                <a:solidFill>
                  <a:srgbClr val="0F172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Model-agnostic methods:</a:t>
            </a:r>
            <a:pPr>
              <a:lnSpc>
                <a:spcPct val="150000"/>
              </a:lnSpc>
              <a:spcBef>
                <a:spcPts val="1000"/>
              </a:spcBef>
            </a:pPr>
            <a:r>
              <a:rPr lang="en-US" sz="1800" dirty="0">
                <a:solidFill>
                  <a:srgbClr val="0F172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LIME, Permutation Importance, Partial Dependence Plots</a:t>
            </a:r>
            <a:endParaRPr lang="en-US" sz="1800" dirty="0"/>
          </a:p>
          <a:p>
            <a:pPr>
              <a:lnSpc>
                <a:spcPct val="150000"/>
              </a:lnSpc>
              <a:spcBef>
                <a:spcPts val="1000"/>
              </a:spcBef>
            </a:pPr>
            <a:r>
              <a:rPr lang="en-US" sz="1800" dirty="0">
                <a:solidFill>
                  <a:srgbClr val="D9770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■</a:t>
            </a:r>
            <a:pPr>
              <a:lnSpc>
                <a:spcPct val="150000"/>
              </a:lnSpc>
              <a:spcBef>
                <a:spcPts val="1000"/>
              </a:spcBef>
            </a:pPr>
            <a:r>
              <a:rPr lang="en-US" sz="1800" dirty="0">
                <a:solidFill>
                  <a:srgbClr val="0F172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</a:t>
            </a:r>
            <a:pPr>
              <a:lnSpc>
                <a:spcPct val="150000"/>
              </a:lnSpc>
              <a:spcBef>
                <a:spcPts val="1000"/>
              </a:spcBef>
            </a:pPr>
            <a:r>
              <a:rPr lang="en-US" sz="1800" b="1" dirty="0">
                <a:solidFill>
                  <a:srgbClr val="0F172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Model-specific methods:</a:t>
            </a:r>
            <a:pPr>
              <a:lnSpc>
                <a:spcPct val="150000"/>
              </a:lnSpc>
              <a:spcBef>
                <a:spcPts val="1000"/>
              </a:spcBef>
            </a:pPr>
            <a:r>
              <a:rPr lang="en-US" sz="1800" dirty="0">
                <a:solidFill>
                  <a:srgbClr val="0F172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SHAP (Shapley Additive Explanations) for tree-based models</a:t>
            </a:r>
            <a:endParaRPr lang="en-US" sz="1800" dirty="0"/>
          </a:p>
          <a:p>
            <a:pPr>
              <a:lnSpc>
                <a:spcPct val="150000"/>
              </a:lnSpc>
              <a:spcBef>
                <a:spcPts val="1000"/>
              </a:spcBef>
            </a:pPr>
            <a:r>
              <a:rPr lang="en-US" sz="1800" dirty="0">
                <a:solidFill>
                  <a:srgbClr val="D9770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■</a:t>
            </a:r>
            <a:pPr>
              <a:lnSpc>
                <a:spcPct val="150000"/>
              </a:lnSpc>
              <a:spcBef>
                <a:spcPts val="1000"/>
              </a:spcBef>
            </a:pPr>
            <a:r>
              <a:rPr lang="en-US" sz="1800" dirty="0">
                <a:solidFill>
                  <a:srgbClr val="0F172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SHAP provides locally accurate, consistent feature attribution using game theory principles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8636000" y="1460500"/>
            <a:ext cx="6858000" cy="36195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3" name="Shape 11"/>
          <p:cNvSpPr/>
          <p:nvPr/>
        </p:nvSpPr>
        <p:spPr>
          <a:xfrm>
            <a:off x="11671300" y="2540000"/>
            <a:ext cx="533400" cy="609600"/>
          </a:xfrm>
          <a:custGeom>
            <a:avLst/>
            <a:gdLst/>
            <a:ahLst/>
            <a:cxnLst/>
            <a:rect l="l" t="t" r="r" b="b"/>
            <a:pathLst>
              <a:path w="533400" h="609600">
                <a:moveTo>
                  <a:pt x="76200" y="95250"/>
                </a:moveTo>
                <a:cubicBezTo>
                  <a:pt x="65723" y="95250"/>
                  <a:pt x="57150" y="103823"/>
                  <a:pt x="57150" y="114300"/>
                </a:cubicBezTo>
                <a:lnTo>
                  <a:pt x="57150" y="495300"/>
                </a:lnTo>
                <a:cubicBezTo>
                  <a:pt x="57150" y="505778"/>
                  <a:pt x="65723" y="514350"/>
                  <a:pt x="76200" y="514350"/>
                </a:cubicBezTo>
                <a:lnTo>
                  <a:pt x="457200" y="514350"/>
                </a:lnTo>
                <a:cubicBezTo>
                  <a:pt x="467678" y="514350"/>
                  <a:pt x="476250" y="505778"/>
                  <a:pt x="476250" y="495300"/>
                </a:cubicBezTo>
                <a:lnTo>
                  <a:pt x="476250" y="114300"/>
                </a:lnTo>
                <a:cubicBezTo>
                  <a:pt x="476250" y="103823"/>
                  <a:pt x="467678" y="95250"/>
                  <a:pt x="457200" y="95250"/>
                </a:cubicBezTo>
                <a:lnTo>
                  <a:pt x="76200" y="95250"/>
                </a:lnTo>
                <a:close/>
                <a:moveTo>
                  <a:pt x="0" y="114300"/>
                </a:moveTo>
                <a:cubicBezTo>
                  <a:pt x="0" y="72271"/>
                  <a:pt x="34171" y="38100"/>
                  <a:pt x="76200" y="38100"/>
                </a:cubicBezTo>
                <a:lnTo>
                  <a:pt x="457200" y="38100"/>
                </a:lnTo>
                <a:cubicBezTo>
                  <a:pt x="499229" y="38100"/>
                  <a:pt x="533400" y="72271"/>
                  <a:pt x="533400" y="114300"/>
                </a:cubicBezTo>
                <a:lnTo>
                  <a:pt x="533400" y="495300"/>
                </a:lnTo>
                <a:cubicBezTo>
                  <a:pt x="533400" y="537329"/>
                  <a:pt x="499229" y="571500"/>
                  <a:pt x="457200" y="571500"/>
                </a:cubicBezTo>
                <a:lnTo>
                  <a:pt x="76200" y="571500"/>
                </a:lnTo>
                <a:cubicBezTo>
                  <a:pt x="34171" y="571500"/>
                  <a:pt x="0" y="537329"/>
                  <a:pt x="0" y="495300"/>
                </a:cubicBezTo>
                <a:lnTo>
                  <a:pt x="0" y="114300"/>
                </a:lnTo>
                <a:close/>
                <a:moveTo>
                  <a:pt x="152400" y="152400"/>
                </a:moveTo>
                <a:cubicBezTo>
                  <a:pt x="173428" y="152400"/>
                  <a:pt x="190500" y="169472"/>
                  <a:pt x="190500" y="190500"/>
                </a:cubicBezTo>
                <a:cubicBezTo>
                  <a:pt x="190500" y="211528"/>
                  <a:pt x="173428" y="228600"/>
                  <a:pt x="152400" y="228600"/>
                </a:cubicBezTo>
                <a:cubicBezTo>
                  <a:pt x="131372" y="228600"/>
                  <a:pt x="114300" y="211528"/>
                  <a:pt x="114300" y="190500"/>
                </a:cubicBezTo>
                <a:cubicBezTo>
                  <a:pt x="114300" y="169472"/>
                  <a:pt x="131372" y="152400"/>
                  <a:pt x="152400" y="152400"/>
                </a:cubicBezTo>
                <a:close/>
                <a:moveTo>
                  <a:pt x="314325" y="238125"/>
                </a:moveTo>
                <a:cubicBezTo>
                  <a:pt x="324445" y="238125"/>
                  <a:pt x="333851" y="243483"/>
                  <a:pt x="338971" y="252174"/>
                </a:cubicBezTo>
                <a:lnTo>
                  <a:pt x="434221" y="414099"/>
                </a:lnTo>
                <a:cubicBezTo>
                  <a:pt x="439460" y="422910"/>
                  <a:pt x="439460" y="433864"/>
                  <a:pt x="434340" y="442793"/>
                </a:cubicBezTo>
                <a:cubicBezTo>
                  <a:pt x="429220" y="451723"/>
                  <a:pt x="419814" y="457200"/>
                  <a:pt x="409575" y="457200"/>
                </a:cubicBezTo>
                <a:lnTo>
                  <a:pt x="123825" y="457200"/>
                </a:lnTo>
                <a:cubicBezTo>
                  <a:pt x="113228" y="457200"/>
                  <a:pt x="103346" y="451247"/>
                  <a:pt x="98465" y="441841"/>
                </a:cubicBezTo>
                <a:cubicBezTo>
                  <a:pt x="93583" y="432435"/>
                  <a:pt x="94298" y="421005"/>
                  <a:pt x="100370" y="412313"/>
                </a:cubicBezTo>
                <a:lnTo>
                  <a:pt x="167045" y="317063"/>
                </a:lnTo>
                <a:cubicBezTo>
                  <a:pt x="172403" y="309443"/>
                  <a:pt x="181094" y="304919"/>
                  <a:pt x="190500" y="304919"/>
                </a:cubicBezTo>
                <a:cubicBezTo>
                  <a:pt x="199906" y="304919"/>
                  <a:pt x="208597" y="309443"/>
                  <a:pt x="213955" y="317063"/>
                </a:cubicBezTo>
                <a:lnTo>
                  <a:pt x="234434" y="346353"/>
                </a:lnTo>
                <a:lnTo>
                  <a:pt x="289798" y="252293"/>
                </a:lnTo>
                <a:cubicBezTo>
                  <a:pt x="294918" y="243602"/>
                  <a:pt x="304324" y="238244"/>
                  <a:pt x="314444" y="238244"/>
                </a:cubicBezTo>
                <a:close/>
              </a:path>
            </a:pathLst>
          </a:custGeom>
          <a:solidFill>
            <a:srgbClr val="64748B"/>
          </a:solidFill>
          <a:ln/>
        </p:spPr>
      </p:sp>
      <p:sp>
        <p:nvSpPr>
          <p:cNvPr id="14" name="Text 12"/>
          <p:cNvSpPr/>
          <p:nvPr/>
        </p:nvSpPr>
        <p:spPr>
          <a:xfrm>
            <a:off x="9144000" y="3302000"/>
            <a:ext cx="5842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50000"/>
              </a:lnSpc>
            </a:pPr>
            <a:r>
              <a:rPr lang="en-US" sz="14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[Insert Diagram: XAI Techniques Taxonomy</a:t>
            </a:r>
            <a:endParaRPr lang="en-US" sz="1600" dirty="0"/>
          </a:p>
          <a:p>
            <a:pPr algn="ctr">
              <a:lnSpc>
                <a:spcPct val="150000"/>
              </a:lnSpc>
            </a:pPr>
            <a:r>
              <a:rPr lang="en-US" sz="14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/ Classification]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762000" y="5715000"/>
            <a:ext cx="14732000" cy="2667000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143000" y="5905500"/>
            <a:ext cx="508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000" b="1" dirty="0">
                <a:solidFill>
                  <a:srgbClr val="1E293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XAI Method Comparison</a:t>
            </a:r>
            <a:endParaRPr lang="en-US" sz="22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143000" y="6413500"/>
          <a:ext cx="13970000" cy="1841500"/>
        </p:xfrm>
        <a:graphic>
          <a:graphicData uri="http://schemas.openxmlformats.org/drawingml/2006/table">
            <a:tbl>
              <a:tblPr/>
              <a:tblGrid>
                <a:gridCol w="2794000"/>
                <a:gridCol w="2794000"/>
                <a:gridCol w="2794000"/>
                <a:gridCol w="2794000"/>
                <a:gridCol w="2794000"/>
              </a:tblGrid>
              <a:tr h="554973"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F8FAF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Method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F8FAF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Type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F8FAF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Local Explanations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F8FAF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Global Explanations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F8FAF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Computational Cost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643264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0F172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LIME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0F172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Model-Agnostic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D97706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Yes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0F172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Limited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0F172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High (per-sample)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3264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0F172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SHAP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0F172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Model-Specific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D97706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Yes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D97706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Yes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D97706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Low (TreeExplainer)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18" name="Text 15"/>
          <p:cNvSpPr/>
          <p:nvPr/>
        </p:nvSpPr>
        <p:spPr>
          <a:xfrm>
            <a:off x="14986000" y="87630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200" dirty="0">
                <a:solidFill>
                  <a:srgbClr val="64748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09</a:t>
            </a:r>
            <a:endParaRPr lang="en-US" sz="1200" dirty="0"/>
          </a:p>
        </p:txBody>
      </p:sp>
    </p:spTree>
  </p:cSld>
  <p:clrMapOvr>
    <a:masterClrMapping/>
  </p:clrMapOvr>
  <p:transition>
    <p:fade/>
    <p:spd val="med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A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45720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Text 1"/>
          <p:cNvSpPr/>
          <p:nvPr/>
        </p:nvSpPr>
        <p:spPr>
          <a:xfrm>
            <a:off x="0" y="0"/>
            <a:ext cx="27051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spc="100" kern="0" dirty="0">
                <a:solidFill>
                  <a:srgbClr val="F8FAF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INTRODUCTION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2705100" y="0"/>
            <a:ext cx="27051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b="1" spc="100" kern="0" dirty="0">
                <a:solidFill>
                  <a:srgbClr val="D9770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LITERATURE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10200" y="0"/>
            <a:ext cx="27178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spc="100" kern="0" dirty="0">
                <a:solidFill>
                  <a:srgbClr val="F8FAF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METHODOLOGY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128000" y="0"/>
            <a:ext cx="27051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spc="100" kern="0" dirty="0">
                <a:solidFill>
                  <a:srgbClr val="F8FAF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XAI RESULTS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0833100" y="0"/>
            <a:ext cx="27178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spc="100" kern="0" dirty="0">
                <a:solidFill>
                  <a:srgbClr val="F8FAF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IMPLEMENTATION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3550900" y="0"/>
            <a:ext cx="27051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spc="100" kern="0" dirty="0">
                <a:solidFill>
                  <a:srgbClr val="F8FAF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DEMONSTRATION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62000" y="660400"/>
            <a:ext cx="10160000" cy="482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b="1" dirty="0">
                <a:solidFill>
                  <a:srgbClr val="1E293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SHAP: Shapley Additive Explanations</a:t>
            </a:r>
            <a:endParaRPr lang="en-US" sz="2800" dirty="0"/>
          </a:p>
        </p:txBody>
      </p:sp>
      <p:sp>
        <p:nvSpPr>
          <p:cNvPr id="10" name="Shape 8"/>
          <p:cNvSpPr/>
          <p:nvPr/>
        </p:nvSpPr>
        <p:spPr>
          <a:xfrm>
            <a:off x="762000" y="1206500"/>
            <a:ext cx="762000" cy="3810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11" name="Text 9"/>
          <p:cNvSpPr/>
          <p:nvPr/>
        </p:nvSpPr>
        <p:spPr>
          <a:xfrm>
            <a:off x="762000" y="1460500"/>
            <a:ext cx="7366000" cy="349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800" dirty="0">
                <a:solidFill>
                  <a:srgbClr val="D9770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■</a:t>
            </a:r>
            <a:pPr>
              <a:lnSpc>
                <a:spcPct val="140000"/>
              </a:lnSpc>
            </a:pPr>
            <a:r>
              <a:rPr lang="en-US" sz="1800" dirty="0">
                <a:solidFill>
                  <a:srgbClr val="0F172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SHAP values explain a prediction by attributing it to each feature's contribution</a:t>
            </a:r>
            <a:endParaRPr lang="en-US" sz="1800" dirty="0"/>
          </a:p>
          <a:p>
            <a:pPr>
              <a:lnSpc>
                <a:spcPct val="140000"/>
              </a:lnSpc>
              <a:spcBef>
                <a:spcPts val="600"/>
              </a:spcBef>
            </a:pPr>
            <a:r>
              <a:rPr lang="en-US" sz="1800" dirty="0">
                <a:solidFill>
                  <a:srgbClr val="D9770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■</a:t>
            </a:r>
            <a:pPr>
              <a:lnSpc>
                <a:spcPct val="140000"/>
              </a:lnSpc>
              <a:spcBef>
                <a:spcPts val="600"/>
              </a:spcBef>
            </a:pPr>
            <a:r>
              <a:rPr lang="en-US" sz="1800" dirty="0">
                <a:solidFill>
                  <a:srgbClr val="0F172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Based on </a:t>
            </a:r>
            <a:pPr>
              <a:lnSpc>
                <a:spcPct val="140000"/>
              </a:lnSpc>
              <a:spcBef>
                <a:spcPts val="600"/>
              </a:spcBef>
            </a:pPr>
            <a:r>
              <a:rPr lang="en-US" sz="1800" b="1" dirty="0">
                <a:solidFill>
                  <a:srgbClr val="0F172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cooperative game theory:</a:t>
            </a:r>
            <a:pPr>
              <a:lnSpc>
                <a:spcPct val="140000"/>
              </a:lnSpc>
              <a:spcBef>
                <a:spcPts val="600"/>
              </a:spcBef>
            </a:pPr>
            <a:r>
              <a:rPr lang="en-US" sz="1800" dirty="0">
                <a:solidFill>
                  <a:srgbClr val="0F172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each feature is a "player," prediction is the "payout"</a:t>
            </a:r>
            <a:endParaRPr lang="en-US" sz="1800" dirty="0"/>
          </a:p>
          <a:p>
            <a:pPr>
              <a:lnSpc>
                <a:spcPct val="140000"/>
              </a:lnSpc>
              <a:spcBef>
                <a:spcPts val="600"/>
              </a:spcBef>
            </a:pPr>
            <a:r>
              <a:rPr lang="en-US" sz="1800" dirty="0">
                <a:solidFill>
                  <a:srgbClr val="D9770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■</a:t>
            </a:r>
            <a:pPr>
              <a:lnSpc>
                <a:spcPct val="140000"/>
              </a:lnSpc>
              <a:spcBef>
                <a:spcPts val="600"/>
              </a:spcBef>
            </a:pPr>
            <a:r>
              <a:rPr lang="en-US" sz="1800" dirty="0">
                <a:solidFill>
                  <a:srgbClr val="0F172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</a:t>
            </a:r>
            <a:pPr>
              <a:lnSpc>
                <a:spcPct val="140000"/>
              </a:lnSpc>
              <a:spcBef>
                <a:spcPts val="600"/>
              </a:spcBef>
            </a:pPr>
            <a:r>
              <a:rPr lang="en-US" sz="1800" b="1" dirty="0">
                <a:solidFill>
                  <a:srgbClr val="0F172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TreeExplainer</a:t>
            </a:r>
            <a:pPr>
              <a:lnSpc>
                <a:spcPct val="140000"/>
              </a:lnSpc>
              <a:spcBef>
                <a:spcPts val="600"/>
              </a:spcBef>
            </a:pPr>
            <a:r>
              <a:rPr lang="en-US" sz="1800" dirty="0">
                <a:solidFill>
                  <a:srgbClr val="0F172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optimized for decision tree ensembles with polynomial-time computation</a:t>
            </a:r>
            <a:endParaRPr lang="en-US" sz="1800" dirty="0"/>
          </a:p>
          <a:p>
            <a:pPr>
              <a:lnSpc>
                <a:spcPct val="140000"/>
              </a:lnSpc>
              <a:spcBef>
                <a:spcPts val="600"/>
              </a:spcBef>
            </a:pPr>
            <a:r>
              <a:rPr lang="en-US" sz="1800" dirty="0">
                <a:solidFill>
                  <a:srgbClr val="D9770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■</a:t>
            </a:r>
            <a:pPr>
              <a:lnSpc>
                <a:spcPct val="140000"/>
              </a:lnSpc>
              <a:spcBef>
                <a:spcPts val="600"/>
              </a:spcBef>
            </a:pPr>
            <a:r>
              <a:rPr lang="en-US" sz="1800" dirty="0">
                <a:solidFill>
                  <a:srgbClr val="0F172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Provides both </a:t>
            </a:r>
            <a:pPr>
              <a:lnSpc>
                <a:spcPct val="140000"/>
              </a:lnSpc>
              <a:spcBef>
                <a:spcPts val="600"/>
              </a:spcBef>
            </a:pPr>
            <a:r>
              <a:rPr lang="en-US" sz="1800" b="1" dirty="0">
                <a:solidFill>
                  <a:srgbClr val="0F172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global</a:t>
            </a:r>
            <a:pPr>
              <a:lnSpc>
                <a:spcPct val="140000"/>
              </a:lnSpc>
              <a:spcBef>
                <a:spcPts val="600"/>
              </a:spcBef>
            </a:pPr>
            <a:r>
              <a:rPr lang="en-US" sz="1800" dirty="0">
                <a:solidFill>
                  <a:srgbClr val="0F172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(feature importance) and </a:t>
            </a:r>
            <a:pPr>
              <a:lnSpc>
                <a:spcPct val="140000"/>
              </a:lnSpc>
              <a:spcBef>
                <a:spcPts val="600"/>
              </a:spcBef>
            </a:pPr>
            <a:r>
              <a:rPr lang="en-US" sz="1800" b="1" dirty="0">
                <a:solidFill>
                  <a:srgbClr val="0F172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local</a:t>
            </a:r>
            <a:pPr>
              <a:lnSpc>
                <a:spcPct val="140000"/>
              </a:lnSpc>
              <a:spcBef>
                <a:spcPts val="600"/>
              </a:spcBef>
            </a:pPr>
            <a:r>
              <a:rPr lang="en-US" sz="1800" dirty="0">
                <a:solidFill>
                  <a:srgbClr val="0F172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(individual prediction) explanations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762000" y="5080000"/>
            <a:ext cx="7366000" cy="107950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/>
        </p:spPr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 11"/>
              <p:cNvSpPr/>
              <p:nvPr/>
            </p:nvSpPr>
            <p:spPr>
              <a:xfrm>
                <a:off x="1143000" y="5207000"/>
                <a:ext cx="6604000" cy="8255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algn="ctr">
                  <a:lnSpc>
                    <a:spcPct val="160000"/>
                  </a:lnSpc>
                </a:pPr>
                <a:r>
                  <a:rPr lang="en-US" sz="1800" dirty="0">
                    <a:solidFill>
                      <a:srgbClr val="F8FAFC"/>
                    </a:solidFill>
                    <a:latin typeface="Quattrocento Sans" pitchFamily="34" charset="0"/>
                    <a:ea typeface="Quattrocento Sans" pitchFamily="34" charset="-122"/>
                    <a:cs typeface="Quattrocento Sans" pitchFamily="34" charset="-120"/>
                  </a:rPr>
                  <a:t>SHAP Value Equation:</a:t>
                </a:r>
                <a:endParaRPr lang="en-US" sz="1600" dirty="0"/>
              </a:p>
              <a:p>
                <a:pPr algn="ctr">
                  <a:lnSpc>
                    <a:spcPct val="160000"/>
                  </a:lnSpc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100" dirty="0"/>
                          </m:ctrlPr>
                        </m:sSubPr>
                        <m:e>
                          <m:r>
                            <a:rPr lang="en-US" sz="1100" i="1" dirty="0"/>
                            <m:t>ϕ</m:t>
                          </m:r>
                        </m:e>
                        <m:sub>
                          <m:r>
                            <a:rPr lang="en-US" sz="1100" i="1" dirty="0"/>
                            <m:t>i</m:t>
                          </m:r>
                        </m:sub>
                      </m:sSub>
                      <m:r>
                        <a:rPr lang="en-US" sz="1600" dirty="0"/>
                        <m:t>=</m:t>
                      </m:r>
                      <m:sSub>
                        <m:sSubPr>
                          <m:ctrlPr>
                            <a:rPr lang="en-US" sz="1100" dirty="0"/>
                          </m:ctrlPr>
                        </m:sSubPr>
                        <m:e>
                          <m:r>
                            <a:rPr lang="en-US" sz="1100" dirty="0"/>
                            <m:t>∑</m:t>
                          </m:r>
                        </m:e>
                        <m:sub>
                          <m:r>
                            <a:rPr lang="en-US" sz="1100" i="1" dirty="0"/>
                            <m:t>S</m:t>
                          </m:r>
                          <m:r>
                            <a:rPr lang="en-US" sz="1100" dirty="0"/>
                            <m:t>⊆</m:t>
                          </m:r>
                          <m:r>
                            <a:rPr lang="en-US" sz="1100" i="1" dirty="0"/>
                            <m:t>N</m:t>
                          </m:r>
                          <m:r>
                            <a:rPr lang="en-US" sz="1100" dirty="0"/>
                            <m:t>∖</m:t>
                          </m:r>
                          <m:r>
                            <a:rPr lang="en-US" sz="1100" dirty="0"/>
                            <m:t>{</m:t>
                          </m:r>
                          <m:r>
                            <a:rPr lang="en-US" sz="1100" i="1" dirty="0"/>
                            <m:t>i</m:t>
                          </m:r>
                          <m:r>
                            <a:rPr lang="en-US" sz="1100" dirty="0"/>
                            <m:t>}</m:t>
                          </m:r>
                        </m:sub>
                      </m:sSub>
                      <m:f>
                        <m:fPr>
                          <m:type m:val="bar"/>
                        </m:fPr>
                        <m:num>
                          <m:r>
                            <a:rPr lang="en-US" sz="1100" dirty="0"/>
                            <m:t>∣</m:t>
                          </m:r>
                          <m:r>
                            <a:rPr lang="en-US" sz="1100" i="1" dirty="0"/>
                            <m:t>S</m:t>
                          </m:r>
                          <m:r>
                            <a:rPr lang="en-US" sz="1100" dirty="0"/>
                            <m:t>∣</m:t>
                          </m:r>
                          <m:r>
                            <a:rPr lang="en-US" sz="1100" dirty="0"/>
                            <m:t>!</m:t>
                          </m:r>
                          <m:r>
                            <a:rPr lang="en-US" sz="1100" dirty="0"/>
                            <m:t>(</m:t>
                          </m:r>
                          <m:r>
                            <a:rPr lang="en-US" sz="1100" dirty="0"/>
                            <m:t>∣</m:t>
                          </m:r>
                          <m:r>
                            <a:rPr lang="en-US" sz="1100" i="1" dirty="0"/>
                            <m:t>N</m:t>
                          </m:r>
                          <m:r>
                            <a:rPr lang="en-US" sz="1100" dirty="0"/>
                            <m:t>∣</m:t>
                          </m:r>
                          <m:r>
                            <a:rPr lang="en-US" sz="1100" dirty="0"/>
                            <m:t>−</m:t>
                          </m:r>
                          <m:r>
                            <a:rPr lang="en-US" sz="1100" dirty="0"/>
                            <m:t>∣</m:t>
                          </m:r>
                          <m:r>
                            <a:rPr lang="en-US" sz="1100" i="1" dirty="0"/>
                            <m:t>S</m:t>
                          </m:r>
                          <m:r>
                            <a:rPr lang="en-US" sz="1100" dirty="0"/>
                            <m:t>∣</m:t>
                          </m:r>
                          <m:r>
                            <a:rPr lang="en-US" sz="1100" dirty="0"/>
                            <m:t>−</m:t>
                          </m:r>
                          <m:r>
                            <a:rPr lang="en-US" sz="1100" dirty="0"/>
                            <m:t>1</m:t>
                          </m:r>
                          <m:r>
                            <a:rPr lang="en-US" sz="1100" dirty="0"/>
                            <m:t>)</m:t>
                          </m:r>
                          <m:r>
                            <a:rPr lang="en-US" sz="1100" dirty="0"/>
                            <m:t>!</m:t>
                          </m:r>
                        </m:num>
                        <m:den>
                          <m:r>
                            <a:rPr lang="en-US" sz="1100" dirty="0"/>
                            <m:t>∣</m:t>
                          </m:r>
                          <m:r>
                            <a:rPr lang="en-US" sz="1100" i="1" dirty="0"/>
                            <m:t>N</m:t>
                          </m:r>
                          <m:r>
                            <a:rPr lang="en-US" sz="1100" dirty="0"/>
                            <m:t>∣</m:t>
                          </m:r>
                          <m:r>
                            <a:rPr lang="en-US" sz="1100" dirty="0"/>
                            <m:t>!</m:t>
                          </m:r>
                        </m:den>
                      </m:f>
                      <m:r>
                        <a:rPr lang="en-US" sz="1600" dirty="0"/>
                        <m:t>[</m:t>
                      </m:r>
                      <m:sSub>
                        <m:sSubPr>
                          <m:ctrlPr>
                            <a:rPr lang="en-US" sz="1100" dirty="0"/>
                          </m:ctrlPr>
                        </m:sSubPr>
                        <m:e>
                          <m:r>
                            <a:rPr lang="en-US" sz="1100" i="1" dirty="0"/>
                            <m:t>f</m:t>
                          </m:r>
                        </m:e>
                        <m:sub>
                          <m:r>
                            <a:rPr lang="en-US" sz="1100" i="1" dirty="0"/>
                            <m:t>S</m:t>
                          </m:r>
                          <m:r>
                            <a:rPr lang="en-US" sz="1100" dirty="0"/>
                            <m:t>∪</m:t>
                          </m:r>
                          <m:r>
                            <a:rPr lang="en-US" sz="1100" dirty="0"/>
                            <m:t>{</m:t>
                          </m:r>
                          <m:r>
                            <a:rPr lang="en-US" sz="1100" i="1" dirty="0"/>
                            <m:t>i</m:t>
                          </m:r>
                          <m:r>
                            <a:rPr lang="en-US" sz="1100" dirty="0"/>
                            <m:t>}</m:t>
                          </m:r>
                        </m:sub>
                      </m:sSub>
                      <m:r>
                        <a:rPr lang="en-US" sz="1600" dirty="0"/>
                        <m:t>(</m:t>
                      </m:r>
                      <m:sSub>
                        <m:sSubPr>
                          <m:ctrlPr>
                            <a:rPr lang="en-US" sz="1100" dirty="0"/>
                          </m:ctrlPr>
                        </m:sSubPr>
                        <m:e>
                          <m:r>
                            <a:rPr lang="en-US" sz="1100" i="1" dirty="0"/>
                            <m:t>x</m:t>
                          </m:r>
                        </m:e>
                        <m:sub>
                          <m:r>
                            <a:rPr lang="en-US" sz="1100" i="1" dirty="0"/>
                            <m:t>S</m:t>
                          </m:r>
                          <m:r>
                            <a:rPr lang="en-US" sz="1100" dirty="0"/>
                            <m:t>∪</m:t>
                          </m:r>
                          <m:r>
                            <a:rPr lang="en-US" sz="1100" dirty="0"/>
                            <m:t>{</m:t>
                          </m:r>
                          <m:r>
                            <a:rPr lang="en-US" sz="1100" i="1" dirty="0"/>
                            <m:t>i</m:t>
                          </m:r>
                          <m:r>
                            <a:rPr lang="en-US" sz="1100" dirty="0"/>
                            <m:t>}</m:t>
                          </m:r>
                        </m:sub>
                      </m:sSub>
                      <m:r>
                        <a:rPr lang="en-US" sz="1600" dirty="0"/>
                        <m:t>)</m:t>
                      </m:r>
                      <m:r>
                        <a:rPr lang="en-US" sz="1600" dirty="0"/>
                        <m:t>−</m:t>
                      </m:r>
                      <m:sSub>
                        <m:sSubPr>
                          <m:ctrlPr>
                            <a:rPr lang="en-US" sz="1100" dirty="0"/>
                          </m:ctrlPr>
                        </m:sSubPr>
                        <m:e>
                          <m:r>
                            <a:rPr lang="en-US" sz="1100" i="1" dirty="0"/>
                            <m:t>f</m:t>
                          </m:r>
                        </m:e>
                        <m:sub>
                          <m:r>
                            <a:rPr lang="en-US" sz="1100" i="1" dirty="0"/>
                            <m:t>S</m:t>
                          </m:r>
                        </m:sub>
                      </m:sSub>
                      <m:r>
                        <a:rPr lang="en-US" sz="1600" dirty="0"/>
                        <m:t>(</m:t>
                      </m:r>
                      <m:sSub>
                        <m:sSubPr>
                          <m:ctrlPr>
                            <a:rPr lang="en-US" sz="1100" dirty="0"/>
                          </m:ctrlPr>
                        </m:sSubPr>
                        <m:e>
                          <m:r>
                            <a:rPr lang="en-US" sz="1100" i="1" dirty="0"/>
                            <m:t>x</m:t>
                          </m:r>
                        </m:e>
                        <m:sub>
                          <m:r>
                            <a:rPr lang="en-US" sz="1100" i="1" dirty="0"/>
                            <m:t>S</m:t>
                          </m:r>
                        </m:sub>
                      </m:sSub>
                      <m:r>
                        <a:rPr lang="en-US" sz="1600" dirty="0"/>
                        <m:t>)</m:t>
                      </m:r>
                      <m:r>
                        <a:rPr lang="en-US" sz="1600" dirty="0"/>
                        <m:t>]</m:t>
                      </m:r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13" name="Text 11"/>
              <p:cNvSpPr/>
              <p:nvPr/>
            </p:nvSpPr>
            <p:spPr>
              <a:xfrm>
                <a:off x="1143000" y="5207000"/>
                <a:ext cx="6604000" cy="8255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algn="ctr">
                  <a:lnSpc>
                    <a:spcPct val="160000"/>
                  </a:lnSpc>
                </a:pPr>
                <a:r>
                  <a:rPr lang="en-US" sz="1800" dirty="0">
                    <a:solidFill>
                      <a:srgbClr val="F8FAFC"/>
                    </a:solidFill>
                    <a:latin typeface="Quattrocento Sans" pitchFamily="34" charset="0"/>
                    <a:ea typeface="Quattrocento Sans" pitchFamily="34" charset="-122"/>
                    <a:cs typeface="Quattrocento Sans" pitchFamily="34" charset="-120"/>
                  </a:rPr>
                  <a:t>SHAP Value Equation:</a:t>
                </a:r>
                <a:endParaRPr lang="en-US" sz="1600" dirty="0"/>
              </a:p>
              <a:p>
                <a:pPr algn="ctr">
                  <a:lnSpc>
                    <a:spcPct val="160000"/>
                  </a:lnSpc>
                </a:pPr>
                <a:r>
                  <a:rPr lang="en-US" sz="1600" dirty="0">
                    <a:solidFill>
                      <a:srgbClr val="000000"/>
                    </a:solidFill>
                    <a:latin typeface="微软雅黑" pitchFamily="34" charset="0"/>
                    <a:ea typeface="微软雅黑" pitchFamily="34" charset="-122"/>
                    <a:cs typeface="微软雅黑" pitchFamily="34" charset="-120"/>
                  </a:rPr>
                  <a:t>( \phi_i = \sum_{S \subseteq N \setminus \{i\}} \frac{|S|!(|N|-|S|-1)!}{|N|!} [f_{S \cup \{i\}}(x_{S \cup \{i\}}) - f_S(x_S)] )</a:t>
                </a:r>
                <a:endParaRPr lang="en-US" sz="1600" dirty="0"/>
              </a:p>
            </p:txBody>
          </p:sp>
        </mc:Fallback>
      </mc:AlternateContent>
      <p:sp>
        <p:nvSpPr>
          <p:cNvPr id="14" name="Shape 12"/>
          <p:cNvSpPr/>
          <p:nvPr/>
        </p:nvSpPr>
        <p:spPr>
          <a:xfrm>
            <a:off x="8636000" y="1460500"/>
            <a:ext cx="6858000" cy="43815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5" name="Shape 13"/>
          <p:cNvSpPr/>
          <p:nvPr/>
        </p:nvSpPr>
        <p:spPr>
          <a:xfrm>
            <a:off x="11671300" y="3175000"/>
            <a:ext cx="533400" cy="609600"/>
          </a:xfrm>
          <a:custGeom>
            <a:avLst/>
            <a:gdLst/>
            <a:ahLst/>
            <a:cxnLst/>
            <a:rect l="l" t="t" r="r" b="b"/>
            <a:pathLst>
              <a:path w="533400" h="609600">
                <a:moveTo>
                  <a:pt x="76200" y="95250"/>
                </a:moveTo>
                <a:cubicBezTo>
                  <a:pt x="65723" y="95250"/>
                  <a:pt x="57150" y="103823"/>
                  <a:pt x="57150" y="114300"/>
                </a:cubicBezTo>
                <a:lnTo>
                  <a:pt x="57150" y="495300"/>
                </a:lnTo>
                <a:cubicBezTo>
                  <a:pt x="57150" y="505778"/>
                  <a:pt x="65723" y="514350"/>
                  <a:pt x="76200" y="514350"/>
                </a:cubicBezTo>
                <a:lnTo>
                  <a:pt x="457200" y="514350"/>
                </a:lnTo>
                <a:cubicBezTo>
                  <a:pt x="467678" y="514350"/>
                  <a:pt x="476250" y="505778"/>
                  <a:pt x="476250" y="495300"/>
                </a:cubicBezTo>
                <a:lnTo>
                  <a:pt x="476250" y="114300"/>
                </a:lnTo>
                <a:cubicBezTo>
                  <a:pt x="476250" y="103823"/>
                  <a:pt x="467678" y="95250"/>
                  <a:pt x="457200" y="95250"/>
                </a:cubicBezTo>
                <a:lnTo>
                  <a:pt x="76200" y="95250"/>
                </a:lnTo>
                <a:close/>
                <a:moveTo>
                  <a:pt x="0" y="114300"/>
                </a:moveTo>
                <a:cubicBezTo>
                  <a:pt x="0" y="72271"/>
                  <a:pt x="34171" y="38100"/>
                  <a:pt x="76200" y="38100"/>
                </a:cubicBezTo>
                <a:lnTo>
                  <a:pt x="457200" y="38100"/>
                </a:lnTo>
                <a:cubicBezTo>
                  <a:pt x="499229" y="38100"/>
                  <a:pt x="533400" y="72271"/>
                  <a:pt x="533400" y="114300"/>
                </a:cubicBezTo>
                <a:lnTo>
                  <a:pt x="533400" y="495300"/>
                </a:lnTo>
                <a:cubicBezTo>
                  <a:pt x="533400" y="537329"/>
                  <a:pt x="499229" y="571500"/>
                  <a:pt x="457200" y="571500"/>
                </a:cubicBezTo>
                <a:lnTo>
                  <a:pt x="76200" y="571500"/>
                </a:lnTo>
                <a:cubicBezTo>
                  <a:pt x="34171" y="571500"/>
                  <a:pt x="0" y="537329"/>
                  <a:pt x="0" y="495300"/>
                </a:cubicBezTo>
                <a:lnTo>
                  <a:pt x="0" y="114300"/>
                </a:lnTo>
                <a:close/>
                <a:moveTo>
                  <a:pt x="152400" y="152400"/>
                </a:moveTo>
                <a:cubicBezTo>
                  <a:pt x="173428" y="152400"/>
                  <a:pt x="190500" y="169472"/>
                  <a:pt x="190500" y="190500"/>
                </a:cubicBezTo>
                <a:cubicBezTo>
                  <a:pt x="190500" y="211528"/>
                  <a:pt x="173428" y="228600"/>
                  <a:pt x="152400" y="228600"/>
                </a:cubicBezTo>
                <a:cubicBezTo>
                  <a:pt x="131372" y="228600"/>
                  <a:pt x="114300" y="211528"/>
                  <a:pt x="114300" y="190500"/>
                </a:cubicBezTo>
                <a:cubicBezTo>
                  <a:pt x="114300" y="169472"/>
                  <a:pt x="131372" y="152400"/>
                  <a:pt x="152400" y="152400"/>
                </a:cubicBezTo>
                <a:close/>
                <a:moveTo>
                  <a:pt x="314325" y="238125"/>
                </a:moveTo>
                <a:cubicBezTo>
                  <a:pt x="324445" y="238125"/>
                  <a:pt x="333851" y="243483"/>
                  <a:pt x="338971" y="252174"/>
                </a:cubicBezTo>
                <a:lnTo>
                  <a:pt x="434221" y="414099"/>
                </a:lnTo>
                <a:cubicBezTo>
                  <a:pt x="439460" y="422910"/>
                  <a:pt x="439460" y="433864"/>
                  <a:pt x="434340" y="442793"/>
                </a:cubicBezTo>
                <a:cubicBezTo>
                  <a:pt x="429220" y="451723"/>
                  <a:pt x="419814" y="457200"/>
                  <a:pt x="409575" y="457200"/>
                </a:cubicBezTo>
                <a:lnTo>
                  <a:pt x="123825" y="457200"/>
                </a:lnTo>
                <a:cubicBezTo>
                  <a:pt x="113228" y="457200"/>
                  <a:pt x="103346" y="451247"/>
                  <a:pt x="98465" y="441841"/>
                </a:cubicBezTo>
                <a:cubicBezTo>
                  <a:pt x="93583" y="432435"/>
                  <a:pt x="94298" y="421005"/>
                  <a:pt x="100370" y="412313"/>
                </a:cubicBezTo>
                <a:lnTo>
                  <a:pt x="167045" y="317063"/>
                </a:lnTo>
                <a:cubicBezTo>
                  <a:pt x="172403" y="309443"/>
                  <a:pt x="181094" y="304919"/>
                  <a:pt x="190500" y="304919"/>
                </a:cubicBezTo>
                <a:cubicBezTo>
                  <a:pt x="199906" y="304919"/>
                  <a:pt x="208597" y="309443"/>
                  <a:pt x="213955" y="317063"/>
                </a:cubicBezTo>
                <a:lnTo>
                  <a:pt x="234434" y="346353"/>
                </a:lnTo>
                <a:lnTo>
                  <a:pt x="289798" y="252293"/>
                </a:lnTo>
                <a:cubicBezTo>
                  <a:pt x="294918" y="243602"/>
                  <a:pt x="304324" y="238244"/>
                  <a:pt x="314444" y="238244"/>
                </a:cubicBezTo>
                <a:close/>
              </a:path>
            </a:pathLst>
          </a:custGeom>
          <a:solidFill>
            <a:srgbClr val="64748B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0" y="4318000"/>
            <a:ext cx="5842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50000"/>
              </a:lnSpc>
            </a:pPr>
            <a:r>
              <a:rPr lang="en-US" sz="14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[Insert Diagram: SHAP Value Calculation</a:t>
            </a:r>
            <a:endParaRPr lang="en-US" sz="1600" dirty="0"/>
          </a:p>
          <a:p>
            <a:pPr algn="ctr">
              <a:lnSpc>
                <a:spcPct val="150000"/>
              </a:lnSpc>
            </a:pPr>
            <a:r>
              <a:rPr lang="en-US" sz="14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Illustration]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762000" y="6350000"/>
            <a:ext cx="14732000" cy="1270000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62000" y="6350000"/>
            <a:ext cx="76200" cy="127000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19" name="Text 17"/>
          <p:cNvSpPr/>
          <p:nvPr/>
        </p:nvSpPr>
        <p:spPr>
          <a:xfrm>
            <a:off x="1143000" y="6477000"/>
            <a:ext cx="139700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800" b="1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Key Insight:</a:t>
            </a:r>
            <a:pPr>
              <a:lnSpc>
                <a:spcPct val="150000"/>
              </a:lnSpc>
            </a:pPr>
            <a:r>
              <a:rPr lang="en-US" sz="1800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SHAP satisfies four desirable properties — </a:t>
            </a:r>
            <a:pPr>
              <a:lnSpc>
                <a:spcPct val="150000"/>
              </a:lnSpc>
            </a:pPr>
            <a:r>
              <a:rPr lang="en-US" sz="1800" b="1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local accuracy</a:t>
            </a:r>
            <a:pPr>
              <a:lnSpc>
                <a:spcPct val="150000"/>
              </a:lnSpc>
            </a:pPr>
            <a:r>
              <a:rPr lang="en-US" sz="1800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, </a:t>
            </a:r>
            <a:pPr>
              <a:lnSpc>
                <a:spcPct val="150000"/>
              </a:lnSpc>
            </a:pPr>
            <a:r>
              <a:rPr lang="en-US" sz="1800" b="1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missingness</a:t>
            </a:r>
            <a:pPr>
              <a:lnSpc>
                <a:spcPct val="150000"/>
              </a:lnSpc>
            </a:pPr>
            <a:r>
              <a:rPr lang="en-US" sz="1800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, </a:t>
            </a:r>
            <a:pPr>
              <a:lnSpc>
                <a:spcPct val="150000"/>
              </a:lnSpc>
            </a:pPr>
            <a:r>
              <a:rPr lang="en-US" sz="1800" b="1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consistency</a:t>
            </a:r>
            <a:pPr>
              <a:lnSpc>
                <a:spcPct val="150000"/>
              </a:lnSpc>
            </a:pPr>
            <a:r>
              <a:rPr lang="en-US" sz="1800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, and </a:t>
            </a:r>
            <a:pPr>
              <a:lnSpc>
                <a:spcPct val="150000"/>
              </a:lnSpc>
            </a:pPr>
            <a:r>
              <a:rPr lang="en-US" sz="1800" b="1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dummy</a:t>
            </a:r>
            <a:pPr>
              <a:lnSpc>
                <a:spcPct val="150000"/>
              </a:lnSpc>
            </a:pPr>
            <a:r>
              <a:rPr lang="en-US" sz="1800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making it the theoretically optimal feature attribution method for our tree-based career prediction model.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4986000" y="87630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200" dirty="0">
                <a:solidFill>
                  <a:srgbClr val="64748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10</a:t>
            </a:r>
            <a:endParaRPr lang="en-US" sz="1200" dirty="0"/>
          </a:p>
        </p:txBody>
      </p:sp>
    </p:spTree>
  </p:cSld>
  <p:clrMapOvr>
    <a:masterClrMapping/>
  </p:clrMapOvr>
  <p:transition>
    <p:fade/>
    <p:spd val="med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A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45720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Text 1"/>
          <p:cNvSpPr/>
          <p:nvPr/>
        </p:nvSpPr>
        <p:spPr>
          <a:xfrm>
            <a:off x="0" y="0"/>
            <a:ext cx="27051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spc="100" kern="0" dirty="0">
                <a:solidFill>
                  <a:srgbClr val="F8FAF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INTRODUCTION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2705100" y="0"/>
            <a:ext cx="27051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b="1" spc="100" kern="0" dirty="0">
                <a:solidFill>
                  <a:srgbClr val="D9770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LITERATURE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10200" y="0"/>
            <a:ext cx="27178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spc="100" kern="0" dirty="0">
                <a:solidFill>
                  <a:srgbClr val="F8FAF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METHODOLOGY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128000" y="0"/>
            <a:ext cx="27051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spc="100" kern="0" dirty="0">
                <a:solidFill>
                  <a:srgbClr val="F8FAF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XAI RESULTS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0833100" y="0"/>
            <a:ext cx="27178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spc="100" kern="0" dirty="0">
                <a:solidFill>
                  <a:srgbClr val="F8FAF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IMPLEMENTATION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3550900" y="0"/>
            <a:ext cx="27051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spc="100" kern="0" dirty="0">
                <a:solidFill>
                  <a:srgbClr val="F8FAF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DEMONSTRATION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62000" y="660400"/>
            <a:ext cx="10160000" cy="482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b="1" dirty="0">
                <a:solidFill>
                  <a:srgbClr val="1E293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Literature Review: Research Gap</a:t>
            </a:r>
            <a:endParaRPr lang="en-US" sz="2800" dirty="0"/>
          </a:p>
        </p:txBody>
      </p:sp>
      <p:sp>
        <p:nvSpPr>
          <p:cNvPr id="10" name="Shape 8"/>
          <p:cNvSpPr/>
          <p:nvPr/>
        </p:nvSpPr>
        <p:spPr>
          <a:xfrm>
            <a:off x="762000" y="1206500"/>
            <a:ext cx="762000" cy="3810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11" name="Shape 9"/>
          <p:cNvSpPr/>
          <p:nvPr/>
        </p:nvSpPr>
        <p:spPr>
          <a:xfrm>
            <a:off x="762000" y="1524000"/>
            <a:ext cx="7112000" cy="15240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62000" y="1524000"/>
            <a:ext cx="76200" cy="152400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13" name="Text 11"/>
          <p:cNvSpPr/>
          <p:nvPr/>
        </p:nvSpPr>
        <p:spPr>
          <a:xfrm>
            <a:off x="1079500" y="1625600"/>
            <a:ext cx="1524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300" b="1" spc="100" kern="0" dirty="0">
                <a:solidFill>
                  <a:srgbClr val="D9770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GAP 1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079500" y="1955800"/>
            <a:ext cx="65405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Limited XAI integration in </a:t>
            </a:r>
            <a:pPr>
              <a:lnSpc>
                <a:spcPct val="150000"/>
              </a:lnSpc>
            </a:pPr>
            <a:r>
              <a:rPr lang="en-US" sz="1600" b="1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student-facing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academic guidance tools — most XAI is researcher-oriented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8382000" y="1524000"/>
            <a:ext cx="7112000" cy="15240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382000" y="1524000"/>
            <a:ext cx="76200" cy="152400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17" name="Text 15"/>
          <p:cNvSpPr/>
          <p:nvPr/>
        </p:nvSpPr>
        <p:spPr>
          <a:xfrm>
            <a:off x="8699500" y="1625600"/>
            <a:ext cx="1524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300" b="1" spc="100" kern="0" dirty="0">
                <a:solidFill>
                  <a:srgbClr val="D9770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GAP 2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699500" y="1955800"/>
            <a:ext cx="65405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Most XAI research focuses on </a:t>
            </a:r>
            <a:pPr>
              <a:lnSpc>
                <a:spcPct val="150000"/>
              </a:lnSpc>
            </a:pPr>
            <a:r>
              <a:rPr lang="en-US" sz="1600" b="1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global explanations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; local, actionable explanations for students are rare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762000" y="3365500"/>
            <a:ext cx="7112000" cy="15240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62000" y="3365500"/>
            <a:ext cx="76200" cy="152400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21" name="Text 19"/>
          <p:cNvSpPr/>
          <p:nvPr/>
        </p:nvSpPr>
        <p:spPr>
          <a:xfrm>
            <a:off x="1079500" y="3467100"/>
            <a:ext cx="1524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300" b="1" spc="100" kern="0" dirty="0">
                <a:solidFill>
                  <a:srgbClr val="D9770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GAP 3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079500" y="3797300"/>
            <a:ext cx="65405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600" b="1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Agent-based architectures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combining STT, CV, and XAI are unexplored in education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8382000" y="3365500"/>
            <a:ext cx="7112000" cy="15240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382000" y="3365500"/>
            <a:ext cx="76200" cy="152400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25" name="Text 23"/>
          <p:cNvSpPr/>
          <p:nvPr/>
        </p:nvSpPr>
        <p:spPr>
          <a:xfrm>
            <a:off x="8699500" y="3467100"/>
            <a:ext cx="1524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300" b="1" spc="100" kern="0" dirty="0">
                <a:solidFill>
                  <a:srgbClr val="D9770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GAP 4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8699500" y="3797300"/>
            <a:ext cx="65405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No existing system provides </a:t>
            </a:r>
            <a:pPr>
              <a:lnSpc>
                <a:spcPct val="150000"/>
              </a:lnSpc>
            </a:pPr>
            <a:r>
              <a:rPr lang="en-US" sz="1600" b="1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dual-end transparency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(student UX + backend explainability)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762000" y="5334000"/>
            <a:ext cx="14732000" cy="2921000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8" name="Shape 26"/>
          <p:cNvSpPr/>
          <p:nvPr/>
        </p:nvSpPr>
        <p:spPr>
          <a:xfrm>
            <a:off x="7861300" y="6223000"/>
            <a:ext cx="533400" cy="609600"/>
          </a:xfrm>
          <a:custGeom>
            <a:avLst/>
            <a:gdLst/>
            <a:ahLst/>
            <a:cxnLst/>
            <a:rect l="l" t="t" r="r" b="b"/>
            <a:pathLst>
              <a:path w="533400" h="609600">
                <a:moveTo>
                  <a:pt x="76200" y="95250"/>
                </a:moveTo>
                <a:cubicBezTo>
                  <a:pt x="65723" y="95250"/>
                  <a:pt x="57150" y="103823"/>
                  <a:pt x="57150" y="114300"/>
                </a:cubicBezTo>
                <a:lnTo>
                  <a:pt x="57150" y="495300"/>
                </a:lnTo>
                <a:cubicBezTo>
                  <a:pt x="57150" y="505778"/>
                  <a:pt x="65723" y="514350"/>
                  <a:pt x="76200" y="514350"/>
                </a:cubicBezTo>
                <a:lnTo>
                  <a:pt x="457200" y="514350"/>
                </a:lnTo>
                <a:cubicBezTo>
                  <a:pt x="467678" y="514350"/>
                  <a:pt x="476250" y="505778"/>
                  <a:pt x="476250" y="495300"/>
                </a:cubicBezTo>
                <a:lnTo>
                  <a:pt x="476250" y="114300"/>
                </a:lnTo>
                <a:cubicBezTo>
                  <a:pt x="476250" y="103823"/>
                  <a:pt x="467678" y="95250"/>
                  <a:pt x="457200" y="95250"/>
                </a:cubicBezTo>
                <a:lnTo>
                  <a:pt x="76200" y="95250"/>
                </a:lnTo>
                <a:close/>
                <a:moveTo>
                  <a:pt x="0" y="114300"/>
                </a:moveTo>
                <a:cubicBezTo>
                  <a:pt x="0" y="72271"/>
                  <a:pt x="34171" y="38100"/>
                  <a:pt x="76200" y="38100"/>
                </a:cubicBezTo>
                <a:lnTo>
                  <a:pt x="457200" y="38100"/>
                </a:lnTo>
                <a:cubicBezTo>
                  <a:pt x="499229" y="38100"/>
                  <a:pt x="533400" y="72271"/>
                  <a:pt x="533400" y="114300"/>
                </a:cubicBezTo>
                <a:lnTo>
                  <a:pt x="533400" y="495300"/>
                </a:lnTo>
                <a:cubicBezTo>
                  <a:pt x="533400" y="537329"/>
                  <a:pt x="499229" y="571500"/>
                  <a:pt x="457200" y="571500"/>
                </a:cubicBezTo>
                <a:lnTo>
                  <a:pt x="76200" y="571500"/>
                </a:lnTo>
                <a:cubicBezTo>
                  <a:pt x="34171" y="571500"/>
                  <a:pt x="0" y="537329"/>
                  <a:pt x="0" y="495300"/>
                </a:cubicBezTo>
                <a:lnTo>
                  <a:pt x="0" y="114300"/>
                </a:lnTo>
                <a:close/>
                <a:moveTo>
                  <a:pt x="152400" y="152400"/>
                </a:moveTo>
                <a:cubicBezTo>
                  <a:pt x="173428" y="152400"/>
                  <a:pt x="190500" y="169472"/>
                  <a:pt x="190500" y="190500"/>
                </a:cubicBezTo>
                <a:cubicBezTo>
                  <a:pt x="190500" y="211528"/>
                  <a:pt x="173428" y="228600"/>
                  <a:pt x="152400" y="228600"/>
                </a:cubicBezTo>
                <a:cubicBezTo>
                  <a:pt x="131372" y="228600"/>
                  <a:pt x="114300" y="211528"/>
                  <a:pt x="114300" y="190500"/>
                </a:cubicBezTo>
                <a:cubicBezTo>
                  <a:pt x="114300" y="169472"/>
                  <a:pt x="131372" y="152400"/>
                  <a:pt x="152400" y="152400"/>
                </a:cubicBezTo>
                <a:close/>
                <a:moveTo>
                  <a:pt x="314325" y="238125"/>
                </a:moveTo>
                <a:cubicBezTo>
                  <a:pt x="324445" y="238125"/>
                  <a:pt x="333851" y="243483"/>
                  <a:pt x="338971" y="252174"/>
                </a:cubicBezTo>
                <a:lnTo>
                  <a:pt x="434221" y="414099"/>
                </a:lnTo>
                <a:cubicBezTo>
                  <a:pt x="439460" y="422910"/>
                  <a:pt x="439460" y="433864"/>
                  <a:pt x="434340" y="442793"/>
                </a:cubicBezTo>
                <a:cubicBezTo>
                  <a:pt x="429220" y="451723"/>
                  <a:pt x="419814" y="457200"/>
                  <a:pt x="409575" y="457200"/>
                </a:cubicBezTo>
                <a:lnTo>
                  <a:pt x="123825" y="457200"/>
                </a:lnTo>
                <a:cubicBezTo>
                  <a:pt x="113228" y="457200"/>
                  <a:pt x="103346" y="451247"/>
                  <a:pt x="98465" y="441841"/>
                </a:cubicBezTo>
                <a:cubicBezTo>
                  <a:pt x="93583" y="432435"/>
                  <a:pt x="94298" y="421005"/>
                  <a:pt x="100370" y="412313"/>
                </a:cubicBezTo>
                <a:lnTo>
                  <a:pt x="167045" y="317063"/>
                </a:lnTo>
                <a:cubicBezTo>
                  <a:pt x="172403" y="309443"/>
                  <a:pt x="181094" y="304919"/>
                  <a:pt x="190500" y="304919"/>
                </a:cubicBezTo>
                <a:cubicBezTo>
                  <a:pt x="199906" y="304919"/>
                  <a:pt x="208597" y="309443"/>
                  <a:pt x="213955" y="317063"/>
                </a:cubicBezTo>
                <a:lnTo>
                  <a:pt x="234434" y="346353"/>
                </a:lnTo>
                <a:lnTo>
                  <a:pt x="289798" y="252293"/>
                </a:lnTo>
                <a:cubicBezTo>
                  <a:pt x="294918" y="243602"/>
                  <a:pt x="304324" y="238244"/>
                  <a:pt x="314444" y="238244"/>
                </a:cubicBezTo>
                <a:close/>
              </a:path>
            </a:pathLst>
          </a:custGeom>
          <a:solidFill>
            <a:srgbClr val="64748B"/>
          </a:solidFill>
          <a:ln/>
        </p:spPr>
      </p:sp>
      <p:sp>
        <p:nvSpPr>
          <p:cNvPr id="29" name="Text 27"/>
          <p:cNvSpPr/>
          <p:nvPr/>
        </p:nvSpPr>
        <p:spPr>
          <a:xfrm>
            <a:off x="4572000" y="6985000"/>
            <a:ext cx="7112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50000"/>
              </a:lnSpc>
            </a:pPr>
            <a:r>
              <a:rPr lang="en-US" sz="14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[Insert Diagram: Venn Diagram — AI Ed + XAI + Agents = Our Contribution]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14986000" y="87630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200" dirty="0">
                <a:solidFill>
                  <a:srgbClr val="64748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11</a:t>
            </a:r>
            <a:endParaRPr lang="en-US" sz="1200" dirty="0"/>
          </a:p>
        </p:txBody>
      </p:sp>
    </p:spTree>
  </p:cSld>
  <p:clrMapOvr>
    <a:masterClrMapping/>
  </p:clrMapOvr>
  <p:transition>
    <p:fade/>
    <p:spd val="med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2286000"/>
            <a:ext cx="2540000" cy="1143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7200" b="1" dirty="0">
                <a:solidFill>
                  <a:srgbClr val="D9770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03</a:t>
            </a:r>
            <a:endParaRPr lang="en-US" sz="1600" dirty="0"/>
          </a:p>
        </p:txBody>
      </p:sp>
      <p:sp>
        <p:nvSpPr>
          <p:cNvPr id="3" name="Shape 1"/>
          <p:cNvSpPr/>
          <p:nvPr/>
        </p:nvSpPr>
        <p:spPr>
          <a:xfrm>
            <a:off x="762000" y="3619500"/>
            <a:ext cx="1270000" cy="3810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4" name="Text 2"/>
          <p:cNvSpPr/>
          <p:nvPr/>
        </p:nvSpPr>
        <p:spPr>
          <a:xfrm>
            <a:off x="762000" y="3873500"/>
            <a:ext cx="762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600" b="1" spc="200" kern="0" dirty="0">
                <a:solidFill>
                  <a:srgbClr val="F8FAF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METHODOLOGY &amp; DATA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62000" y="4699000"/>
            <a:ext cx="889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Dataset, preprocessing pipeline, and model architecture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AFA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45720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Text 1"/>
          <p:cNvSpPr/>
          <p:nvPr/>
        </p:nvSpPr>
        <p:spPr>
          <a:xfrm>
            <a:off x="0" y="0"/>
            <a:ext cx="27051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spc="100" kern="0" dirty="0">
                <a:solidFill>
                  <a:srgbClr val="F8FAF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INTRODUCTION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2705100" y="0"/>
            <a:ext cx="27051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spc="100" kern="0" dirty="0">
                <a:solidFill>
                  <a:srgbClr val="F8FAF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LITERATURE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10200" y="0"/>
            <a:ext cx="27178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b="1" spc="100" kern="0" dirty="0">
                <a:solidFill>
                  <a:srgbClr val="D9770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METHODOLOGY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128000" y="0"/>
            <a:ext cx="27051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spc="100" kern="0" dirty="0">
                <a:solidFill>
                  <a:srgbClr val="F8FAF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XAI RESULTS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0833100" y="0"/>
            <a:ext cx="27178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spc="100" kern="0" dirty="0">
                <a:solidFill>
                  <a:srgbClr val="F8FAF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IMPLEMENTATION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3550900" y="0"/>
            <a:ext cx="27051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spc="100" kern="0" dirty="0">
                <a:solidFill>
                  <a:srgbClr val="F8FAF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DEMONSTRATION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62000" y="660400"/>
            <a:ext cx="8890000" cy="482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b="1" dirty="0">
                <a:solidFill>
                  <a:srgbClr val="1E293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Data Source: CS Students Dataset</a:t>
            </a:r>
            <a:endParaRPr lang="en-US" sz="2800" dirty="0"/>
          </a:p>
        </p:txBody>
      </p:sp>
      <p:sp>
        <p:nvSpPr>
          <p:cNvPr id="10" name="Shape 8"/>
          <p:cNvSpPr/>
          <p:nvPr/>
        </p:nvSpPr>
        <p:spPr>
          <a:xfrm>
            <a:off x="762000" y="1206500"/>
            <a:ext cx="762000" cy="3810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11" name="Text 9"/>
          <p:cNvSpPr/>
          <p:nvPr/>
        </p:nvSpPr>
        <p:spPr>
          <a:xfrm>
            <a:off x="762000" y="1460500"/>
            <a:ext cx="7366000" cy="368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70000"/>
              </a:lnSpc>
            </a:pPr>
            <a:r>
              <a:rPr lang="en-US" sz="1800" dirty="0">
                <a:solidFill>
                  <a:srgbClr val="D9770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■</a:t>
            </a:r>
            <a:pPr>
              <a:lnSpc>
                <a:spcPct val="170000"/>
              </a:lnSpc>
            </a:pPr>
            <a:r>
              <a:rPr lang="en-US" sz="1800" dirty="0">
                <a:solidFill>
                  <a:srgbClr val="0F172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Custom dataset: </a:t>
            </a:r>
            <a:pPr>
              <a:lnSpc>
                <a:spcPct val="170000"/>
              </a:lnSpc>
            </a:pPr>
            <a:r>
              <a:rPr lang="en-US" sz="1800" b="1" dirty="0">
                <a:solidFill>
                  <a:srgbClr val="0F172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cs_students.csv</a:t>
            </a:r>
            <a:pPr>
              <a:lnSpc>
                <a:spcPct val="170000"/>
              </a:lnSpc>
            </a:pPr>
            <a:r>
              <a:rPr lang="en-US" sz="1800" dirty="0">
                <a:solidFill>
                  <a:srgbClr val="0F172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containing Computer Science student records</a:t>
            </a:r>
            <a:endParaRPr lang="en-US" sz="1800" dirty="0"/>
          </a:p>
          <a:p>
            <a:pPr>
              <a:lnSpc>
                <a:spcPct val="170000"/>
              </a:lnSpc>
              <a:spcBef>
                <a:spcPts val="1000"/>
              </a:spcBef>
            </a:pPr>
            <a:r>
              <a:rPr lang="en-US" sz="1800" dirty="0">
                <a:solidFill>
                  <a:srgbClr val="D9770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■</a:t>
            </a:r>
            <a:pPr>
              <a:lnSpc>
                <a:spcPct val="170000"/>
              </a:lnSpc>
              <a:spcBef>
                <a:spcPts val="1000"/>
              </a:spcBef>
            </a:pPr>
            <a:r>
              <a:rPr lang="en-US" sz="1800" dirty="0">
                <a:solidFill>
                  <a:srgbClr val="0F172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Features: GPA, Programming Skills (Python, SQL, Java), Interested Domains, Target Careers</a:t>
            </a:r>
            <a:endParaRPr lang="en-US" sz="1800" dirty="0"/>
          </a:p>
          <a:p>
            <a:pPr>
              <a:lnSpc>
                <a:spcPct val="170000"/>
              </a:lnSpc>
              <a:spcBef>
                <a:spcPts val="1000"/>
              </a:spcBef>
            </a:pPr>
            <a:r>
              <a:rPr lang="en-US" sz="1800" dirty="0">
                <a:solidFill>
                  <a:srgbClr val="D9770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■</a:t>
            </a:r>
            <a:pPr>
              <a:lnSpc>
                <a:spcPct val="170000"/>
              </a:lnSpc>
              <a:spcBef>
                <a:spcPts val="1000"/>
              </a:spcBef>
            </a:pPr>
            <a:r>
              <a:rPr lang="en-US" sz="1800" dirty="0">
                <a:solidFill>
                  <a:srgbClr val="0F172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Target variable: Career recommendation (Data Scientist, Software Engineer, etc.)</a:t>
            </a:r>
            <a:endParaRPr lang="en-US" sz="1800" dirty="0"/>
          </a:p>
          <a:p>
            <a:pPr>
              <a:lnSpc>
                <a:spcPct val="170000"/>
              </a:lnSpc>
              <a:spcBef>
                <a:spcPts val="1000"/>
              </a:spcBef>
            </a:pPr>
            <a:r>
              <a:rPr lang="en-US" sz="1800" dirty="0">
                <a:solidFill>
                  <a:srgbClr val="D9770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■</a:t>
            </a:r>
            <a:pPr>
              <a:lnSpc>
                <a:spcPct val="170000"/>
              </a:lnSpc>
              <a:spcBef>
                <a:spcPts val="1000"/>
              </a:spcBef>
            </a:pPr>
            <a:r>
              <a:rPr lang="en-US" sz="1800" dirty="0">
                <a:solidFill>
                  <a:srgbClr val="0F172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Dataset designed to mirror real-world student academic profiles</a:t>
            </a:r>
            <a:endParaRPr lang="en-US" sz="18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62000" y="5334000"/>
          <a:ext cx="7366000" cy="3048000"/>
        </p:xfrm>
        <a:graphic>
          <a:graphicData uri="http://schemas.openxmlformats.org/drawingml/2006/table">
            <a:tbl>
              <a:tblPr/>
              <a:tblGrid>
                <a:gridCol w="2578100"/>
                <a:gridCol w="2209800"/>
                <a:gridCol w="2578100"/>
              </a:tblGrid>
              <a:tr h="435429"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F8FAF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Feature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F8FAF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Type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F8FAF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Description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435429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0F172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GPA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0F172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Numerical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0F172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Grade Point Average (0-4.0)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5429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0F172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Python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0F172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Numerical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0F172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Python skill level (1-10)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435429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0F172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SQL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0F172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Numerical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0F172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SQL skill level (1-10)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5429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0F172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Java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0F172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Numerical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0F172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Java skill level (1-10)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435429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0F172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Interested_Domain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0F172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Categorical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0F172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Area of interest (e.g., AI, Web)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5429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0F172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Target_Career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0F172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Categorical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0F172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Desired career (target label)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13" name="Text 10"/>
          <p:cNvSpPr/>
          <p:nvPr/>
        </p:nvSpPr>
        <p:spPr>
          <a:xfrm>
            <a:off x="762000" y="8483600"/>
            <a:ext cx="5080000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64748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Table 2: Dataset Feature Schema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8636000" y="1460500"/>
            <a:ext cx="6858000" cy="39370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5" name="Shape 12"/>
          <p:cNvSpPr/>
          <p:nvPr/>
        </p:nvSpPr>
        <p:spPr>
          <a:xfrm>
            <a:off x="11671300" y="2921000"/>
            <a:ext cx="533400" cy="609600"/>
          </a:xfrm>
          <a:custGeom>
            <a:avLst/>
            <a:gdLst/>
            <a:ahLst/>
            <a:cxnLst/>
            <a:rect l="l" t="t" r="r" b="b"/>
            <a:pathLst>
              <a:path w="533400" h="609600">
                <a:moveTo>
                  <a:pt x="76200" y="95250"/>
                </a:moveTo>
                <a:cubicBezTo>
                  <a:pt x="65723" y="95250"/>
                  <a:pt x="57150" y="103823"/>
                  <a:pt x="57150" y="114300"/>
                </a:cubicBezTo>
                <a:lnTo>
                  <a:pt x="57150" y="495300"/>
                </a:lnTo>
                <a:cubicBezTo>
                  <a:pt x="57150" y="505778"/>
                  <a:pt x="65723" y="514350"/>
                  <a:pt x="76200" y="514350"/>
                </a:cubicBezTo>
                <a:lnTo>
                  <a:pt x="457200" y="514350"/>
                </a:lnTo>
                <a:cubicBezTo>
                  <a:pt x="467678" y="514350"/>
                  <a:pt x="476250" y="505778"/>
                  <a:pt x="476250" y="495300"/>
                </a:cubicBezTo>
                <a:lnTo>
                  <a:pt x="476250" y="114300"/>
                </a:lnTo>
                <a:cubicBezTo>
                  <a:pt x="476250" y="103823"/>
                  <a:pt x="467678" y="95250"/>
                  <a:pt x="457200" y="95250"/>
                </a:cubicBezTo>
                <a:lnTo>
                  <a:pt x="76200" y="95250"/>
                </a:lnTo>
                <a:close/>
                <a:moveTo>
                  <a:pt x="0" y="114300"/>
                </a:moveTo>
                <a:cubicBezTo>
                  <a:pt x="0" y="72271"/>
                  <a:pt x="34171" y="38100"/>
                  <a:pt x="76200" y="38100"/>
                </a:cubicBezTo>
                <a:lnTo>
                  <a:pt x="457200" y="38100"/>
                </a:lnTo>
                <a:cubicBezTo>
                  <a:pt x="499229" y="38100"/>
                  <a:pt x="533400" y="72271"/>
                  <a:pt x="533400" y="114300"/>
                </a:cubicBezTo>
                <a:lnTo>
                  <a:pt x="533400" y="495300"/>
                </a:lnTo>
                <a:cubicBezTo>
                  <a:pt x="533400" y="537329"/>
                  <a:pt x="499229" y="571500"/>
                  <a:pt x="457200" y="571500"/>
                </a:cubicBezTo>
                <a:lnTo>
                  <a:pt x="76200" y="571500"/>
                </a:lnTo>
                <a:cubicBezTo>
                  <a:pt x="34171" y="571500"/>
                  <a:pt x="0" y="537329"/>
                  <a:pt x="0" y="495300"/>
                </a:cubicBezTo>
                <a:lnTo>
                  <a:pt x="0" y="114300"/>
                </a:lnTo>
                <a:close/>
                <a:moveTo>
                  <a:pt x="152400" y="152400"/>
                </a:moveTo>
                <a:cubicBezTo>
                  <a:pt x="173428" y="152400"/>
                  <a:pt x="190500" y="169472"/>
                  <a:pt x="190500" y="190500"/>
                </a:cubicBezTo>
                <a:cubicBezTo>
                  <a:pt x="190500" y="211528"/>
                  <a:pt x="173428" y="228600"/>
                  <a:pt x="152400" y="228600"/>
                </a:cubicBezTo>
                <a:cubicBezTo>
                  <a:pt x="131372" y="228600"/>
                  <a:pt x="114300" y="211528"/>
                  <a:pt x="114300" y="190500"/>
                </a:cubicBezTo>
                <a:cubicBezTo>
                  <a:pt x="114300" y="169472"/>
                  <a:pt x="131372" y="152400"/>
                  <a:pt x="152400" y="152400"/>
                </a:cubicBezTo>
                <a:close/>
                <a:moveTo>
                  <a:pt x="314325" y="238125"/>
                </a:moveTo>
                <a:cubicBezTo>
                  <a:pt x="324445" y="238125"/>
                  <a:pt x="333851" y="243483"/>
                  <a:pt x="338971" y="252174"/>
                </a:cubicBezTo>
                <a:lnTo>
                  <a:pt x="434221" y="414099"/>
                </a:lnTo>
                <a:cubicBezTo>
                  <a:pt x="439460" y="422910"/>
                  <a:pt x="439460" y="433864"/>
                  <a:pt x="434340" y="442793"/>
                </a:cubicBezTo>
                <a:cubicBezTo>
                  <a:pt x="429220" y="451723"/>
                  <a:pt x="419814" y="457200"/>
                  <a:pt x="409575" y="457200"/>
                </a:cubicBezTo>
                <a:lnTo>
                  <a:pt x="123825" y="457200"/>
                </a:lnTo>
                <a:cubicBezTo>
                  <a:pt x="113228" y="457200"/>
                  <a:pt x="103346" y="451247"/>
                  <a:pt x="98465" y="441841"/>
                </a:cubicBezTo>
                <a:cubicBezTo>
                  <a:pt x="93583" y="432435"/>
                  <a:pt x="94298" y="421005"/>
                  <a:pt x="100370" y="412313"/>
                </a:cubicBezTo>
                <a:lnTo>
                  <a:pt x="167045" y="317063"/>
                </a:lnTo>
                <a:cubicBezTo>
                  <a:pt x="172403" y="309443"/>
                  <a:pt x="181094" y="304919"/>
                  <a:pt x="190500" y="304919"/>
                </a:cubicBezTo>
                <a:cubicBezTo>
                  <a:pt x="199906" y="304919"/>
                  <a:pt x="208597" y="309443"/>
                  <a:pt x="213955" y="317063"/>
                </a:cubicBezTo>
                <a:lnTo>
                  <a:pt x="234434" y="346353"/>
                </a:lnTo>
                <a:lnTo>
                  <a:pt x="289798" y="252293"/>
                </a:lnTo>
                <a:cubicBezTo>
                  <a:pt x="294918" y="243602"/>
                  <a:pt x="304324" y="238244"/>
                  <a:pt x="314444" y="238244"/>
                </a:cubicBezTo>
                <a:close/>
              </a:path>
            </a:pathLst>
          </a:custGeom>
          <a:solidFill>
            <a:srgbClr val="64748B"/>
          </a:solidFill>
          <a:ln/>
        </p:spPr>
      </p:sp>
      <p:sp>
        <p:nvSpPr>
          <p:cNvPr id="16" name="Text 13"/>
          <p:cNvSpPr/>
          <p:nvPr/>
        </p:nvSpPr>
        <p:spPr>
          <a:xfrm>
            <a:off x="9144000" y="3683000"/>
            <a:ext cx="5842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50000"/>
              </a:lnSpc>
            </a:pPr>
            <a:r>
              <a:rPr lang="en-US" sz="14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[Insert Screenshot: Dataset Sample /</a:t>
            </a:r>
            <a:endParaRPr lang="en-US" sz="1600" dirty="0"/>
          </a:p>
          <a:p>
            <a:pPr algn="ctr">
              <a:lnSpc>
                <a:spcPct val="150000"/>
              </a:lnSpc>
            </a:pPr>
            <a:r>
              <a:rPr lang="en-US" sz="14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ERD Diagram]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14986000" y="87630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200" dirty="0">
                <a:solidFill>
                  <a:srgbClr val="64748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13</a:t>
            </a:r>
            <a:endParaRPr lang="en-US" sz="1200" dirty="0"/>
          </a:p>
        </p:txBody>
      </p:sp>
    </p:spTree>
  </p:cSld>
  <p:clrMapOvr>
    <a:masterClrMapping/>
  </p:clrMapOvr>
  <p:transition>
    <p:fade/>
    <p:spd val="med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AFA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45720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Text 1"/>
          <p:cNvSpPr/>
          <p:nvPr/>
        </p:nvSpPr>
        <p:spPr>
          <a:xfrm>
            <a:off x="0" y="0"/>
            <a:ext cx="27051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spc="100" kern="0" dirty="0">
                <a:solidFill>
                  <a:srgbClr val="F8FAF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INTRODUCTION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2705100" y="0"/>
            <a:ext cx="27051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spc="100" kern="0" dirty="0">
                <a:solidFill>
                  <a:srgbClr val="F8FAF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LITERATURE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10200" y="0"/>
            <a:ext cx="27178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b="1" spc="100" kern="0" dirty="0">
                <a:solidFill>
                  <a:srgbClr val="D9770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METHODOLOGY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128000" y="0"/>
            <a:ext cx="27051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spc="100" kern="0" dirty="0">
                <a:solidFill>
                  <a:srgbClr val="F8FAF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XAI RESULTS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0833100" y="0"/>
            <a:ext cx="27178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spc="100" kern="0" dirty="0">
                <a:solidFill>
                  <a:srgbClr val="F8FAF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IMPLEMENTATION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3550900" y="0"/>
            <a:ext cx="27051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spc="100" kern="0" dirty="0">
                <a:solidFill>
                  <a:srgbClr val="F8FAF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DEMONSTRATION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62000" y="660400"/>
            <a:ext cx="8890000" cy="482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b="1" dirty="0">
                <a:solidFill>
                  <a:srgbClr val="1E293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Data Preprocessing Pipeline</a:t>
            </a:r>
            <a:endParaRPr lang="en-US" sz="2800" dirty="0"/>
          </a:p>
        </p:txBody>
      </p:sp>
      <p:sp>
        <p:nvSpPr>
          <p:cNvPr id="10" name="Shape 8"/>
          <p:cNvSpPr/>
          <p:nvPr/>
        </p:nvSpPr>
        <p:spPr>
          <a:xfrm>
            <a:off x="762000" y="1206500"/>
            <a:ext cx="762000" cy="3810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11" name="Shape 9"/>
          <p:cNvSpPr/>
          <p:nvPr/>
        </p:nvSpPr>
        <p:spPr>
          <a:xfrm>
            <a:off x="762000" y="1587500"/>
            <a:ext cx="3302000" cy="101600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/>
        </p:spPr>
      </p:sp>
      <p:sp>
        <p:nvSpPr>
          <p:cNvPr id="12" name="Text 10"/>
          <p:cNvSpPr/>
          <p:nvPr/>
        </p:nvSpPr>
        <p:spPr>
          <a:xfrm>
            <a:off x="952500" y="1714500"/>
            <a:ext cx="2921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1400" b="1" dirty="0">
                <a:solidFill>
                  <a:srgbClr val="F8FAF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Data Wrangling</a:t>
            </a:r>
            <a:endParaRPr lang="en-US" sz="1600" dirty="0"/>
          </a:p>
          <a:p>
            <a:pPr algn="ctr">
              <a:lnSpc>
                <a:spcPct val="140000"/>
              </a:lnSpc>
            </a:pPr>
            <a:r>
              <a:rPr lang="en-US" sz="1200" dirty="0">
                <a:solidFill>
                  <a:srgbClr val="F8FAF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Pandas: missing values, outliers, types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4064000" y="1968500"/>
            <a:ext cx="508000" cy="0"/>
          </a:xfrm>
          <a:prstGeom prst="straightConnector1">
            <a:avLst/>
          </a:prstGeom>
          <a:noFill/>
          <a:ln w="25400">
            <a:solidFill>
              <a:srgbClr val="D97706"/>
            </a:solidFill>
            <a:prstDash val="solid"/>
            <a:headEnd type="none"/>
            <a:tailEnd type="arrow"/>
          </a:ln>
        </p:spPr>
      </p:sp>
      <p:sp>
        <p:nvSpPr>
          <p:cNvPr id="14" name="Shape 12"/>
          <p:cNvSpPr/>
          <p:nvPr/>
        </p:nvSpPr>
        <p:spPr>
          <a:xfrm>
            <a:off x="4572000" y="1587500"/>
            <a:ext cx="3302000" cy="101600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/>
        </p:spPr>
      </p:sp>
      <p:sp>
        <p:nvSpPr>
          <p:cNvPr id="15" name="Text 13"/>
          <p:cNvSpPr/>
          <p:nvPr/>
        </p:nvSpPr>
        <p:spPr>
          <a:xfrm>
            <a:off x="4762500" y="1714500"/>
            <a:ext cx="2921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1400" b="1" dirty="0">
                <a:solidFill>
                  <a:srgbClr val="F8FAF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Categorical Encoding</a:t>
            </a:r>
            <a:endParaRPr lang="en-US" sz="1600" dirty="0"/>
          </a:p>
          <a:p>
            <a:pPr algn="ctr">
              <a:lnSpc>
                <a:spcPct val="140000"/>
              </a:lnSpc>
            </a:pPr>
            <a:r>
              <a:rPr lang="en-US" sz="1200" dirty="0">
                <a:solidFill>
                  <a:srgbClr val="F8FAF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Label + One-Hot encoding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7874000" y="1968500"/>
            <a:ext cx="508000" cy="0"/>
          </a:xfrm>
          <a:prstGeom prst="straightConnector1">
            <a:avLst/>
          </a:prstGeom>
          <a:noFill/>
          <a:ln w="25400">
            <a:solidFill>
              <a:srgbClr val="D97706"/>
            </a:solidFill>
            <a:prstDash val="solid"/>
            <a:headEnd type="none"/>
            <a:tailEnd type="arrow"/>
          </a:ln>
        </p:spPr>
      </p:sp>
      <p:sp>
        <p:nvSpPr>
          <p:cNvPr id="17" name="Shape 15"/>
          <p:cNvSpPr/>
          <p:nvPr/>
        </p:nvSpPr>
        <p:spPr>
          <a:xfrm>
            <a:off x="8382000" y="1587500"/>
            <a:ext cx="3302000" cy="101600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/>
        </p:spPr>
      </p:sp>
      <p:sp>
        <p:nvSpPr>
          <p:cNvPr id="18" name="Text 16"/>
          <p:cNvSpPr/>
          <p:nvPr/>
        </p:nvSpPr>
        <p:spPr>
          <a:xfrm>
            <a:off x="8572500" y="1714500"/>
            <a:ext cx="2921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1400" b="1" dirty="0">
                <a:solidFill>
                  <a:srgbClr val="F8FAF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Feature Scaling</a:t>
            </a:r>
            <a:endParaRPr lang="en-US" sz="1600" dirty="0"/>
          </a:p>
          <a:p>
            <a:pPr algn="ctr">
              <a:lnSpc>
                <a:spcPct val="140000"/>
              </a:lnSpc>
            </a:pPr>
            <a:r>
              <a:rPr lang="en-US" sz="1200" dirty="0">
                <a:solidFill>
                  <a:srgbClr val="F8FAF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StandardScaler for numerics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11684000" y="1968500"/>
            <a:ext cx="508000" cy="0"/>
          </a:xfrm>
          <a:prstGeom prst="straightConnector1">
            <a:avLst/>
          </a:prstGeom>
          <a:noFill/>
          <a:ln w="25400">
            <a:solidFill>
              <a:srgbClr val="D97706"/>
            </a:solidFill>
            <a:prstDash val="solid"/>
            <a:headEnd type="none"/>
            <a:tailEnd type="arrow"/>
          </a:ln>
        </p:spPr>
      </p:sp>
      <p:sp>
        <p:nvSpPr>
          <p:cNvPr id="20" name="Shape 18"/>
          <p:cNvSpPr/>
          <p:nvPr/>
        </p:nvSpPr>
        <p:spPr>
          <a:xfrm>
            <a:off x="12192000" y="1587500"/>
            <a:ext cx="3302000" cy="1016000"/>
          </a:xfrm>
          <a:prstGeom prst="roundRect">
            <a:avLst>
              <a:gd name="adj" fmla="val 8000"/>
            </a:avLst>
          </a:prstGeom>
          <a:solidFill>
            <a:srgbClr val="D97706"/>
          </a:solidFill>
          <a:ln/>
        </p:spPr>
      </p:sp>
      <p:sp>
        <p:nvSpPr>
          <p:cNvPr id="21" name="Text 19"/>
          <p:cNvSpPr/>
          <p:nvPr/>
        </p:nvSpPr>
        <p:spPr>
          <a:xfrm>
            <a:off x="12382500" y="1714500"/>
            <a:ext cx="2921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1400" b="1" dirty="0">
                <a:solidFill>
                  <a:srgbClr val="F8FAF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Train-Test Split</a:t>
            </a:r>
            <a:endParaRPr lang="en-US" sz="1600" dirty="0"/>
          </a:p>
          <a:p>
            <a:pPr algn="ctr">
              <a:lnSpc>
                <a:spcPct val="140000"/>
              </a:lnSpc>
            </a:pPr>
            <a:r>
              <a:rPr lang="en-US" sz="1200" dirty="0">
                <a:solidFill>
                  <a:srgbClr val="F8FAF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80/20 stratified split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762000" y="2984500"/>
            <a:ext cx="14732000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70000"/>
              </a:lnSpc>
            </a:pPr>
            <a:r>
              <a:rPr lang="en-US" sz="1800" dirty="0">
                <a:solidFill>
                  <a:srgbClr val="D9770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■</a:t>
            </a:r>
            <a:pPr>
              <a:lnSpc>
                <a:spcPct val="170000"/>
              </a:lnSpc>
            </a:pPr>
            <a:r>
              <a:rPr lang="en-US" sz="1800" dirty="0">
                <a:solidFill>
                  <a:srgbClr val="0F172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</a:t>
            </a:r>
            <a:pPr>
              <a:lnSpc>
                <a:spcPct val="170000"/>
              </a:lnSpc>
            </a:pPr>
            <a:r>
              <a:rPr lang="en-US" sz="1800" b="1" dirty="0">
                <a:solidFill>
                  <a:srgbClr val="0F172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Data Wrangling with Pandas:</a:t>
            </a:r>
            <a:pPr>
              <a:lnSpc>
                <a:spcPct val="170000"/>
              </a:lnSpc>
            </a:pPr>
            <a:r>
              <a:rPr lang="en-US" sz="1800" dirty="0">
                <a:solidFill>
                  <a:srgbClr val="0F172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Handling missing values via median imputation for numerical features and mode imputation for categorical features; outlier detection using IQR method; type conversion to ensure consistency</a:t>
            </a:r>
            <a:endParaRPr lang="en-US" sz="1800" dirty="0"/>
          </a:p>
          <a:p>
            <a:pPr>
              <a:lnSpc>
                <a:spcPct val="170000"/>
              </a:lnSpc>
              <a:spcBef>
                <a:spcPts val="1200"/>
              </a:spcBef>
            </a:pPr>
            <a:r>
              <a:rPr lang="en-US" sz="1800" dirty="0">
                <a:solidFill>
                  <a:srgbClr val="D9770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■</a:t>
            </a:r>
            <a:pPr>
              <a:lnSpc>
                <a:spcPct val="170000"/>
              </a:lnSpc>
              <a:spcBef>
                <a:spcPts val="1200"/>
              </a:spcBef>
            </a:pPr>
            <a:r>
              <a:rPr lang="en-US" sz="1800" dirty="0">
                <a:solidFill>
                  <a:srgbClr val="0F172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</a:t>
            </a:r>
            <a:pPr>
              <a:lnSpc>
                <a:spcPct val="170000"/>
              </a:lnSpc>
              <a:spcBef>
                <a:spcPts val="1200"/>
              </a:spcBef>
            </a:pPr>
            <a:r>
              <a:rPr lang="en-US" sz="1800" b="1" dirty="0">
                <a:solidFill>
                  <a:srgbClr val="0F172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Categorical Encoding:</a:t>
            </a:r>
            <a:pPr>
              <a:lnSpc>
                <a:spcPct val="170000"/>
              </a:lnSpc>
              <a:spcBef>
                <a:spcPts val="1200"/>
              </a:spcBef>
            </a:pPr>
            <a:r>
              <a:rPr lang="en-US" sz="1800" dirty="0">
                <a:solidFill>
                  <a:srgbClr val="0F172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Label Encoding for the target career variable; One-Hot Encoding for nominal features (Interested Domains) to preserve non-ordinal relationships</a:t>
            </a:r>
            <a:endParaRPr lang="en-US" sz="1800" dirty="0"/>
          </a:p>
          <a:p>
            <a:pPr>
              <a:lnSpc>
                <a:spcPct val="170000"/>
              </a:lnSpc>
              <a:spcBef>
                <a:spcPts val="1200"/>
              </a:spcBef>
            </a:pPr>
            <a:r>
              <a:rPr lang="en-US" sz="1800" dirty="0">
                <a:solidFill>
                  <a:srgbClr val="D9770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■</a:t>
            </a:r>
            <a:pPr>
              <a:lnSpc>
                <a:spcPct val="170000"/>
              </a:lnSpc>
              <a:spcBef>
                <a:spcPts val="1200"/>
              </a:spcBef>
            </a:pPr>
            <a:r>
              <a:rPr lang="en-US" sz="1800" dirty="0">
                <a:solidFill>
                  <a:srgbClr val="0F172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</a:t>
            </a:r>
            <a:pPr>
              <a:lnSpc>
                <a:spcPct val="170000"/>
              </a:lnSpc>
              <a:spcBef>
                <a:spcPts val="1200"/>
              </a:spcBef>
            </a:pPr>
            <a:r>
              <a:rPr lang="en-US" sz="1800" b="1" dirty="0">
                <a:solidFill>
                  <a:srgbClr val="0F172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Feature Scaling:</a:t>
            </a:r>
            <a:pPr>
              <a:lnSpc>
                <a:spcPct val="170000"/>
              </a:lnSpc>
              <a:spcBef>
                <a:spcPts val="1200"/>
              </a:spcBef>
            </a:pPr>
            <a:r>
              <a:rPr lang="en-US" sz="1800" dirty="0">
                <a:solidFill>
                  <a:srgbClr val="0F172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StandardScaler applied to numerical features (GPA, skill scores) to normalize distributions with mean=0, std=1</a:t>
            </a:r>
            <a:endParaRPr lang="en-US" sz="1800" dirty="0"/>
          </a:p>
          <a:p>
            <a:pPr>
              <a:lnSpc>
                <a:spcPct val="170000"/>
              </a:lnSpc>
              <a:spcBef>
                <a:spcPts val="1200"/>
              </a:spcBef>
            </a:pPr>
            <a:r>
              <a:rPr lang="en-US" sz="1800" dirty="0">
                <a:solidFill>
                  <a:srgbClr val="D9770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■</a:t>
            </a:r>
            <a:pPr>
              <a:lnSpc>
                <a:spcPct val="170000"/>
              </a:lnSpc>
              <a:spcBef>
                <a:spcPts val="1200"/>
              </a:spcBef>
            </a:pPr>
            <a:r>
              <a:rPr lang="en-US" sz="1800" dirty="0">
                <a:solidFill>
                  <a:srgbClr val="0F172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</a:t>
            </a:r>
            <a:pPr>
              <a:lnSpc>
                <a:spcPct val="170000"/>
              </a:lnSpc>
              <a:spcBef>
                <a:spcPts val="1200"/>
              </a:spcBef>
            </a:pPr>
            <a:r>
              <a:rPr lang="en-US" sz="1800" b="1" dirty="0">
                <a:solidFill>
                  <a:srgbClr val="0F172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Train-Test Split:</a:t>
            </a:r>
            <a:pPr>
              <a:lnSpc>
                <a:spcPct val="170000"/>
              </a:lnSpc>
              <a:spcBef>
                <a:spcPts val="1200"/>
              </a:spcBef>
            </a:pPr>
            <a:r>
              <a:rPr lang="en-US" sz="1800" dirty="0">
                <a:solidFill>
                  <a:srgbClr val="0F172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80/20 stratified split to maintain class distribution across career categories in both sets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762000" y="6477000"/>
            <a:ext cx="14732000" cy="1778000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4" name="Shape 22"/>
          <p:cNvSpPr/>
          <p:nvPr/>
        </p:nvSpPr>
        <p:spPr>
          <a:xfrm>
            <a:off x="7854950" y="6921500"/>
            <a:ext cx="444500" cy="508000"/>
          </a:xfrm>
          <a:custGeom>
            <a:avLst/>
            <a:gdLst/>
            <a:ahLst/>
            <a:cxnLst/>
            <a:rect l="l" t="t" r="r" b="b"/>
            <a:pathLst>
              <a:path w="444500" h="508000">
                <a:moveTo>
                  <a:pt x="63500" y="79375"/>
                </a:moveTo>
                <a:cubicBezTo>
                  <a:pt x="54769" y="79375"/>
                  <a:pt x="47625" y="86519"/>
                  <a:pt x="47625" y="95250"/>
                </a:cubicBezTo>
                <a:lnTo>
                  <a:pt x="47625" y="412750"/>
                </a:lnTo>
                <a:cubicBezTo>
                  <a:pt x="47625" y="421481"/>
                  <a:pt x="54769" y="428625"/>
                  <a:pt x="63500" y="428625"/>
                </a:cubicBezTo>
                <a:lnTo>
                  <a:pt x="381000" y="428625"/>
                </a:lnTo>
                <a:cubicBezTo>
                  <a:pt x="389731" y="428625"/>
                  <a:pt x="396875" y="421481"/>
                  <a:pt x="396875" y="412750"/>
                </a:cubicBezTo>
                <a:lnTo>
                  <a:pt x="396875" y="95250"/>
                </a:lnTo>
                <a:cubicBezTo>
                  <a:pt x="396875" y="86519"/>
                  <a:pt x="389731" y="79375"/>
                  <a:pt x="381000" y="79375"/>
                </a:cubicBezTo>
                <a:lnTo>
                  <a:pt x="63500" y="79375"/>
                </a:lnTo>
                <a:close/>
                <a:moveTo>
                  <a:pt x="0" y="95250"/>
                </a:moveTo>
                <a:cubicBezTo>
                  <a:pt x="0" y="60226"/>
                  <a:pt x="28476" y="31750"/>
                  <a:pt x="63500" y="31750"/>
                </a:cubicBezTo>
                <a:lnTo>
                  <a:pt x="381000" y="31750"/>
                </a:lnTo>
                <a:cubicBezTo>
                  <a:pt x="416024" y="31750"/>
                  <a:pt x="444500" y="60226"/>
                  <a:pt x="444500" y="95250"/>
                </a:cubicBezTo>
                <a:lnTo>
                  <a:pt x="444500" y="412750"/>
                </a:lnTo>
                <a:cubicBezTo>
                  <a:pt x="444500" y="447774"/>
                  <a:pt x="416024" y="476250"/>
                  <a:pt x="381000" y="476250"/>
                </a:cubicBezTo>
                <a:lnTo>
                  <a:pt x="63500" y="476250"/>
                </a:lnTo>
                <a:cubicBezTo>
                  <a:pt x="28476" y="476250"/>
                  <a:pt x="0" y="447774"/>
                  <a:pt x="0" y="412750"/>
                </a:cubicBezTo>
                <a:lnTo>
                  <a:pt x="0" y="95250"/>
                </a:lnTo>
                <a:close/>
                <a:moveTo>
                  <a:pt x="127000" y="127000"/>
                </a:moveTo>
                <a:cubicBezTo>
                  <a:pt x="144523" y="127000"/>
                  <a:pt x="158750" y="141227"/>
                  <a:pt x="158750" y="158750"/>
                </a:cubicBezTo>
                <a:cubicBezTo>
                  <a:pt x="158750" y="176273"/>
                  <a:pt x="144523" y="190500"/>
                  <a:pt x="127000" y="190500"/>
                </a:cubicBezTo>
                <a:cubicBezTo>
                  <a:pt x="109477" y="190500"/>
                  <a:pt x="95250" y="176273"/>
                  <a:pt x="95250" y="158750"/>
                </a:cubicBezTo>
                <a:cubicBezTo>
                  <a:pt x="95250" y="141227"/>
                  <a:pt x="109477" y="127000"/>
                  <a:pt x="127000" y="127000"/>
                </a:cubicBezTo>
                <a:close/>
                <a:moveTo>
                  <a:pt x="261937" y="198438"/>
                </a:moveTo>
                <a:cubicBezTo>
                  <a:pt x="270371" y="198438"/>
                  <a:pt x="278209" y="202902"/>
                  <a:pt x="282476" y="210145"/>
                </a:cubicBezTo>
                <a:lnTo>
                  <a:pt x="361851" y="345083"/>
                </a:lnTo>
                <a:cubicBezTo>
                  <a:pt x="366216" y="352425"/>
                  <a:pt x="366216" y="361553"/>
                  <a:pt x="361950" y="368995"/>
                </a:cubicBezTo>
                <a:cubicBezTo>
                  <a:pt x="357684" y="376436"/>
                  <a:pt x="349845" y="381000"/>
                  <a:pt x="341313" y="381000"/>
                </a:cubicBezTo>
                <a:lnTo>
                  <a:pt x="103188" y="381000"/>
                </a:lnTo>
                <a:cubicBezTo>
                  <a:pt x="94357" y="381000"/>
                  <a:pt x="86122" y="376039"/>
                  <a:pt x="82054" y="368201"/>
                </a:cubicBezTo>
                <a:cubicBezTo>
                  <a:pt x="77986" y="360363"/>
                  <a:pt x="78581" y="350838"/>
                  <a:pt x="83641" y="343595"/>
                </a:cubicBezTo>
                <a:lnTo>
                  <a:pt x="139204" y="264220"/>
                </a:lnTo>
                <a:cubicBezTo>
                  <a:pt x="143669" y="257870"/>
                  <a:pt x="150912" y="254099"/>
                  <a:pt x="158750" y="254099"/>
                </a:cubicBezTo>
                <a:cubicBezTo>
                  <a:pt x="166588" y="254099"/>
                  <a:pt x="173831" y="257870"/>
                  <a:pt x="178296" y="264220"/>
                </a:cubicBezTo>
                <a:lnTo>
                  <a:pt x="195362" y="288627"/>
                </a:lnTo>
                <a:lnTo>
                  <a:pt x="241498" y="210245"/>
                </a:lnTo>
                <a:cubicBezTo>
                  <a:pt x="245765" y="203002"/>
                  <a:pt x="253603" y="198537"/>
                  <a:pt x="262037" y="198537"/>
                </a:cubicBezTo>
                <a:close/>
              </a:path>
            </a:pathLst>
          </a:custGeom>
          <a:solidFill>
            <a:srgbClr val="64748B"/>
          </a:solidFill>
          <a:ln/>
        </p:spPr>
      </p:sp>
      <p:sp>
        <p:nvSpPr>
          <p:cNvPr id="25" name="Text 23"/>
          <p:cNvSpPr/>
          <p:nvPr/>
        </p:nvSpPr>
        <p:spPr>
          <a:xfrm>
            <a:off x="4826000" y="7493000"/>
            <a:ext cx="6604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[Insert Diagram: Detailed Data Preprocessing Flowchart (DFD)]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14986000" y="87630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200" dirty="0">
                <a:solidFill>
                  <a:srgbClr val="64748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14</a:t>
            </a:r>
            <a:endParaRPr lang="en-US" sz="1200" dirty="0"/>
          </a:p>
        </p:txBody>
      </p:sp>
    </p:spTree>
  </p:cSld>
  <p:clrMapOvr>
    <a:masterClrMapping/>
  </p:clrMapOvr>
  <p:transition>
    <p:fade/>
    <p:spd val="med"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AFA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45720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Text 1"/>
          <p:cNvSpPr/>
          <p:nvPr/>
        </p:nvSpPr>
        <p:spPr>
          <a:xfrm>
            <a:off x="0" y="0"/>
            <a:ext cx="27051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spc="100" kern="0" dirty="0">
                <a:solidFill>
                  <a:srgbClr val="F8FAF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INTRODUCTION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2705100" y="0"/>
            <a:ext cx="27051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spc="100" kern="0" dirty="0">
                <a:solidFill>
                  <a:srgbClr val="F8FAF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LITERATURE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10200" y="0"/>
            <a:ext cx="27178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b="1" spc="100" kern="0" dirty="0">
                <a:solidFill>
                  <a:srgbClr val="D9770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METHODOLOGY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128000" y="0"/>
            <a:ext cx="27051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spc="100" kern="0" dirty="0">
                <a:solidFill>
                  <a:srgbClr val="F8FAF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XAI RESULTS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0833100" y="0"/>
            <a:ext cx="27178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spc="100" kern="0" dirty="0">
                <a:solidFill>
                  <a:srgbClr val="F8FAF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IMPLEMENTATION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3550900" y="0"/>
            <a:ext cx="27051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spc="100" kern="0" dirty="0">
                <a:solidFill>
                  <a:srgbClr val="F8FAF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DEMONSTRATION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62000" y="660400"/>
            <a:ext cx="7620000" cy="482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b="1" dirty="0">
                <a:solidFill>
                  <a:srgbClr val="1E293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Feature Engineering</a:t>
            </a:r>
            <a:endParaRPr lang="en-US" sz="2800" dirty="0"/>
          </a:p>
        </p:txBody>
      </p:sp>
      <p:sp>
        <p:nvSpPr>
          <p:cNvPr id="10" name="Shape 8"/>
          <p:cNvSpPr/>
          <p:nvPr/>
        </p:nvSpPr>
        <p:spPr>
          <a:xfrm>
            <a:off x="762000" y="1206500"/>
            <a:ext cx="762000" cy="3810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11" name="Shape 9"/>
          <p:cNvSpPr/>
          <p:nvPr/>
        </p:nvSpPr>
        <p:spPr>
          <a:xfrm>
            <a:off x="762000" y="1524000"/>
            <a:ext cx="7112000" cy="18415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62000" y="1524000"/>
            <a:ext cx="76200" cy="184150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13" name="Text 11"/>
          <p:cNvSpPr/>
          <p:nvPr/>
        </p:nvSpPr>
        <p:spPr>
          <a:xfrm>
            <a:off x="1079500" y="1625600"/>
            <a:ext cx="3175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b="1" spc="100" kern="0" dirty="0">
                <a:solidFill>
                  <a:srgbClr val="D9770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COMPOSITE FEATURE 1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079500" y="1981200"/>
            <a:ext cx="6477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programming_skill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079500" y="2413000"/>
            <a:ext cx="647700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Weighted aggregate of Python, SQL, and Java skill scores capturing overall programming capability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8382000" y="1524000"/>
            <a:ext cx="7112000" cy="17780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382000" y="1524000"/>
            <a:ext cx="76200" cy="177800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18" name="Text 16"/>
          <p:cNvSpPr/>
          <p:nvPr/>
        </p:nvSpPr>
        <p:spPr>
          <a:xfrm>
            <a:off x="8699500" y="1625600"/>
            <a:ext cx="3175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b="1" spc="100" kern="0" dirty="0">
                <a:solidFill>
                  <a:srgbClr val="D9770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COMPOSITE FEATURE 2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8699500" y="1981200"/>
            <a:ext cx="6477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academic_score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8699500" y="2413000"/>
            <a:ext cx="6477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Normalized GPA combined with coursework performance reflecting academic standing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762000" y="3619500"/>
            <a:ext cx="7112000" cy="18415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62000" y="3619500"/>
            <a:ext cx="76200" cy="184150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23" name="Text 21"/>
          <p:cNvSpPr/>
          <p:nvPr/>
        </p:nvSpPr>
        <p:spPr>
          <a:xfrm>
            <a:off x="1079500" y="3721100"/>
            <a:ext cx="3175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b="1" spc="100" kern="0" dirty="0">
                <a:solidFill>
                  <a:srgbClr val="D9770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DOMAIN VECTOR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079500" y="4076700"/>
            <a:ext cx="6477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Domain Interest Vectors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1079500" y="4508500"/>
            <a:ext cx="647700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Encoded categorical representation of student interest areas (AI, Web, Data, Security, etc.)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8382000" y="3619500"/>
            <a:ext cx="7112000" cy="18415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382000" y="3619500"/>
            <a:ext cx="76200" cy="184150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28" name="Text 26"/>
          <p:cNvSpPr/>
          <p:nvPr/>
        </p:nvSpPr>
        <p:spPr>
          <a:xfrm>
            <a:off x="8699500" y="3721100"/>
            <a:ext cx="3175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b="1" spc="100" kern="0" dirty="0">
                <a:solidFill>
                  <a:srgbClr val="D9770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FILTERING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8699500" y="4076700"/>
            <a:ext cx="6477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Correlation Analysis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8699500" y="4508500"/>
            <a:ext cx="647700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Feature correlation analysis to remove redundant predictors and reduce multicollinearity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762000" y="5461000"/>
            <a:ext cx="14732000" cy="2794000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2" name="Shape 30"/>
          <p:cNvSpPr/>
          <p:nvPr/>
        </p:nvSpPr>
        <p:spPr>
          <a:xfrm>
            <a:off x="7861300" y="6350000"/>
            <a:ext cx="533400" cy="609600"/>
          </a:xfrm>
          <a:custGeom>
            <a:avLst/>
            <a:gdLst/>
            <a:ahLst/>
            <a:cxnLst/>
            <a:rect l="l" t="t" r="r" b="b"/>
            <a:pathLst>
              <a:path w="533400" h="609600">
                <a:moveTo>
                  <a:pt x="76200" y="95250"/>
                </a:moveTo>
                <a:cubicBezTo>
                  <a:pt x="65723" y="95250"/>
                  <a:pt x="57150" y="103823"/>
                  <a:pt x="57150" y="114300"/>
                </a:cubicBezTo>
                <a:lnTo>
                  <a:pt x="57150" y="495300"/>
                </a:lnTo>
                <a:cubicBezTo>
                  <a:pt x="57150" y="505778"/>
                  <a:pt x="65723" y="514350"/>
                  <a:pt x="76200" y="514350"/>
                </a:cubicBezTo>
                <a:lnTo>
                  <a:pt x="457200" y="514350"/>
                </a:lnTo>
                <a:cubicBezTo>
                  <a:pt x="467678" y="514350"/>
                  <a:pt x="476250" y="505778"/>
                  <a:pt x="476250" y="495300"/>
                </a:cubicBezTo>
                <a:lnTo>
                  <a:pt x="476250" y="114300"/>
                </a:lnTo>
                <a:cubicBezTo>
                  <a:pt x="476250" y="103823"/>
                  <a:pt x="467678" y="95250"/>
                  <a:pt x="457200" y="95250"/>
                </a:cubicBezTo>
                <a:lnTo>
                  <a:pt x="76200" y="95250"/>
                </a:lnTo>
                <a:close/>
                <a:moveTo>
                  <a:pt x="0" y="114300"/>
                </a:moveTo>
                <a:cubicBezTo>
                  <a:pt x="0" y="72271"/>
                  <a:pt x="34171" y="38100"/>
                  <a:pt x="76200" y="38100"/>
                </a:cubicBezTo>
                <a:lnTo>
                  <a:pt x="457200" y="38100"/>
                </a:lnTo>
                <a:cubicBezTo>
                  <a:pt x="499229" y="38100"/>
                  <a:pt x="533400" y="72271"/>
                  <a:pt x="533400" y="114300"/>
                </a:cubicBezTo>
                <a:lnTo>
                  <a:pt x="533400" y="495300"/>
                </a:lnTo>
                <a:cubicBezTo>
                  <a:pt x="533400" y="537329"/>
                  <a:pt x="499229" y="571500"/>
                  <a:pt x="457200" y="571500"/>
                </a:cubicBezTo>
                <a:lnTo>
                  <a:pt x="76200" y="571500"/>
                </a:lnTo>
                <a:cubicBezTo>
                  <a:pt x="34171" y="571500"/>
                  <a:pt x="0" y="537329"/>
                  <a:pt x="0" y="495300"/>
                </a:cubicBezTo>
                <a:lnTo>
                  <a:pt x="0" y="114300"/>
                </a:lnTo>
                <a:close/>
                <a:moveTo>
                  <a:pt x="152400" y="152400"/>
                </a:moveTo>
                <a:cubicBezTo>
                  <a:pt x="173428" y="152400"/>
                  <a:pt x="190500" y="169472"/>
                  <a:pt x="190500" y="190500"/>
                </a:cubicBezTo>
                <a:cubicBezTo>
                  <a:pt x="190500" y="211528"/>
                  <a:pt x="173428" y="228600"/>
                  <a:pt x="152400" y="228600"/>
                </a:cubicBezTo>
                <a:cubicBezTo>
                  <a:pt x="131372" y="228600"/>
                  <a:pt x="114300" y="211528"/>
                  <a:pt x="114300" y="190500"/>
                </a:cubicBezTo>
                <a:cubicBezTo>
                  <a:pt x="114300" y="169472"/>
                  <a:pt x="131372" y="152400"/>
                  <a:pt x="152400" y="152400"/>
                </a:cubicBezTo>
                <a:close/>
                <a:moveTo>
                  <a:pt x="314325" y="238125"/>
                </a:moveTo>
                <a:cubicBezTo>
                  <a:pt x="324445" y="238125"/>
                  <a:pt x="333851" y="243483"/>
                  <a:pt x="338971" y="252174"/>
                </a:cubicBezTo>
                <a:lnTo>
                  <a:pt x="434221" y="414099"/>
                </a:lnTo>
                <a:cubicBezTo>
                  <a:pt x="439460" y="422910"/>
                  <a:pt x="439460" y="433864"/>
                  <a:pt x="434340" y="442793"/>
                </a:cubicBezTo>
                <a:cubicBezTo>
                  <a:pt x="429220" y="451723"/>
                  <a:pt x="419814" y="457200"/>
                  <a:pt x="409575" y="457200"/>
                </a:cubicBezTo>
                <a:lnTo>
                  <a:pt x="123825" y="457200"/>
                </a:lnTo>
                <a:cubicBezTo>
                  <a:pt x="113228" y="457200"/>
                  <a:pt x="103346" y="451247"/>
                  <a:pt x="98465" y="441841"/>
                </a:cubicBezTo>
                <a:cubicBezTo>
                  <a:pt x="93583" y="432435"/>
                  <a:pt x="94298" y="421005"/>
                  <a:pt x="100370" y="412313"/>
                </a:cubicBezTo>
                <a:lnTo>
                  <a:pt x="167045" y="317063"/>
                </a:lnTo>
                <a:cubicBezTo>
                  <a:pt x="172403" y="309443"/>
                  <a:pt x="181094" y="304919"/>
                  <a:pt x="190500" y="304919"/>
                </a:cubicBezTo>
                <a:cubicBezTo>
                  <a:pt x="199906" y="304919"/>
                  <a:pt x="208597" y="309443"/>
                  <a:pt x="213955" y="317063"/>
                </a:cubicBezTo>
                <a:lnTo>
                  <a:pt x="234434" y="346353"/>
                </a:lnTo>
                <a:lnTo>
                  <a:pt x="289798" y="252293"/>
                </a:lnTo>
                <a:cubicBezTo>
                  <a:pt x="294918" y="243602"/>
                  <a:pt x="304324" y="238244"/>
                  <a:pt x="314444" y="238244"/>
                </a:cubicBezTo>
                <a:close/>
              </a:path>
            </a:pathLst>
          </a:custGeom>
          <a:solidFill>
            <a:srgbClr val="64748B"/>
          </a:solidFill>
          <a:ln/>
        </p:spPr>
      </p:sp>
      <p:sp>
        <p:nvSpPr>
          <p:cNvPr id="33" name="Text 31"/>
          <p:cNvSpPr/>
          <p:nvPr/>
        </p:nvSpPr>
        <p:spPr>
          <a:xfrm>
            <a:off x="5080000" y="7086600"/>
            <a:ext cx="6096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[Insert Screenshot: Feature Correlation Heatmap]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14986000" y="87630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200" dirty="0">
                <a:solidFill>
                  <a:srgbClr val="64748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15</a:t>
            </a:r>
            <a:endParaRPr lang="en-US" sz="1200" dirty="0"/>
          </a:p>
        </p:txBody>
      </p:sp>
    </p:spTree>
  </p:cSld>
  <p:clrMapOvr>
    <a:masterClrMapping/>
  </p:clrMapOvr>
  <p:transition>
    <p:fade/>
    <p:spd val="med"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AFA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45720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Text 1"/>
          <p:cNvSpPr/>
          <p:nvPr/>
        </p:nvSpPr>
        <p:spPr>
          <a:xfrm>
            <a:off x="0" y="0"/>
            <a:ext cx="27051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spc="100" kern="0" dirty="0">
                <a:solidFill>
                  <a:srgbClr val="F8FAF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INTRODUCTION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2705100" y="0"/>
            <a:ext cx="27051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spc="100" kern="0" dirty="0">
                <a:solidFill>
                  <a:srgbClr val="F8FAF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LITERATURE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10200" y="0"/>
            <a:ext cx="27178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b="1" spc="100" kern="0" dirty="0">
                <a:solidFill>
                  <a:srgbClr val="D9770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METHODOLOGY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128000" y="0"/>
            <a:ext cx="27051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spc="100" kern="0" dirty="0">
                <a:solidFill>
                  <a:srgbClr val="F8FAF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XAI RESULTS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0833100" y="0"/>
            <a:ext cx="27178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spc="100" kern="0" dirty="0">
                <a:solidFill>
                  <a:srgbClr val="F8FAF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IMPLEMENTATION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3550900" y="0"/>
            <a:ext cx="27051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spc="100" kern="0" dirty="0">
                <a:solidFill>
                  <a:srgbClr val="F8FAF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DEMONSTRATION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62000" y="660400"/>
            <a:ext cx="11430000" cy="482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b="1" dirty="0">
                <a:solidFill>
                  <a:srgbClr val="1E293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Model Architecture: Decision Tree Classifier</a:t>
            </a:r>
            <a:endParaRPr lang="en-US" sz="2800" dirty="0"/>
          </a:p>
        </p:txBody>
      </p:sp>
      <p:sp>
        <p:nvSpPr>
          <p:cNvPr id="10" name="Shape 8"/>
          <p:cNvSpPr/>
          <p:nvPr/>
        </p:nvSpPr>
        <p:spPr>
          <a:xfrm>
            <a:off x="762000" y="1206500"/>
            <a:ext cx="762000" cy="3810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11" name="Text 9"/>
          <p:cNvSpPr/>
          <p:nvPr/>
        </p:nvSpPr>
        <p:spPr>
          <a:xfrm>
            <a:off x="762000" y="1460500"/>
            <a:ext cx="7366000" cy="368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70000"/>
              </a:lnSpc>
            </a:pPr>
            <a:r>
              <a:rPr lang="en-US" sz="1800" dirty="0">
                <a:solidFill>
                  <a:srgbClr val="D9770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■</a:t>
            </a:r>
            <a:pPr>
              <a:lnSpc>
                <a:spcPct val="170000"/>
              </a:lnSpc>
            </a:pPr>
            <a:r>
              <a:rPr lang="en-US" sz="1800" dirty="0">
                <a:solidFill>
                  <a:srgbClr val="0F172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Algorithm: </a:t>
            </a:r>
            <a:pPr>
              <a:lnSpc>
                <a:spcPct val="170000"/>
              </a:lnSpc>
            </a:pPr>
            <a:r>
              <a:rPr lang="en-US" sz="1800" b="1" dirty="0">
                <a:solidFill>
                  <a:srgbClr val="0F172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Scikit-Learn DecisionTreeClassifier</a:t>
            </a:r>
            <a:pPr>
              <a:lnSpc>
                <a:spcPct val="170000"/>
              </a:lnSpc>
            </a:pPr>
            <a:r>
              <a:rPr lang="en-US" sz="1800" dirty="0">
                <a:solidFill>
                  <a:srgbClr val="0F172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— inherently interpretable tree structure</a:t>
            </a:r>
            <a:endParaRPr lang="en-US" sz="1800" dirty="0"/>
          </a:p>
          <a:p>
            <a:pPr>
              <a:lnSpc>
                <a:spcPct val="170000"/>
              </a:lnSpc>
              <a:spcBef>
                <a:spcPts val="1000"/>
              </a:spcBef>
            </a:pPr>
            <a:r>
              <a:rPr lang="en-US" sz="1800" dirty="0">
                <a:solidFill>
                  <a:srgbClr val="D9770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■</a:t>
            </a:r>
            <a:pPr>
              <a:lnSpc>
                <a:spcPct val="170000"/>
              </a:lnSpc>
              <a:spcBef>
                <a:spcPts val="1000"/>
              </a:spcBef>
            </a:pPr>
            <a:r>
              <a:rPr lang="en-US" sz="1800" dirty="0">
                <a:solidFill>
                  <a:srgbClr val="0F172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Hyperparameters: Gini impurity, optimized max_depth, min_samples_split tuning</a:t>
            </a:r>
            <a:endParaRPr lang="en-US" sz="1800" dirty="0"/>
          </a:p>
          <a:p>
            <a:pPr>
              <a:lnSpc>
                <a:spcPct val="170000"/>
              </a:lnSpc>
              <a:spcBef>
                <a:spcPts val="1000"/>
              </a:spcBef>
            </a:pPr>
            <a:r>
              <a:rPr lang="en-US" sz="1800" dirty="0">
                <a:solidFill>
                  <a:srgbClr val="D9770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■</a:t>
            </a:r>
            <a:pPr>
              <a:lnSpc>
                <a:spcPct val="170000"/>
              </a:lnSpc>
              <a:spcBef>
                <a:spcPts val="1000"/>
              </a:spcBef>
            </a:pPr>
            <a:r>
              <a:rPr lang="en-US" sz="1800" dirty="0">
                <a:solidFill>
                  <a:srgbClr val="0F172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</a:t>
            </a:r>
            <a:pPr>
              <a:lnSpc>
                <a:spcPct val="170000"/>
              </a:lnSpc>
              <a:spcBef>
                <a:spcPts val="1000"/>
              </a:spcBef>
            </a:pPr>
            <a:r>
              <a:rPr lang="en-US" sz="1800" b="1" dirty="0">
                <a:solidFill>
                  <a:srgbClr val="0F172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Advantages:</a:t>
            </a:r>
            <a:pPr>
              <a:lnSpc>
                <a:spcPct val="170000"/>
              </a:lnSpc>
              <a:spcBef>
                <a:spcPts val="1000"/>
              </a:spcBef>
            </a:pPr>
            <a:r>
              <a:rPr lang="en-US" sz="1800" dirty="0">
                <a:solidFill>
                  <a:srgbClr val="0F172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White-box model, fast inference, natural feature importance extraction</a:t>
            </a:r>
            <a:endParaRPr lang="en-US" sz="1800" dirty="0"/>
          </a:p>
          <a:p>
            <a:pPr>
              <a:lnSpc>
                <a:spcPct val="170000"/>
              </a:lnSpc>
              <a:spcBef>
                <a:spcPts val="1000"/>
              </a:spcBef>
            </a:pPr>
            <a:r>
              <a:rPr lang="en-US" sz="1800" dirty="0">
                <a:solidFill>
                  <a:srgbClr val="D9770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■</a:t>
            </a:r>
            <a:pPr>
              <a:lnSpc>
                <a:spcPct val="170000"/>
              </a:lnSpc>
              <a:spcBef>
                <a:spcPts val="1000"/>
              </a:spcBef>
            </a:pPr>
            <a:r>
              <a:rPr lang="en-US" sz="1800" dirty="0">
                <a:solidFill>
                  <a:srgbClr val="0F172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Model serialized with </a:t>
            </a:r>
            <a:pPr>
              <a:lnSpc>
                <a:spcPct val="170000"/>
              </a:lnSpc>
              <a:spcBef>
                <a:spcPts val="1000"/>
              </a:spcBef>
            </a:pPr>
            <a:r>
              <a:rPr lang="en-US" sz="1800" b="1" dirty="0">
                <a:solidFill>
                  <a:srgbClr val="0F172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Joblib</a:t>
            </a:r>
            <a:pPr>
              <a:lnSpc>
                <a:spcPct val="170000"/>
              </a:lnSpc>
              <a:spcBef>
                <a:spcPts val="1000"/>
              </a:spcBef>
            </a:pPr>
            <a:r>
              <a:rPr lang="en-US" sz="1800" dirty="0">
                <a:solidFill>
                  <a:srgbClr val="0F172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for backend API integration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762000" y="5270500"/>
            <a:ext cx="7366000" cy="203200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/>
        </p:spPr>
      </p:sp>
      <p:sp>
        <p:nvSpPr>
          <p:cNvPr id="13" name="Text 11"/>
          <p:cNvSpPr/>
          <p:nvPr/>
        </p:nvSpPr>
        <p:spPr>
          <a:xfrm>
            <a:off x="1079500" y="5334000"/>
            <a:ext cx="3810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b="1" spc="100" kern="0" dirty="0">
                <a:solidFill>
                  <a:srgbClr val="D9770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WHY DECISION TREE?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079500" y="5715000"/>
            <a:ext cx="6731000" cy="146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F8FAF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Decision Trees provide a natural white-box structure where each split is human-readable. Combined with SHAP TreeExplainer, they offer the optimal balance of performance and explainability for student-facing applications.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8636000" y="1460500"/>
            <a:ext cx="6858000" cy="57785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6" name="Shape 14"/>
          <p:cNvSpPr/>
          <p:nvPr/>
        </p:nvSpPr>
        <p:spPr>
          <a:xfrm>
            <a:off x="11671300" y="3429000"/>
            <a:ext cx="533400" cy="609600"/>
          </a:xfrm>
          <a:custGeom>
            <a:avLst/>
            <a:gdLst/>
            <a:ahLst/>
            <a:cxnLst/>
            <a:rect l="l" t="t" r="r" b="b"/>
            <a:pathLst>
              <a:path w="533400" h="609600">
                <a:moveTo>
                  <a:pt x="76200" y="95250"/>
                </a:moveTo>
                <a:cubicBezTo>
                  <a:pt x="65723" y="95250"/>
                  <a:pt x="57150" y="103823"/>
                  <a:pt x="57150" y="114300"/>
                </a:cubicBezTo>
                <a:lnTo>
                  <a:pt x="57150" y="495300"/>
                </a:lnTo>
                <a:cubicBezTo>
                  <a:pt x="57150" y="505778"/>
                  <a:pt x="65723" y="514350"/>
                  <a:pt x="76200" y="514350"/>
                </a:cubicBezTo>
                <a:lnTo>
                  <a:pt x="457200" y="514350"/>
                </a:lnTo>
                <a:cubicBezTo>
                  <a:pt x="467678" y="514350"/>
                  <a:pt x="476250" y="505778"/>
                  <a:pt x="476250" y="495300"/>
                </a:cubicBezTo>
                <a:lnTo>
                  <a:pt x="476250" y="114300"/>
                </a:lnTo>
                <a:cubicBezTo>
                  <a:pt x="476250" y="103823"/>
                  <a:pt x="467678" y="95250"/>
                  <a:pt x="457200" y="95250"/>
                </a:cubicBezTo>
                <a:lnTo>
                  <a:pt x="76200" y="95250"/>
                </a:lnTo>
                <a:close/>
                <a:moveTo>
                  <a:pt x="0" y="114300"/>
                </a:moveTo>
                <a:cubicBezTo>
                  <a:pt x="0" y="72271"/>
                  <a:pt x="34171" y="38100"/>
                  <a:pt x="76200" y="38100"/>
                </a:cubicBezTo>
                <a:lnTo>
                  <a:pt x="457200" y="38100"/>
                </a:lnTo>
                <a:cubicBezTo>
                  <a:pt x="499229" y="38100"/>
                  <a:pt x="533400" y="72271"/>
                  <a:pt x="533400" y="114300"/>
                </a:cubicBezTo>
                <a:lnTo>
                  <a:pt x="533400" y="495300"/>
                </a:lnTo>
                <a:cubicBezTo>
                  <a:pt x="533400" y="537329"/>
                  <a:pt x="499229" y="571500"/>
                  <a:pt x="457200" y="571500"/>
                </a:cubicBezTo>
                <a:lnTo>
                  <a:pt x="76200" y="571500"/>
                </a:lnTo>
                <a:cubicBezTo>
                  <a:pt x="34171" y="571500"/>
                  <a:pt x="0" y="537329"/>
                  <a:pt x="0" y="495300"/>
                </a:cubicBezTo>
                <a:lnTo>
                  <a:pt x="0" y="114300"/>
                </a:lnTo>
                <a:close/>
                <a:moveTo>
                  <a:pt x="152400" y="152400"/>
                </a:moveTo>
                <a:cubicBezTo>
                  <a:pt x="173428" y="152400"/>
                  <a:pt x="190500" y="169472"/>
                  <a:pt x="190500" y="190500"/>
                </a:cubicBezTo>
                <a:cubicBezTo>
                  <a:pt x="190500" y="211528"/>
                  <a:pt x="173428" y="228600"/>
                  <a:pt x="152400" y="228600"/>
                </a:cubicBezTo>
                <a:cubicBezTo>
                  <a:pt x="131372" y="228600"/>
                  <a:pt x="114300" y="211528"/>
                  <a:pt x="114300" y="190500"/>
                </a:cubicBezTo>
                <a:cubicBezTo>
                  <a:pt x="114300" y="169472"/>
                  <a:pt x="131372" y="152400"/>
                  <a:pt x="152400" y="152400"/>
                </a:cubicBezTo>
                <a:close/>
                <a:moveTo>
                  <a:pt x="314325" y="238125"/>
                </a:moveTo>
                <a:cubicBezTo>
                  <a:pt x="324445" y="238125"/>
                  <a:pt x="333851" y="243483"/>
                  <a:pt x="338971" y="252174"/>
                </a:cubicBezTo>
                <a:lnTo>
                  <a:pt x="434221" y="414099"/>
                </a:lnTo>
                <a:cubicBezTo>
                  <a:pt x="439460" y="422910"/>
                  <a:pt x="439460" y="433864"/>
                  <a:pt x="434340" y="442793"/>
                </a:cubicBezTo>
                <a:cubicBezTo>
                  <a:pt x="429220" y="451723"/>
                  <a:pt x="419814" y="457200"/>
                  <a:pt x="409575" y="457200"/>
                </a:cubicBezTo>
                <a:lnTo>
                  <a:pt x="123825" y="457200"/>
                </a:lnTo>
                <a:cubicBezTo>
                  <a:pt x="113228" y="457200"/>
                  <a:pt x="103346" y="451247"/>
                  <a:pt x="98465" y="441841"/>
                </a:cubicBezTo>
                <a:cubicBezTo>
                  <a:pt x="93583" y="432435"/>
                  <a:pt x="94298" y="421005"/>
                  <a:pt x="100370" y="412313"/>
                </a:cubicBezTo>
                <a:lnTo>
                  <a:pt x="167045" y="317063"/>
                </a:lnTo>
                <a:cubicBezTo>
                  <a:pt x="172403" y="309443"/>
                  <a:pt x="181094" y="304919"/>
                  <a:pt x="190500" y="304919"/>
                </a:cubicBezTo>
                <a:cubicBezTo>
                  <a:pt x="199906" y="304919"/>
                  <a:pt x="208597" y="309443"/>
                  <a:pt x="213955" y="317063"/>
                </a:cubicBezTo>
                <a:lnTo>
                  <a:pt x="234434" y="346353"/>
                </a:lnTo>
                <a:lnTo>
                  <a:pt x="289798" y="252293"/>
                </a:lnTo>
                <a:cubicBezTo>
                  <a:pt x="294918" y="243602"/>
                  <a:pt x="304324" y="238244"/>
                  <a:pt x="314444" y="238244"/>
                </a:cubicBezTo>
                <a:close/>
              </a:path>
            </a:pathLst>
          </a:custGeom>
          <a:solidFill>
            <a:srgbClr val="64748B"/>
          </a:solidFill>
          <a:ln/>
        </p:spPr>
      </p:sp>
      <p:sp>
        <p:nvSpPr>
          <p:cNvPr id="17" name="Text 15"/>
          <p:cNvSpPr/>
          <p:nvPr/>
        </p:nvSpPr>
        <p:spPr>
          <a:xfrm>
            <a:off x="9144000" y="4191000"/>
            <a:ext cx="5842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50000"/>
              </a:lnSpc>
            </a:pPr>
            <a:r>
              <a:rPr lang="en-US" sz="14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[Insert Diagram: Decision Tree Structure /</a:t>
            </a:r>
            <a:endParaRPr lang="en-US" sz="1600" dirty="0"/>
          </a:p>
          <a:p>
            <a:pPr algn="ctr">
              <a:lnSpc>
                <a:spcPct val="150000"/>
              </a:lnSpc>
            </a:pPr>
            <a:r>
              <a:rPr lang="en-US" sz="14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Model Pipeline Architecture]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4986000" y="87630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200" dirty="0">
                <a:solidFill>
                  <a:srgbClr val="64748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16</a:t>
            </a:r>
            <a:endParaRPr lang="en-US" sz="1200" dirty="0"/>
          </a:p>
        </p:txBody>
      </p:sp>
    </p:spTree>
  </p:cSld>
  <p:clrMapOvr>
    <a:masterClrMapping/>
  </p:clrMapOvr>
  <p:transition>
    <p:fade/>
    <p:spd val="med"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AFA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45720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Text 1"/>
          <p:cNvSpPr/>
          <p:nvPr/>
        </p:nvSpPr>
        <p:spPr>
          <a:xfrm>
            <a:off x="0" y="0"/>
            <a:ext cx="27051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spc="100" kern="0" dirty="0">
                <a:solidFill>
                  <a:srgbClr val="F8FAF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INTRODUCTION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2705100" y="0"/>
            <a:ext cx="27051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spc="100" kern="0" dirty="0">
                <a:solidFill>
                  <a:srgbClr val="F8FAF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LITERATURE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10200" y="0"/>
            <a:ext cx="27178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b="1" spc="100" kern="0" dirty="0">
                <a:solidFill>
                  <a:srgbClr val="D9770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METHODOLOGY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128000" y="0"/>
            <a:ext cx="27051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spc="100" kern="0" dirty="0">
                <a:solidFill>
                  <a:srgbClr val="F8FAF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XAI RESULTS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0833100" y="0"/>
            <a:ext cx="27178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spc="100" kern="0" dirty="0">
                <a:solidFill>
                  <a:srgbClr val="F8FAF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IMPLEMENTATION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3550900" y="0"/>
            <a:ext cx="27051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spc="100" kern="0" dirty="0">
                <a:solidFill>
                  <a:srgbClr val="F8FAF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DEMONSTRATION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62000" y="660400"/>
            <a:ext cx="8890000" cy="482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b="1" dirty="0">
                <a:solidFill>
                  <a:srgbClr val="1E293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Model Training &amp; Validation</a:t>
            </a:r>
            <a:endParaRPr lang="en-US" sz="2800" dirty="0"/>
          </a:p>
        </p:txBody>
      </p:sp>
      <p:sp>
        <p:nvSpPr>
          <p:cNvPr id="10" name="Shape 8"/>
          <p:cNvSpPr/>
          <p:nvPr/>
        </p:nvSpPr>
        <p:spPr>
          <a:xfrm>
            <a:off x="762000" y="1206500"/>
            <a:ext cx="762000" cy="3810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11" name="Text 9"/>
          <p:cNvSpPr/>
          <p:nvPr/>
        </p:nvSpPr>
        <p:spPr>
          <a:xfrm>
            <a:off x="762000" y="1460500"/>
            <a:ext cx="7366000" cy="292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70000"/>
              </a:lnSpc>
            </a:pPr>
            <a:r>
              <a:rPr lang="en-US" sz="1800" dirty="0">
                <a:solidFill>
                  <a:srgbClr val="D9770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■</a:t>
            </a:r>
            <a:pPr>
              <a:lnSpc>
                <a:spcPct val="170000"/>
              </a:lnSpc>
            </a:pPr>
            <a:r>
              <a:rPr lang="en-US" sz="1800" dirty="0">
                <a:solidFill>
                  <a:srgbClr val="0F172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</a:t>
            </a:r>
            <a:pPr>
              <a:lnSpc>
                <a:spcPct val="170000"/>
              </a:lnSpc>
            </a:pPr>
            <a:r>
              <a:rPr lang="en-US" sz="1800" b="1" dirty="0">
                <a:solidFill>
                  <a:srgbClr val="0F172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Cross-validation:</a:t>
            </a:r>
            <a:pPr>
              <a:lnSpc>
                <a:spcPct val="170000"/>
              </a:lnSpc>
            </a:pPr>
            <a:r>
              <a:rPr lang="en-US" sz="1800" dirty="0">
                <a:solidFill>
                  <a:srgbClr val="0F172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5-fold stratified CV for robust performance estimation</a:t>
            </a:r>
            <a:endParaRPr lang="en-US" sz="1800" dirty="0"/>
          </a:p>
          <a:p>
            <a:pPr>
              <a:lnSpc>
                <a:spcPct val="170000"/>
              </a:lnSpc>
              <a:spcBef>
                <a:spcPts val="1000"/>
              </a:spcBef>
            </a:pPr>
            <a:r>
              <a:rPr lang="en-US" sz="1800" dirty="0">
                <a:solidFill>
                  <a:srgbClr val="D9770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■</a:t>
            </a:r>
            <a:pPr>
              <a:lnSpc>
                <a:spcPct val="170000"/>
              </a:lnSpc>
              <a:spcBef>
                <a:spcPts val="1000"/>
              </a:spcBef>
            </a:pPr>
            <a:r>
              <a:rPr lang="en-US" sz="1800" dirty="0">
                <a:solidFill>
                  <a:srgbClr val="0F172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</a:t>
            </a:r>
            <a:pPr>
              <a:lnSpc>
                <a:spcPct val="170000"/>
              </a:lnSpc>
              <a:spcBef>
                <a:spcPts val="1000"/>
              </a:spcBef>
            </a:pPr>
            <a:r>
              <a:rPr lang="en-US" sz="1800" b="1" dirty="0">
                <a:solidFill>
                  <a:srgbClr val="0F172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Grid search</a:t>
            </a:r>
            <a:pPr>
              <a:lnSpc>
                <a:spcPct val="170000"/>
              </a:lnSpc>
              <a:spcBef>
                <a:spcPts val="1000"/>
              </a:spcBef>
            </a:pPr>
            <a:r>
              <a:rPr lang="en-US" sz="1800" dirty="0">
                <a:solidFill>
                  <a:srgbClr val="0F172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hyperparameter optimization over max_depth, min_samples_leaf, criterion</a:t>
            </a:r>
            <a:endParaRPr lang="en-US" sz="1800" dirty="0"/>
          </a:p>
          <a:p>
            <a:pPr>
              <a:lnSpc>
                <a:spcPct val="170000"/>
              </a:lnSpc>
              <a:spcBef>
                <a:spcPts val="1000"/>
              </a:spcBef>
            </a:pPr>
            <a:r>
              <a:rPr lang="en-US" sz="1800" dirty="0">
                <a:solidFill>
                  <a:srgbClr val="D9770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■</a:t>
            </a:r>
            <a:pPr>
              <a:lnSpc>
                <a:spcPct val="170000"/>
              </a:lnSpc>
              <a:spcBef>
                <a:spcPts val="1000"/>
              </a:spcBef>
            </a:pPr>
            <a:r>
              <a:rPr lang="en-US" sz="1800" dirty="0">
                <a:solidFill>
                  <a:srgbClr val="0F172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Best model selected based on </a:t>
            </a:r>
            <a:pPr>
              <a:lnSpc>
                <a:spcPct val="170000"/>
              </a:lnSpc>
              <a:spcBef>
                <a:spcPts val="1000"/>
              </a:spcBef>
            </a:pPr>
            <a:r>
              <a:rPr lang="en-US" sz="1800" b="1" dirty="0">
                <a:solidFill>
                  <a:srgbClr val="0F172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weighted F1-score</a:t>
            </a:r>
            <a:pPr>
              <a:lnSpc>
                <a:spcPct val="170000"/>
              </a:lnSpc>
              <a:spcBef>
                <a:spcPts val="1000"/>
              </a:spcBef>
            </a:pPr>
            <a:r>
              <a:rPr lang="en-US" sz="1800" dirty="0">
                <a:solidFill>
                  <a:srgbClr val="0F172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across career classes</a:t>
            </a:r>
            <a:endParaRPr lang="en-US" sz="1800" dirty="0"/>
          </a:p>
          <a:p>
            <a:pPr>
              <a:lnSpc>
                <a:spcPct val="170000"/>
              </a:lnSpc>
              <a:spcBef>
                <a:spcPts val="1000"/>
              </a:spcBef>
            </a:pPr>
            <a:r>
              <a:rPr lang="en-US" sz="1800" dirty="0">
                <a:solidFill>
                  <a:srgbClr val="D9770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■</a:t>
            </a:r>
            <a:pPr>
              <a:lnSpc>
                <a:spcPct val="170000"/>
              </a:lnSpc>
              <a:spcBef>
                <a:spcPts val="1000"/>
              </a:spcBef>
            </a:pPr>
            <a:r>
              <a:rPr lang="en-US" sz="1800" dirty="0">
                <a:solidFill>
                  <a:srgbClr val="0F172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Final model exported via </a:t>
            </a:r>
            <a:pPr>
              <a:lnSpc>
                <a:spcPct val="170000"/>
              </a:lnSpc>
              <a:spcBef>
                <a:spcPts val="1000"/>
              </a:spcBef>
            </a:pPr>
            <a:r>
              <a:rPr lang="en-US" sz="1800" b="1" dirty="0">
                <a:solidFill>
                  <a:srgbClr val="0F172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Joblib</a:t>
            </a:r>
            <a:pPr>
              <a:lnSpc>
                <a:spcPct val="170000"/>
              </a:lnSpc>
              <a:spcBef>
                <a:spcPts val="1000"/>
              </a:spcBef>
            </a:pPr>
            <a:r>
              <a:rPr lang="en-US" sz="1800" dirty="0">
                <a:solidFill>
                  <a:srgbClr val="0F172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for production deployment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762000" y="4699000"/>
            <a:ext cx="7366000" cy="16510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79500" y="4826000"/>
            <a:ext cx="3810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b="1" spc="100" kern="0" dirty="0">
                <a:solidFill>
                  <a:srgbClr val="D9770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BEST HYPERPARAMETERS</a:t>
            </a:r>
            <a:endParaRPr lang="en-US" sz="16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079500" y="5232400"/>
          <a:ext cx="6731000" cy="952500"/>
        </p:xfrm>
        <a:graphic>
          <a:graphicData uri="http://schemas.openxmlformats.org/drawingml/2006/table">
            <a:tbl>
              <a:tblPr/>
              <a:tblGrid>
                <a:gridCol w="2692400"/>
                <a:gridCol w="2019300"/>
                <a:gridCol w="2019300"/>
              </a:tblGrid>
              <a:tr h="476250"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F8FAF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Parameter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F8FAF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Searched Range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F8FAF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Best Value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476250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0F172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max_depth, criterion, min_samples_leaf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0F172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[3-20], [gini, entropy], [1-10]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D97706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[Optimized]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5" name="Shape 12"/>
          <p:cNvSpPr/>
          <p:nvPr/>
        </p:nvSpPr>
        <p:spPr>
          <a:xfrm>
            <a:off x="8636000" y="1460500"/>
            <a:ext cx="6858000" cy="48895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6" name="Shape 13"/>
          <p:cNvSpPr/>
          <p:nvPr/>
        </p:nvSpPr>
        <p:spPr>
          <a:xfrm>
            <a:off x="11671300" y="3429000"/>
            <a:ext cx="533400" cy="609600"/>
          </a:xfrm>
          <a:custGeom>
            <a:avLst/>
            <a:gdLst/>
            <a:ahLst/>
            <a:cxnLst/>
            <a:rect l="l" t="t" r="r" b="b"/>
            <a:pathLst>
              <a:path w="533400" h="609600">
                <a:moveTo>
                  <a:pt x="76200" y="95250"/>
                </a:moveTo>
                <a:cubicBezTo>
                  <a:pt x="65723" y="95250"/>
                  <a:pt x="57150" y="103823"/>
                  <a:pt x="57150" y="114300"/>
                </a:cubicBezTo>
                <a:lnTo>
                  <a:pt x="57150" y="495300"/>
                </a:lnTo>
                <a:cubicBezTo>
                  <a:pt x="57150" y="505778"/>
                  <a:pt x="65723" y="514350"/>
                  <a:pt x="76200" y="514350"/>
                </a:cubicBezTo>
                <a:lnTo>
                  <a:pt x="457200" y="514350"/>
                </a:lnTo>
                <a:cubicBezTo>
                  <a:pt x="467678" y="514350"/>
                  <a:pt x="476250" y="505778"/>
                  <a:pt x="476250" y="495300"/>
                </a:cubicBezTo>
                <a:lnTo>
                  <a:pt x="476250" y="114300"/>
                </a:lnTo>
                <a:cubicBezTo>
                  <a:pt x="476250" y="103823"/>
                  <a:pt x="467678" y="95250"/>
                  <a:pt x="457200" y="95250"/>
                </a:cubicBezTo>
                <a:lnTo>
                  <a:pt x="76200" y="95250"/>
                </a:lnTo>
                <a:close/>
                <a:moveTo>
                  <a:pt x="0" y="114300"/>
                </a:moveTo>
                <a:cubicBezTo>
                  <a:pt x="0" y="72271"/>
                  <a:pt x="34171" y="38100"/>
                  <a:pt x="76200" y="38100"/>
                </a:cubicBezTo>
                <a:lnTo>
                  <a:pt x="457200" y="38100"/>
                </a:lnTo>
                <a:cubicBezTo>
                  <a:pt x="499229" y="38100"/>
                  <a:pt x="533400" y="72271"/>
                  <a:pt x="533400" y="114300"/>
                </a:cubicBezTo>
                <a:lnTo>
                  <a:pt x="533400" y="495300"/>
                </a:lnTo>
                <a:cubicBezTo>
                  <a:pt x="533400" y="537329"/>
                  <a:pt x="499229" y="571500"/>
                  <a:pt x="457200" y="571500"/>
                </a:cubicBezTo>
                <a:lnTo>
                  <a:pt x="76200" y="571500"/>
                </a:lnTo>
                <a:cubicBezTo>
                  <a:pt x="34171" y="571500"/>
                  <a:pt x="0" y="537329"/>
                  <a:pt x="0" y="495300"/>
                </a:cubicBezTo>
                <a:lnTo>
                  <a:pt x="0" y="114300"/>
                </a:lnTo>
                <a:close/>
                <a:moveTo>
                  <a:pt x="152400" y="152400"/>
                </a:moveTo>
                <a:cubicBezTo>
                  <a:pt x="173428" y="152400"/>
                  <a:pt x="190500" y="169472"/>
                  <a:pt x="190500" y="190500"/>
                </a:cubicBezTo>
                <a:cubicBezTo>
                  <a:pt x="190500" y="211528"/>
                  <a:pt x="173428" y="228600"/>
                  <a:pt x="152400" y="228600"/>
                </a:cubicBezTo>
                <a:cubicBezTo>
                  <a:pt x="131372" y="228600"/>
                  <a:pt x="114300" y="211528"/>
                  <a:pt x="114300" y="190500"/>
                </a:cubicBezTo>
                <a:cubicBezTo>
                  <a:pt x="114300" y="169472"/>
                  <a:pt x="131372" y="152400"/>
                  <a:pt x="152400" y="152400"/>
                </a:cubicBezTo>
                <a:close/>
                <a:moveTo>
                  <a:pt x="314325" y="238125"/>
                </a:moveTo>
                <a:cubicBezTo>
                  <a:pt x="324445" y="238125"/>
                  <a:pt x="333851" y="243483"/>
                  <a:pt x="338971" y="252174"/>
                </a:cubicBezTo>
                <a:lnTo>
                  <a:pt x="434221" y="414099"/>
                </a:lnTo>
                <a:cubicBezTo>
                  <a:pt x="439460" y="422910"/>
                  <a:pt x="439460" y="433864"/>
                  <a:pt x="434340" y="442793"/>
                </a:cubicBezTo>
                <a:cubicBezTo>
                  <a:pt x="429220" y="451723"/>
                  <a:pt x="419814" y="457200"/>
                  <a:pt x="409575" y="457200"/>
                </a:cubicBezTo>
                <a:lnTo>
                  <a:pt x="123825" y="457200"/>
                </a:lnTo>
                <a:cubicBezTo>
                  <a:pt x="113228" y="457200"/>
                  <a:pt x="103346" y="451247"/>
                  <a:pt x="98465" y="441841"/>
                </a:cubicBezTo>
                <a:cubicBezTo>
                  <a:pt x="93583" y="432435"/>
                  <a:pt x="94298" y="421005"/>
                  <a:pt x="100370" y="412313"/>
                </a:cubicBezTo>
                <a:lnTo>
                  <a:pt x="167045" y="317063"/>
                </a:lnTo>
                <a:cubicBezTo>
                  <a:pt x="172403" y="309443"/>
                  <a:pt x="181094" y="304919"/>
                  <a:pt x="190500" y="304919"/>
                </a:cubicBezTo>
                <a:cubicBezTo>
                  <a:pt x="199906" y="304919"/>
                  <a:pt x="208597" y="309443"/>
                  <a:pt x="213955" y="317063"/>
                </a:cubicBezTo>
                <a:lnTo>
                  <a:pt x="234434" y="346353"/>
                </a:lnTo>
                <a:lnTo>
                  <a:pt x="289798" y="252293"/>
                </a:lnTo>
                <a:cubicBezTo>
                  <a:pt x="294918" y="243602"/>
                  <a:pt x="304324" y="238244"/>
                  <a:pt x="314444" y="238244"/>
                </a:cubicBezTo>
                <a:close/>
              </a:path>
            </a:pathLst>
          </a:custGeom>
          <a:solidFill>
            <a:srgbClr val="64748B"/>
          </a:solidFill>
          <a:ln/>
        </p:spPr>
      </p:sp>
      <p:sp>
        <p:nvSpPr>
          <p:cNvPr id="17" name="Text 14"/>
          <p:cNvSpPr/>
          <p:nvPr/>
        </p:nvSpPr>
        <p:spPr>
          <a:xfrm>
            <a:off x="8890000" y="4191000"/>
            <a:ext cx="6350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50000"/>
              </a:lnSpc>
            </a:pPr>
            <a:r>
              <a:rPr lang="en-US" sz="14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[Insert Screenshot: Hyperparameter Tuning Results</a:t>
            </a:r>
            <a:endParaRPr lang="en-US" sz="1600" dirty="0"/>
          </a:p>
          <a:p>
            <a:pPr algn="ctr">
              <a:lnSpc>
                <a:spcPct val="150000"/>
              </a:lnSpc>
            </a:pPr>
            <a:r>
              <a:rPr lang="en-US" sz="14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/ CV Scores Table]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14986000" y="87630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200" dirty="0">
                <a:solidFill>
                  <a:srgbClr val="64748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17</a:t>
            </a:r>
            <a:endParaRPr lang="en-US" sz="1200" dirty="0"/>
          </a:p>
        </p:txBody>
      </p:sp>
    </p:spTree>
  </p:cSld>
  <p:clrMapOvr>
    <a:masterClrMapping/>
  </p:clrMapOvr>
  <p:transition>
    <p:fade/>
    <p:spd val="med"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2286000"/>
            <a:ext cx="2540000" cy="1143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7200" b="1" dirty="0">
                <a:solidFill>
                  <a:srgbClr val="D9770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04</a:t>
            </a:r>
            <a:endParaRPr lang="en-US" sz="1600" dirty="0"/>
          </a:p>
        </p:txBody>
      </p:sp>
      <p:sp>
        <p:nvSpPr>
          <p:cNvPr id="3" name="Shape 1"/>
          <p:cNvSpPr/>
          <p:nvPr/>
        </p:nvSpPr>
        <p:spPr>
          <a:xfrm>
            <a:off x="762000" y="3619500"/>
            <a:ext cx="1270000" cy="3810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4" name="Text 2"/>
          <p:cNvSpPr/>
          <p:nvPr/>
        </p:nvSpPr>
        <p:spPr>
          <a:xfrm>
            <a:off x="762000" y="3873500"/>
            <a:ext cx="889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600" b="1" spc="200" kern="0" dirty="0">
                <a:solidFill>
                  <a:srgbClr val="F8FAF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XAI ANALYSIS &amp; RESULTS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62000" y="4699000"/>
            <a:ext cx="889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Model evaluation, SHAP interpretation, and explainability insights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AFA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45720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Text 1"/>
          <p:cNvSpPr/>
          <p:nvPr/>
        </p:nvSpPr>
        <p:spPr>
          <a:xfrm>
            <a:off x="0" y="0"/>
            <a:ext cx="27051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spc="100" kern="0" dirty="0">
                <a:solidFill>
                  <a:srgbClr val="F8FAF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INTRODUCTION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2705100" y="0"/>
            <a:ext cx="27051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spc="100" kern="0" dirty="0">
                <a:solidFill>
                  <a:srgbClr val="F8FAF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LITERATURE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10200" y="0"/>
            <a:ext cx="27178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spc="100" kern="0" dirty="0">
                <a:solidFill>
                  <a:srgbClr val="F8FAF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METHODOLOGY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128000" y="0"/>
            <a:ext cx="27051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b="1" spc="100" kern="0" dirty="0">
                <a:solidFill>
                  <a:srgbClr val="D9770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XAI RESULTS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0833100" y="0"/>
            <a:ext cx="27178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spc="100" kern="0" dirty="0">
                <a:solidFill>
                  <a:srgbClr val="F8FAF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IMPLEMENTATION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3550900" y="0"/>
            <a:ext cx="27051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spc="100" kern="0" dirty="0">
                <a:solidFill>
                  <a:srgbClr val="F8FAF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DEMONSTRATION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62000" y="660400"/>
            <a:ext cx="11430000" cy="482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b="1" dirty="0">
                <a:solidFill>
                  <a:srgbClr val="1E293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Model Evaluation: Accuracy &amp; Performance Metrics</a:t>
            </a:r>
            <a:endParaRPr lang="en-US" sz="2800" dirty="0"/>
          </a:p>
        </p:txBody>
      </p:sp>
      <p:sp>
        <p:nvSpPr>
          <p:cNvPr id="10" name="Shape 8"/>
          <p:cNvSpPr/>
          <p:nvPr/>
        </p:nvSpPr>
        <p:spPr>
          <a:xfrm>
            <a:off x="762000" y="1206500"/>
            <a:ext cx="762000" cy="3810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11" name="Shape 9"/>
          <p:cNvSpPr/>
          <p:nvPr/>
        </p:nvSpPr>
        <p:spPr>
          <a:xfrm>
            <a:off x="762000" y="1460500"/>
            <a:ext cx="14732000" cy="101600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/>
        </p:spPr>
      </p:sp>
      <p:sp>
        <p:nvSpPr>
          <p:cNvPr id="12" name="Text 10"/>
          <p:cNvSpPr/>
          <p:nvPr/>
        </p:nvSpPr>
        <p:spPr>
          <a:xfrm>
            <a:off x="1016000" y="1549400"/>
            <a:ext cx="254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spc="100" kern="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OVERALL ACCURACY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016000" y="1841500"/>
            <a:ext cx="254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3200" b="1" dirty="0">
                <a:solidFill>
                  <a:srgbClr val="D9770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[XX]%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3810000" y="1651000"/>
            <a:ext cx="12700" cy="635000"/>
          </a:xfrm>
          <a:prstGeom prst="rect">
            <a:avLst/>
          </a:prstGeom>
          <a:solidFill>
            <a:srgbClr val="64748B">
              <a:alpha val="25098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4064000" y="1549400"/>
            <a:ext cx="254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spc="100" kern="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WEIGHTED F1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4064000" y="1841500"/>
            <a:ext cx="254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3200" b="1" dirty="0">
                <a:solidFill>
                  <a:srgbClr val="F8FAF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[XX]%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6858000" y="1651000"/>
            <a:ext cx="12700" cy="635000"/>
          </a:xfrm>
          <a:prstGeom prst="rect">
            <a:avLst/>
          </a:prstGeom>
          <a:solidFill>
            <a:srgbClr val="64748B">
              <a:alpha val="25098"/>
            </a:srgbClr>
          </a:solidFill>
          <a:ln/>
        </p:spPr>
      </p:sp>
      <p:sp>
        <p:nvSpPr>
          <p:cNvPr id="18" name="Text 16"/>
          <p:cNvSpPr/>
          <p:nvPr/>
        </p:nvSpPr>
        <p:spPr>
          <a:xfrm>
            <a:off x="7112000" y="1549400"/>
            <a:ext cx="254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spc="100" kern="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MACRO PRECISION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7112000" y="1841500"/>
            <a:ext cx="254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3200" b="1" dirty="0">
                <a:solidFill>
                  <a:srgbClr val="F8FAF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[XX]%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9906000" y="1651000"/>
            <a:ext cx="12700" cy="635000"/>
          </a:xfrm>
          <a:prstGeom prst="rect">
            <a:avLst/>
          </a:prstGeom>
          <a:solidFill>
            <a:srgbClr val="64748B">
              <a:alpha val="25098"/>
            </a:srgbClr>
          </a:solidFill>
          <a:ln/>
        </p:spPr>
      </p:sp>
      <p:sp>
        <p:nvSpPr>
          <p:cNvPr id="21" name="Text 19"/>
          <p:cNvSpPr/>
          <p:nvPr/>
        </p:nvSpPr>
        <p:spPr>
          <a:xfrm>
            <a:off x="10160000" y="1549400"/>
            <a:ext cx="254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spc="100" kern="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MACRO RECALL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0160000" y="1841500"/>
            <a:ext cx="254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3200" b="1" dirty="0">
                <a:solidFill>
                  <a:srgbClr val="F8FAF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[XX]%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12954000" y="1651000"/>
            <a:ext cx="12700" cy="635000"/>
          </a:xfrm>
          <a:prstGeom prst="rect">
            <a:avLst/>
          </a:prstGeom>
          <a:solidFill>
            <a:srgbClr val="64748B">
              <a:alpha val="25098"/>
            </a:srgbClr>
          </a:solidFill>
          <a:ln/>
        </p:spPr>
      </p:sp>
      <p:sp>
        <p:nvSpPr>
          <p:cNvPr id="24" name="Text 22"/>
          <p:cNvSpPr/>
          <p:nvPr/>
        </p:nvSpPr>
        <p:spPr>
          <a:xfrm>
            <a:off x="13208000" y="1549400"/>
            <a:ext cx="203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spc="100" kern="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CV FOLDS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13208000" y="1841500"/>
            <a:ext cx="2032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3200" b="1" dirty="0">
                <a:solidFill>
                  <a:srgbClr val="F8FAF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5</a:t>
            </a:r>
            <a:endParaRPr lang="en-US" sz="160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62000" y="2794000"/>
          <a:ext cx="7112000" cy="2921000"/>
        </p:xfrm>
        <a:graphic>
          <a:graphicData uri="http://schemas.openxmlformats.org/drawingml/2006/table">
            <a:tbl>
              <a:tblPr/>
              <a:tblGrid>
                <a:gridCol w="2489200"/>
                <a:gridCol w="1564640"/>
                <a:gridCol w="1564640"/>
                <a:gridCol w="1493520"/>
              </a:tblGrid>
              <a:tr h="522974"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F8FAF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Model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F8FAF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Accuracy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F8FAF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F1-Score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F8FAF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Explainable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599507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0F172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Logistic Regression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0F172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[XX]%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0F172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[XX]%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0F172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Limited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99507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0F172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SVM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0F172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[XX]%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0F172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[XX]%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0F172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No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599507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0F172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Random Forest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0F172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[XX]%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0F172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[XX]%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0F172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Partial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99507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0F172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Decision Tree (Ours)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D97706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[XX]%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D97706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[XX]%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D97706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Full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27" name="Text 24"/>
          <p:cNvSpPr/>
          <p:nvPr/>
        </p:nvSpPr>
        <p:spPr>
          <a:xfrm>
            <a:off x="762000" y="5778500"/>
            <a:ext cx="508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64748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Table 3: Baseline Model Comparison</a:t>
            </a:r>
            <a:endParaRPr lang="en-US" sz="1200" dirty="0"/>
          </a:p>
        </p:txBody>
      </p:sp>
      <p:sp>
        <p:nvSpPr>
          <p:cNvPr id="28" name="Shape 25"/>
          <p:cNvSpPr/>
          <p:nvPr/>
        </p:nvSpPr>
        <p:spPr>
          <a:xfrm>
            <a:off x="8382000" y="2794000"/>
            <a:ext cx="7112000" cy="32385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9" name="Shape 26"/>
          <p:cNvSpPr/>
          <p:nvPr/>
        </p:nvSpPr>
        <p:spPr>
          <a:xfrm>
            <a:off x="11671300" y="3937000"/>
            <a:ext cx="533400" cy="609600"/>
          </a:xfrm>
          <a:custGeom>
            <a:avLst/>
            <a:gdLst/>
            <a:ahLst/>
            <a:cxnLst/>
            <a:rect l="l" t="t" r="r" b="b"/>
            <a:pathLst>
              <a:path w="533400" h="609600">
                <a:moveTo>
                  <a:pt x="76200" y="95250"/>
                </a:moveTo>
                <a:cubicBezTo>
                  <a:pt x="65723" y="95250"/>
                  <a:pt x="57150" y="103823"/>
                  <a:pt x="57150" y="114300"/>
                </a:cubicBezTo>
                <a:lnTo>
                  <a:pt x="57150" y="495300"/>
                </a:lnTo>
                <a:cubicBezTo>
                  <a:pt x="57150" y="505778"/>
                  <a:pt x="65723" y="514350"/>
                  <a:pt x="76200" y="514350"/>
                </a:cubicBezTo>
                <a:lnTo>
                  <a:pt x="457200" y="514350"/>
                </a:lnTo>
                <a:cubicBezTo>
                  <a:pt x="467678" y="514350"/>
                  <a:pt x="476250" y="505778"/>
                  <a:pt x="476250" y="495300"/>
                </a:cubicBezTo>
                <a:lnTo>
                  <a:pt x="476250" y="114300"/>
                </a:lnTo>
                <a:cubicBezTo>
                  <a:pt x="476250" y="103823"/>
                  <a:pt x="467678" y="95250"/>
                  <a:pt x="457200" y="95250"/>
                </a:cubicBezTo>
                <a:lnTo>
                  <a:pt x="76200" y="95250"/>
                </a:lnTo>
                <a:close/>
                <a:moveTo>
                  <a:pt x="0" y="114300"/>
                </a:moveTo>
                <a:cubicBezTo>
                  <a:pt x="0" y="72271"/>
                  <a:pt x="34171" y="38100"/>
                  <a:pt x="76200" y="38100"/>
                </a:cubicBezTo>
                <a:lnTo>
                  <a:pt x="457200" y="38100"/>
                </a:lnTo>
                <a:cubicBezTo>
                  <a:pt x="499229" y="38100"/>
                  <a:pt x="533400" y="72271"/>
                  <a:pt x="533400" y="114300"/>
                </a:cubicBezTo>
                <a:lnTo>
                  <a:pt x="533400" y="495300"/>
                </a:lnTo>
                <a:cubicBezTo>
                  <a:pt x="533400" y="537329"/>
                  <a:pt x="499229" y="571500"/>
                  <a:pt x="457200" y="571500"/>
                </a:cubicBezTo>
                <a:lnTo>
                  <a:pt x="76200" y="571500"/>
                </a:lnTo>
                <a:cubicBezTo>
                  <a:pt x="34171" y="571500"/>
                  <a:pt x="0" y="537329"/>
                  <a:pt x="0" y="495300"/>
                </a:cubicBezTo>
                <a:lnTo>
                  <a:pt x="0" y="114300"/>
                </a:lnTo>
                <a:close/>
                <a:moveTo>
                  <a:pt x="152400" y="152400"/>
                </a:moveTo>
                <a:cubicBezTo>
                  <a:pt x="173428" y="152400"/>
                  <a:pt x="190500" y="169472"/>
                  <a:pt x="190500" y="190500"/>
                </a:cubicBezTo>
                <a:cubicBezTo>
                  <a:pt x="190500" y="211528"/>
                  <a:pt x="173428" y="228600"/>
                  <a:pt x="152400" y="228600"/>
                </a:cubicBezTo>
                <a:cubicBezTo>
                  <a:pt x="131372" y="228600"/>
                  <a:pt x="114300" y="211528"/>
                  <a:pt x="114300" y="190500"/>
                </a:cubicBezTo>
                <a:cubicBezTo>
                  <a:pt x="114300" y="169472"/>
                  <a:pt x="131372" y="152400"/>
                  <a:pt x="152400" y="152400"/>
                </a:cubicBezTo>
                <a:close/>
                <a:moveTo>
                  <a:pt x="314325" y="238125"/>
                </a:moveTo>
                <a:cubicBezTo>
                  <a:pt x="324445" y="238125"/>
                  <a:pt x="333851" y="243483"/>
                  <a:pt x="338971" y="252174"/>
                </a:cubicBezTo>
                <a:lnTo>
                  <a:pt x="434221" y="414099"/>
                </a:lnTo>
                <a:cubicBezTo>
                  <a:pt x="439460" y="422910"/>
                  <a:pt x="439460" y="433864"/>
                  <a:pt x="434340" y="442793"/>
                </a:cubicBezTo>
                <a:cubicBezTo>
                  <a:pt x="429220" y="451723"/>
                  <a:pt x="419814" y="457200"/>
                  <a:pt x="409575" y="457200"/>
                </a:cubicBezTo>
                <a:lnTo>
                  <a:pt x="123825" y="457200"/>
                </a:lnTo>
                <a:cubicBezTo>
                  <a:pt x="113228" y="457200"/>
                  <a:pt x="103346" y="451247"/>
                  <a:pt x="98465" y="441841"/>
                </a:cubicBezTo>
                <a:cubicBezTo>
                  <a:pt x="93583" y="432435"/>
                  <a:pt x="94298" y="421005"/>
                  <a:pt x="100370" y="412313"/>
                </a:cubicBezTo>
                <a:lnTo>
                  <a:pt x="167045" y="317063"/>
                </a:lnTo>
                <a:cubicBezTo>
                  <a:pt x="172403" y="309443"/>
                  <a:pt x="181094" y="304919"/>
                  <a:pt x="190500" y="304919"/>
                </a:cubicBezTo>
                <a:cubicBezTo>
                  <a:pt x="199906" y="304919"/>
                  <a:pt x="208597" y="309443"/>
                  <a:pt x="213955" y="317063"/>
                </a:cubicBezTo>
                <a:lnTo>
                  <a:pt x="234434" y="346353"/>
                </a:lnTo>
                <a:lnTo>
                  <a:pt x="289798" y="252293"/>
                </a:lnTo>
                <a:cubicBezTo>
                  <a:pt x="294918" y="243602"/>
                  <a:pt x="304324" y="238244"/>
                  <a:pt x="314444" y="238244"/>
                </a:cubicBezTo>
                <a:close/>
              </a:path>
            </a:pathLst>
          </a:custGeom>
          <a:solidFill>
            <a:srgbClr val="64748B"/>
          </a:solidFill>
          <a:ln/>
        </p:spPr>
      </p:sp>
      <p:sp>
        <p:nvSpPr>
          <p:cNvPr id="30" name="Text 27"/>
          <p:cNvSpPr/>
          <p:nvPr/>
        </p:nvSpPr>
        <p:spPr>
          <a:xfrm>
            <a:off x="9144000" y="4699000"/>
            <a:ext cx="5588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50000"/>
              </a:lnSpc>
            </a:pPr>
            <a:r>
              <a:rPr lang="en-US" sz="14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[Insert Screenshot: Confusion Matrix</a:t>
            </a:r>
            <a:endParaRPr lang="en-US" sz="1600" dirty="0"/>
          </a:p>
          <a:p>
            <a:pPr algn="ctr">
              <a:lnSpc>
                <a:spcPct val="150000"/>
              </a:lnSpc>
            </a:pPr>
            <a:r>
              <a:rPr lang="en-US" sz="14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Heatmap]</a:t>
            </a:r>
            <a:endParaRPr lang="en-US" sz="1600" dirty="0"/>
          </a:p>
        </p:txBody>
      </p:sp>
      <p:sp>
        <p:nvSpPr>
          <p:cNvPr id="31" name="Text 28"/>
          <p:cNvSpPr/>
          <p:nvPr/>
        </p:nvSpPr>
        <p:spPr>
          <a:xfrm>
            <a:off x="14986000" y="87630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200" dirty="0">
                <a:solidFill>
                  <a:srgbClr val="64748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19</a:t>
            </a:r>
            <a:endParaRPr lang="en-US" sz="1200" dirty="0"/>
          </a:p>
        </p:txBody>
      </p:sp>
    </p:spTree>
  </p:cSld>
  <p:clrMapOvr>
    <a:masterClrMapping/>
  </p:clrMapOvr>
  <p:transition>
    <p:fade/>
    <p:spd val="med"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AFA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45720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Text 1"/>
          <p:cNvSpPr/>
          <p:nvPr/>
        </p:nvSpPr>
        <p:spPr>
          <a:xfrm>
            <a:off x="0" y="0"/>
            <a:ext cx="27051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spc="100" kern="0" dirty="0">
                <a:solidFill>
                  <a:srgbClr val="F8FAF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INTRODUCTION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2705100" y="0"/>
            <a:ext cx="27051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spc="100" kern="0" dirty="0">
                <a:solidFill>
                  <a:srgbClr val="F8FAF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LITERATURE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10200" y="0"/>
            <a:ext cx="27178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spc="100" kern="0" dirty="0">
                <a:solidFill>
                  <a:srgbClr val="F8FAF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METHODOLOGY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128000" y="0"/>
            <a:ext cx="27051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b="1" spc="100" kern="0" dirty="0">
                <a:solidFill>
                  <a:srgbClr val="D9770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XAI RESULTS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0833100" y="0"/>
            <a:ext cx="27178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spc="100" kern="0" dirty="0">
                <a:solidFill>
                  <a:srgbClr val="F8FAF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IMPLEMENTATION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3550900" y="0"/>
            <a:ext cx="27051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spc="100" kern="0" dirty="0">
                <a:solidFill>
                  <a:srgbClr val="F8FAF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DEMONSTRATION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62000" y="660400"/>
            <a:ext cx="8890000" cy="482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b="1" dirty="0">
                <a:solidFill>
                  <a:srgbClr val="1E293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Feature Importance Analysis</a:t>
            </a:r>
            <a:endParaRPr lang="en-US" sz="2800" dirty="0"/>
          </a:p>
        </p:txBody>
      </p:sp>
      <p:sp>
        <p:nvSpPr>
          <p:cNvPr id="10" name="Shape 8"/>
          <p:cNvSpPr/>
          <p:nvPr/>
        </p:nvSpPr>
        <p:spPr>
          <a:xfrm>
            <a:off x="762000" y="1206500"/>
            <a:ext cx="762000" cy="3810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11" name="Text 9"/>
          <p:cNvSpPr/>
          <p:nvPr/>
        </p:nvSpPr>
        <p:spPr>
          <a:xfrm>
            <a:off x="762000" y="1460500"/>
            <a:ext cx="7366000" cy="2984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800" dirty="0">
                <a:solidFill>
                  <a:srgbClr val="D9770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■</a:t>
            </a:r>
            <a:pPr>
              <a:lnSpc>
                <a:spcPct val="150000"/>
              </a:lnSpc>
            </a:pPr>
            <a:r>
              <a:rPr lang="en-US" sz="1800" dirty="0">
                <a:solidFill>
                  <a:srgbClr val="0F172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Global feature importance from Decision Tree: </a:t>
            </a:r>
            <a:pPr>
              <a:lnSpc>
                <a:spcPct val="150000"/>
              </a:lnSpc>
            </a:pPr>
            <a:r>
              <a:rPr lang="en-US" sz="1800" b="1" dirty="0">
                <a:solidFill>
                  <a:srgbClr val="0F172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programming_skill</a:t>
            </a:r>
            <a:pPr>
              <a:lnSpc>
                <a:spcPct val="150000"/>
              </a:lnSpc>
            </a:pPr>
            <a:r>
              <a:rPr lang="en-US" sz="1800" dirty="0">
                <a:solidFill>
                  <a:srgbClr val="0F172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and </a:t>
            </a:r>
            <a:pPr>
              <a:lnSpc>
                <a:spcPct val="150000"/>
              </a:lnSpc>
            </a:pPr>
            <a:r>
              <a:rPr lang="en-US" sz="1800" b="1" dirty="0">
                <a:solidFill>
                  <a:srgbClr val="0F172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academic_score</a:t>
            </a:r>
            <a:pPr>
              <a:lnSpc>
                <a:spcPct val="150000"/>
              </a:lnSpc>
            </a:pPr>
            <a:r>
              <a:rPr lang="en-US" sz="1800" dirty="0">
                <a:solidFill>
                  <a:srgbClr val="0F172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dominate</a:t>
            </a:r>
            <a:endParaRPr lang="en-US" sz="1800" dirty="0"/>
          </a:p>
          <a:p>
            <a:pPr>
              <a:lnSpc>
                <a:spcPct val="150000"/>
              </a:lnSpc>
              <a:spcBef>
                <a:spcPts val="1000"/>
              </a:spcBef>
            </a:pPr>
            <a:r>
              <a:rPr lang="en-US" sz="1800" dirty="0">
                <a:solidFill>
                  <a:srgbClr val="D9770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■</a:t>
            </a:r>
            <a:pPr>
              <a:lnSpc>
                <a:spcPct val="150000"/>
              </a:lnSpc>
              <a:spcBef>
                <a:spcPts val="1000"/>
              </a:spcBef>
            </a:pPr>
            <a:r>
              <a:rPr lang="en-US" sz="1800" dirty="0">
                <a:solidFill>
                  <a:srgbClr val="0F172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Domain interest features show moderate importance for career differentiation</a:t>
            </a:r>
            <a:endParaRPr lang="en-US" sz="1800" dirty="0"/>
          </a:p>
          <a:p>
            <a:pPr>
              <a:lnSpc>
                <a:spcPct val="150000"/>
              </a:lnSpc>
              <a:spcBef>
                <a:spcPts val="1000"/>
              </a:spcBef>
            </a:pPr>
            <a:r>
              <a:rPr lang="en-US" sz="1800" dirty="0">
                <a:solidFill>
                  <a:srgbClr val="D9770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■</a:t>
            </a:r>
            <a:pPr>
              <a:lnSpc>
                <a:spcPct val="150000"/>
              </a:lnSpc>
              <a:spcBef>
                <a:spcPts val="1000"/>
              </a:spcBef>
            </a:pPr>
            <a:r>
              <a:rPr lang="en-US" sz="1800" dirty="0">
                <a:solidFill>
                  <a:srgbClr val="0F172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Individual programming language contributions vary by target career</a:t>
            </a:r>
            <a:endParaRPr lang="en-US" sz="1800" dirty="0"/>
          </a:p>
          <a:p>
            <a:pPr>
              <a:lnSpc>
                <a:spcPct val="150000"/>
              </a:lnSpc>
              <a:spcBef>
                <a:spcPts val="1000"/>
              </a:spcBef>
            </a:pPr>
            <a:r>
              <a:rPr lang="en-US" sz="1800" dirty="0">
                <a:solidFill>
                  <a:srgbClr val="D9770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■</a:t>
            </a:r>
            <a:pPr>
              <a:lnSpc>
                <a:spcPct val="150000"/>
              </a:lnSpc>
              <a:spcBef>
                <a:spcPts val="1000"/>
              </a:spcBef>
            </a:pPr>
            <a:r>
              <a:rPr lang="en-US" sz="1800" dirty="0">
                <a:solidFill>
                  <a:srgbClr val="0F172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Feature importance validates the engineered composite features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8636000" y="1460500"/>
            <a:ext cx="6858000" cy="33020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3" name="Shape 11"/>
          <p:cNvSpPr/>
          <p:nvPr/>
        </p:nvSpPr>
        <p:spPr>
          <a:xfrm>
            <a:off x="11671300" y="2921000"/>
            <a:ext cx="533400" cy="609600"/>
          </a:xfrm>
          <a:custGeom>
            <a:avLst/>
            <a:gdLst/>
            <a:ahLst/>
            <a:cxnLst/>
            <a:rect l="l" t="t" r="r" b="b"/>
            <a:pathLst>
              <a:path w="533400" h="609600">
                <a:moveTo>
                  <a:pt x="76200" y="95250"/>
                </a:moveTo>
                <a:cubicBezTo>
                  <a:pt x="65723" y="95250"/>
                  <a:pt x="57150" y="103823"/>
                  <a:pt x="57150" y="114300"/>
                </a:cubicBezTo>
                <a:lnTo>
                  <a:pt x="57150" y="495300"/>
                </a:lnTo>
                <a:cubicBezTo>
                  <a:pt x="57150" y="505778"/>
                  <a:pt x="65723" y="514350"/>
                  <a:pt x="76200" y="514350"/>
                </a:cubicBezTo>
                <a:lnTo>
                  <a:pt x="457200" y="514350"/>
                </a:lnTo>
                <a:cubicBezTo>
                  <a:pt x="467678" y="514350"/>
                  <a:pt x="476250" y="505778"/>
                  <a:pt x="476250" y="495300"/>
                </a:cubicBezTo>
                <a:lnTo>
                  <a:pt x="476250" y="114300"/>
                </a:lnTo>
                <a:cubicBezTo>
                  <a:pt x="476250" y="103823"/>
                  <a:pt x="467678" y="95250"/>
                  <a:pt x="457200" y="95250"/>
                </a:cubicBezTo>
                <a:lnTo>
                  <a:pt x="76200" y="95250"/>
                </a:lnTo>
                <a:close/>
                <a:moveTo>
                  <a:pt x="0" y="114300"/>
                </a:moveTo>
                <a:cubicBezTo>
                  <a:pt x="0" y="72271"/>
                  <a:pt x="34171" y="38100"/>
                  <a:pt x="76200" y="38100"/>
                </a:cubicBezTo>
                <a:lnTo>
                  <a:pt x="457200" y="38100"/>
                </a:lnTo>
                <a:cubicBezTo>
                  <a:pt x="499229" y="38100"/>
                  <a:pt x="533400" y="72271"/>
                  <a:pt x="533400" y="114300"/>
                </a:cubicBezTo>
                <a:lnTo>
                  <a:pt x="533400" y="495300"/>
                </a:lnTo>
                <a:cubicBezTo>
                  <a:pt x="533400" y="537329"/>
                  <a:pt x="499229" y="571500"/>
                  <a:pt x="457200" y="571500"/>
                </a:cubicBezTo>
                <a:lnTo>
                  <a:pt x="76200" y="571500"/>
                </a:lnTo>
                <a:cubicBezTo>
                  <a:pt x="34171" y="571500"/>
                  <a:pt x="0" y="537329"/>
                  <a:pt x="0" y="495300"/>
                </a:cubicBezTo>
                <a:lnTo>
                  <a:pt x="0" y="114300"/>
                </a:lnTo>
                <a:close/>
                <a:moveTo>
                  <a:pt x="152400" y="152400"/>
                </a:moveTo>
                <a:cubicBezTo>
                  <a:pt x="173428" y="152400"/>
                  <a:pt x="190500" y="169472"/>
                  <a:pt x="190500" y="190500"/>
                </a:cubicBezTo>
                <a:cubicBezTo>
                  <a:pt x="190500" y="211528"/>
                  <a:pt x="173428" y="228600"/>
                  <a:pt x="152400" y="228600"/>
                </a:cubicBezTo>
                <a:cubicBezTo>
                  <a:pt x="131372" y="228600"/>
                  <a:pt x="114300" y="211528"/>
                  <a:pt x="114300" y="190500"/>
                </a:cubicBezTo>
                <a:cubicBezTo>
                  <a:pt x="114300" y="169472"/>
                  <a:pt x="131372" y="152400"/>
                  <a:pt x="152400" y="152400"/>
                </a:cubicBezTo>
                <a:close/>
                <a:moveTo>
                  <a:pt x="314325" y="238125"/>
                </a:moveTo>
                <a:cubicBezTo>
                  <a:pt x="324445" y="238125"/>
                  <a:pt x="333851" y="243483"/>
                  <a:pt x="338971" y="252174"/>
                </a:cubicBezTo>
                <a:lnTo>
                  <a:pt x="434221" y="414099"/>
                </a:lnTo>
                <a:cubicBezTo>
                  <a:pt x="439460" y="422910"/>
                  <a:pt x="439460" y="433864"/>
                  <a:pt x="434340" y="442793"/>
                </a:cubicBezTo>
                <a:cubicBezTo>
                  <a:pt x="429220" y="451723"/>
                  <a:pt x="419814" y="457200"/>
                  <a:pt x="409575" y="457200"/>
                </a:cubicBezTo>
                <a:lnTo>
                  <a:pt x="123825" y="457200"/>
                </a:lnTo>
                <a:cubicBezTo>
                  <a:pt x="113228" y="457200"/>
                  <a:pt x="103346" y="451247"/>
                  <a:pt x="98465" y="441841"/>
                </a:cubicBezTo>
                <a:cubicBezTo>
                  <a:pt x="93583" y="432435"/>
                  <a:pt x="94298" y="421005"/>
                  <a:pt x="100370" y="412313"/>
                </a:cubicBezTo>
                <a:lnTo>
                  <a:pt x="167045" y="317063"/>
                </a:lnTo>
                <a:cubicBezTo>
                  <a:pt x="172403" y="309443"/>
                  <a:pt x="181094" y="304919"/>
                  <a:pt x="190500" y="304919"/>
                </a:cubicBezTo>
                <a:cubicBezTo>
                  <a:pt x="199906" y="304919"/>
                  <a:pt x="208597" y="309443"/>
                  <a:pt x="213955" y="317063"/>
                </a:cubicBezTo>
                <a:lnTo>
                  <a:pt x="234434" y="346353"/>
                </a:lnTo>
                <a:lnTo>
                  <a:pt x="289798" y="252293"/>
                </a:lnTo>
                <a:cubicBezTo>
                  <a:pt x="294918" y="243602"/>
                  <a:pt x="304324" y="238244"/>
                  <a:pt x="314444" y="238244"/>
                </a:cubicBezTo>
                <a:close/>
              </a:path>
            </a:pathLst>
          </a:custGeom>
          <a:solidFill>
            <a:srgbClr val="64748B"/>
          </a:solidFill>
          <a:ln/>
        </p:spPr>
      </p:sp>
      <p:sp>
        <p:nvSpPr>
          <p:cNvPr id="14" name="Text 12"/>
          <p:cNvSpPr/>
          <p:nvPr/>
        </p:nvSpPr>
        <p:spPr>
          <a:xfrm>
            <a:off x="9144000" y="3683000"/>
            <a:ext cx="5842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50000"/>
              </a:lnSpc>
            </a:pPr>
            <a:r>
              <a:rPr lang="en-US" sz="14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[Insert Screenshot: Feature Importance Bar Chart</a:t>
            </a:r>
            <a:endParaRPr lang="en-US" sz="1600" dirty="0"/>
          </a:p>
          <a:p>
            <a:pPr algn="ctr">
              <a:lnSpc>
                <a:spcPct val="150000"/>
              </a:lnSpc>
            </a:pPr>
            <a:r>
              <a:rPr lang="en-US" sz="14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/ Horizontal Bar Plot]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762000" y="4953000"/>
            <a:ext cx="14732000" cy="1270000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62000" y="4953000"/>
            <a:ext cx="76200" cy="127000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17" name="Text 15"/>
          <p:cNvSpPr/>
          <p:nvPr/>
        </p:nvSpPr>
        <p:spPr>
          <a:xfrm>
            <a:off x="1143000" y="5080000"/>
            <a:ext cx="13970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800" b="1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Validation:</a:t>
            </a:r>
            <a:pPr>
              <a:lnSpc>
                <a:spcPct val="150000"/>
              </a:lnSpc>
            </a:pPr>
            <a:r>
              <a:rPr lang="en-US" sz="1800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The composite features (programming_skill, academic_score) rank highest in importance, confirming our feature engineering strategy successfully captured the most predictive student attributes for career matching.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4986000" y="87630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200" dirty="0">
                <a:solidFill>
                  <a:srgbClr val="64748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20</a:t>
            </a:r>
            <a:endParaRPr lang="en-US" sz="1200" dirty="0"/>
          </a:p>
        </p:txBody>
      </p:sp>
    </p:spTree>
  </p:cSld>
  <p:clrMapOvr>
    <a:masterClrMapping/>
  </p:clrMapOvr>
  <p:transition>
    <p:fade/>
    <p:spd val="med"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AFA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45720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Text 1"/>
          <p:cNvSpPr/>
          <p:nvPr/>
        </p:nvSpPr>
        <p:spPr>
          <a:xfrm>
            <a:off x="0" y="0"/>
            <a:ext cx="27051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spc="100" kern="0" dirty="0">
                <a:solidFill>
                  <a:srgbClr val="F8FAF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INTRODUCTION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2705100" y="0"/>
            <a:ext cx="27051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spc="100" kern="0" dirty="0">
                <a:solidFill>
                  <a:srgbClr val="F8FAF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LITERATURE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10200" y="0"/>
            <a:ext cx="27178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spc="100" kern="0" dirty="0">
                <a:solidFill>
                  <a:srgbClr val="F8FAF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METHODOLOGY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128000" y="0"/>
            <a:ext cx="27051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b="1" spc="100" kern="0" dirty="0">
                <a:solidFill>
                  <a:srgbClr val="D9770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XAI RESULTS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0833100" y="0"/>
            <a:ext cx="27178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spc="100" kern="0" dirty="0">
                <a:solidFill>
                  <a:srgbClr val="F8FAF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IMPLEMENTATION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3550900" y="0"/>
            <a:ext cx="27051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spc="100" kern="0" dirty="0">
                <a:solidFill>
                  <a:srgbClr val="F8FAF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DEMONSTRATION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62000" y="660400"/>
            <a:ext cx="8890000" cy="482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b="1" dirty="0">
                <a:solidFill>
                  <a:srgbClr val="1E293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SHAP Value Interpretation</a:t>
            </a:r>
            <a:endParaRPr lang="en-US" sz="2800" dirty="0"/>
          </a:p>
        </p:txBody>
      </p:sp>
      <p:sp>
        <p:nvSpPr>
          <p:cNvPr id="10" name="Shape 8"/>
          <p:cNvSpPr/>
          <p:nvPr/>
        </p:nvSpPr>
        <p:spPr>
          <a:xfrm>
            <a:off x="762000" y="1206500"/>
            <a:ext cx="762000" cy="3810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11" name="Text 9"/>
          <p:cNvSpPr/>
          <p:nvPr/>
        </p:nvSpPr>
        <p:spPr>
          <a:xfrm>
            <a:off x="762000" y="1460500"/>
            <a:ext cx="7366000" cy="292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70000"/>
              </a:lnSpc>
            </a:pPr>
            <a:r>
              <a:rPr lang="en-US" sz="1800" dirty="0">
                <a:solidFill>
                  <a:srgbClr val="D9770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■</a:t>
            </a:r>
            <a:pPr>
              <a:lnSpc>
                <a:spcPct val="170000"/>
              </a:lnSpc>
            </a:pPr>
            <a:r>
              <a:rPr lang="en-US" sz="1800" dirty="0">
                <a:solidFill>
                  <a:srgbClr val="0F172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</a:t>
            </a:r>
            <a:pPr>
              <a:lnSpc>
                <a:spcPct val="170000"/>
              </a:lnSpc>
            </a:pPr>
            <a:r>
              <a:rPr lang="en-US" sz="1800" b="1" dirty="0">
                <a:solidFill>
                  <a:srgbClr val="0F172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TreeExplainer</a:t>
            </a:r>
            <a:pPr>
              <a:lnSpc>
                <a:spcPct val="170000"/>
              </a:lnSpc>
            </a:pPr>
            <a:r>
              <a:rPr lang="en-US" sz="1800" dirty="0">
                <a:solidFill>
                  <a:srgbClr val="0F172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computes SHAP values for every prediction in polynomial time</a:t>
            </a:r>
            <a:endParaRPr lang="en-US" sz="1800" dirty="0"/>
          </a:p>
          <a:p>
            <a:pPr>
              <a:lnSpc>
                <a:spcPct val="170000"/>
              </a:lnSpc>
              <a:spcBef>
                <a:spcPts val="1000"/>
              </a:spcBef>
            </a:pPr>
            <a:r>
              <a:rPr lang="en-US" sz="1800" dirty="0">
                <a:solidFill>
                  <a:srgbClr val="D9770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■</a:t>
            </a:r>
            <a:pPr>
              <a:lnSpc>
                <a:spcPct val="170000"/>
              </a:lnSpc>
              <a:spcBef>
                <a:spcPts val="1000"/>
              </a:spcBef>
            </a:pPr>
            <a:r>
              <a:rPr lang="en-US" sz="1800" dirty="0">
                <a:solidFill>
                  <a:srgbClr val="0F172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</a:t>
            </a:r>
            <a:pPr>
              <a:lnSpc>
                <a:spcPct val="170000"/>
              </a:lnSpc>
              <a:spcBef>
                <a:spcPts val="1000"/>
              </a:spcBef>
            </a:pPr>
            <a:r>
              <a:rPr lang="en-US" sz="1800" b="1" dirty="0">
                <a:solidFill>
                  <a:srgbClr val="0F172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Summary Plot:</a:t>
            </a:r>
            <a:pPr>
              <a:lnSpc>
                <a:spcPct val="170000"/>
              </a:lnSpc>
              <a:spcBef>
                <a:spcPts val="1000"/>
              </a:spcBef>
            </a:pPr>
            <a:r>
              <a:rPr lang="en-US" sz="1800" dirty="0">
                <a:solidFill>
                  <a:srgbClr val="0F172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Global view of feature impacts across all predictions</a:t>
            </a:r>
            <a:endParaRPr lang="en-US" sz="1800" dirty="0"/>
          </a:p>
          <a:p>
            <a:pPr>
              <a:lnSpc>
                <a:spcPct val="170000"/>
              </a:lnSpc>
              <a:spcBef>
                <a:spcPts val="1000"/>
              </a:spcBef>
            </a:pPr>
            <a:r>
              <a:rPr lang="en-US" sz="1800" dirty="0">
                <a:solidFill>
                  <a:srgbClr val="D9770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■</a:t>
            </a:r>
            <a:pPr>
              <a:lnSpc>
                <a:spcPct val="170000"/>
              </a:lnSpc>
              <a:spcBef>
                <a:spcPts val="1000"/>
              </a:spcBef>
            </a:pPr>
            <a:r>
              <a:rPr lang="en-US" sz="1800" dirty="0">
                <a:solidFill>
                  <a:srgbClr val="0F172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</a:t>
            </a:r>
            <a:pPr>
              <a:lnSpc>
                <a:spcPct val="170000"/>
              </a:lnSpc>
              <a:spcBef>
                <a:spcPts val="1000"/>
              </a:spcBef>
            </a:pPr>
            <a:r>
              <a:rPr lang="en-US" sz="1800" b="1" dirty="0">
                <a:solidFill>
                  <a:srgbClr val="0F172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Force Plot:</a:t>
            </a:r>
            <a:pPr>
              <a:lnSpc>
                <a:spcPct val="170000"/>
              </a:lnSpc>
              <a:spcBef>
                <a:spcPts val="1000"/>
              </a:spcBef>
            </a:pPr>
            <a:r>
              <a:rPr lang="en-US" sz="1800" dirty="0">
                <a:solidFill>
                  <a:srgbClr val="0F172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Individual prediction breakdown showing push/pull factors</a:t>
            </a:r>
            <a:endParaRPr lang="en-US" sz="1800" dirty="0"/>
          </a:p>
          <a:p>
            <a:pPr>
              <a:lnSpc>
                <a:spcPct val="170000"/>
              </a:lnSpc>
              <a:spcBef>
                <a:spcPts val="1000"/>
              </a:spcBef>
            </a:pPr>
            <a:r>
              <a:rPr lang="en-US" sz="1800" dirty="0">
                <a:solidFill>
                  <a:srgbClr val="D9770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■</a:t>
            </a:r>
            <a:pPr>
              <a:lnSpc>
                <a:spcPct val="170000"/>
              </a:lnSpc>
              <a:spcBef>
                <a:spcPts val="1000"/>
              </a:spcBef>
            </a:pPr>
            <a:r>
              <a:rPr lang="en-US" sz="1800" dirty="0">
                <a:solidFill>
                  <a:srgbClr val="0F172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</a:t>
            </a:r>
            <a:pPr>
              <a:lnSpc>
                <a:spcPct val="170000"/>
              </a:lnSpc>
              <a:spcBef>
                <a:spcPts val="1000"/>
              </a:spcBef>
            </a:pPr>
            <a:r>
              <a:rPr lang="en-US" sz="1800" b="1" dirty="0">
                <a:solidFill>
                  <a:srgbClr val="0F172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Waterfall Plot:</a:t>
            </a:r>
            <a:pPr>
              <a:lnSpc>
                <a:spcPct val="170000"/>
              </a:lnSpc>
              <a:spcBef>
                <a:spcPts val="1000"/>
              </a:spcBef>
            </a:pPr>
            <a:r>
              <a:rPr lang="en-US" sz="1800" dirty="0">
                <a:solidFill>
                  <a:srgbClr val="0F172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Cumulative contribution of features to a single prediction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762000" y="4699000"/>
            <a:ext cx="7366000" cy="16510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79500" y="4826000"/>
            <a:ext cx="3810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b="1" spc="100" kern="0" dirty="0">
                <a:solidFill>
                  <a:srgbClr val="D9770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SHAP PLOT TYPES USED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079500" y="5232400"/>
            <a:ext cx="67310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600" b="1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Beeswarm (Summary):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Feature value distribution colored by impact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b="1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Force/Waterfall: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Single prediction attribution breakdown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8636000" y="1460500"/>
            <a:ext cx="6858000" cy="48895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6" name="Shape 14"/>
          <p:cNvSpPr/>
          <p:nvPr/>
        </p:nvSpPr>
        <p:spPr>
          <a:xfrm>
            <a:off x="11671300" y="3429000"/>
            <a:ext cx="533400" cy="609600"/>
          </a:xfrm>
          <a:custGeom>
            <a:avLst/>
            <a:gdLst/>
            <a:ahLst/>
            <a:cxnLst/>
            <a:rect l="l" t="t" r="r" b="b"/>
            <a:pathLst>
              <a:path w="533400" h="609600">
                <a:moveTo>
                  <a:pt x="76200" y="95250"/>
                </a:moveTo>
                <a:cubicBezTo>
                  <a:pt x="65723" y="95250"/>
                  <a:pt x="57150" y="103823"/>
                  <a:pt x="57150" y="114300"/>
                </a:cubicBezTo>
                <a:lnTo>
                  <a:pt x="57150" y="495300"/>
                </a:lnTo>
                <a:cubicBezTo>
                  <a:pt x="57150" y="505778"/>
                  <a:pt x="65723" y="514350"/>
                  <a:pt x="76200" y="514350"/>
                </a:cubicBezTo>
                <a:lnTo>
                  <a:pt x="457200" y="514350"/>
                </a:lnTo>
                <a:cubicBezTo>
                  <a:pt x="467678" y="514350"/>
                  <a:pt x="476250" y="505778"/>
                  <a:pt x="476250" y="495300"/>
                </a:cubicBezTo>
                <a:lnTo>
                  <a:pt x="476250" y="114300"/>
                </a:lnTo>
                <a:cubicBezTo>
                  <a:pt x="476250" y="103823"/>
                  <a:pt x="467678" y="95250"/>
                  <a:pt x="457200" y="95250"/>
                </a:cubicBezTo>
                <a:lnTo>
                  <a:pt x="76200" y="95250"/>
                </a:lnTo>
                <a:close/>
                <a:moveTo>
                  <a:pt x="0" y="114300"/>
                </a:moveTo>
                <a:cubicBezTo>
                  <a:pt x="0" y="72271"/>
                  <a:pt x="34171" y="38100"/>
                  <a:pt x="76200" y="38100"/>
                </a:cubicBezTo>
                <a:lnTo>
                  <a:pt x="457200" y="38100"/>
                </a:lnTo>
                <a:cubicBezTo>
                  <a:pt x="499229" y="38100"/>
                  <a:pt x="533400" y="72271"/>
                  <a:pt x="533400" y="114300"/>
                </a:cubicBezTo>
                <a:lnTo>
                  <a:pt x="533400" y="495300"/>
                </a:lnTo>
                <a:cubicBezTo>
                  <a:pt x="533400" y="537329"/>
                  <a:pt x="499229" y="571500"/>
                  <a:pt x="457200" y="571500"/>
                </a:cubicBezTo>
                <a:lnTo>
                  <a:pt x="76200" y="571500"/>
                </a:lnTo>
                <a:cubicBezTo>
                  <a:pt x="34171" y="571500"/>
                  <a:pt x="0" y="537329"/>
                  <a:pt x="0" y="495300"/>
                </a:cubicBezTo>
                <a:lnTo>
                  <a:pt x="0" y="114300"/>
                </a:lnTo>
                <a:close/>
                <a:moveTo>
                  <a:pt x="152400" y="152400"/>
                </a:moveTo>
                <a:cubicBezTo>
                  <a:pt x="173428" y="152400"/>
                  <a:pt x="190500" y="169472"/>
                  <a:pt x="190500" y="190500"/>
                </a:cubicBezTo>
                <a:cubicBezTo>
                  <a:pt x="190500" y="211528"/>
                  <a:pt x="173428" y="228600"/>
                  <a:pt x="152400" y="228600"/>
                </a:cubicBezTo>
                <a:cubicBezTo>
                  <a:pt x="131372" y="228600"/>
                  <a:pt x="114300" y="211528"/>
                  <a:pt x="114300" y="190500"/>
                </a:cubicBezTo>
                <a:cubicBezTo>
                  <a:pt x="114300" y="169472"/>
                  <a:pt x="131372" y="152400"/>
                  <a:pt x="152400" y="152400"/>
                </a:cubicBezTo>
                <a:close/>
                <a:moveTo>
                  <a:pt x="314325" y="238125"/>
                </a:moveTo>
                <a:cubicBezTo>
                  <a:pt x="324445" y="238125"/>
                  <a:pt x="333851" y="243483"/>
                  <a:pt x="338971" y="252174"/>
                </a:cubicBezTo>
                <a:lnTo>
                  <a:pt x="434221" y="414099"/>
                </a:lnTo>
                <a:cubicBezTo>
                  <a:pt x="439460" y="422910"/>
                  <a:pt x="439460" y="433864"/>
                  <a:pt x="434340" y="442793"/>
                </a:cubicBezTo>
                <a:cubicBezTo>
                  <a:pt x="429220" y="451723"/>
                  <a:pt x="419814" y="457200"/>
                  <a:pt x="409575" y="457200"/>
                </a:cubicBezTo>
                <a:lnTo>
                  <a:pt x="123825" y="457200"/>
                </a:lnTo>
                <a:cubicBezTo>
                  <a:pt x="113228" y="457200"/>
                  <a:pt x="103346" y="451247"/>
                  <a:pt x="98465" y="441841"/>
                </a:cubicBezTo>
                <a:cubicBezTo>
                  <a:pt x="93583" y="432435"/>
                  <a:pt x="94298" y="421005"/>
                  <a:pt x="100370" y="412313"/>
                </a:cubicBezTo>
                <a:lnTo>
                  <a:pt x="167045" y="317063"/>
                </a:lnTo>
                <a:cubicBezTo>
                  <a:pt x="172403" y="309443"/>
                  <a:pt x="181094" y="304919"/>
                  <a:pt x="190500" y="304919"/>
                </a:cubicBezTo>
                <a:cubicBezTo>
                  <a:pt x="199906" y="304919"/>
                  <a:pt x="208597" y="309443"/>
                  <a:pt x="213955" y="317063"/>
                </a:cubicBezTo>
                <a:lnTo>
                  <a:pt x="234434" y="346353"/>
                </a:lnTo>
                <a:lnTo>
                  <a:pt x="289798" y="252293"/>
                </a:lnTo>
                <a:cubicBezTo>
                  <a:pt x="294918" y="243602"/>
                  <a:pt x="304324" y="238244"/>
                  <a:pt x="314444" y="238244"/>
                </a:cubicBezTo>
                <a:close/>
              </a:path>
            </a:pathLst>
          </a:custGeom>
          <a:solidFill>
            <a:srgbClr val="64748B"/>
          </a:solidFill>
          <a:ln/>
        </p:spPr>
      </p:sp>
      <p:sp>
        <p:nvSpPr>
          <p:cNvPr id="17" name="Text 15"/>
          <p:cNvSpPr/>
          <p:nvPr/>
        </p:nvSpPr>
        <p:spPr>
          <a:xfrm>
            <a:off x="9144000" y="4191000"/>
            <a:ext cx="5842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50000"/>
              </a:lnSpc>
            </a:pPr>
            <a:r>
              <a:rPr lang="en-US" sz="14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[Insert Screenshot: SHAP Summary Plot</a:t>
            </a:r>
            <a:endParaRPr lang="en-US" sz="1600" dirty="0"/>
          </a:p>
          <a:p>
            <a:pPr algn="ctr">
              <a:lnSpc>
                <a:spcPct val="150000"/>
              </a:lnSpc>
            </a:pPr>
            <a:r>
              <a:rPr lang="en-US" sz="14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(Beeswarm)]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4986000" y="87630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200" dirty="0">
                <a:solidFill>
                  <a:srgbClr val="64748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21</a:t>
            </a:r>
            <a:endParaRPr lang="en-US" sz="1200" dirty="0"/>
          </a:p>
        </p:txBody>
      </p:sp>
    </p:spTree>
  </p:cSld>
  <p:clrMapOvr>
    <a:masterClrMapping/>
  </p:clrMapOvr>
  <p:transition>
    <p:fade/>
    <p:spd val="med"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AFA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45720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Text 1"/>
          <p:cNvSpPr/>
          <p:nvPr/>
        </p:nvSpPr>
        <p:spPr>
          <a:xfrm>
            <a:off x="0" y="0"/>
            <a:ext cx="27051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spc="100" kern="0" dirty="0">
                <a:solidFill>
                  <a:srgbClr val="F8FAF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INTRODUCTION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2705100" y="0"/>
            <a:ext cx="27051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spc="100" kern="0" dirty="0">
                <a:solidFill>
                  <a:srgbClr val="F8FAF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LITERATURE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10200" y="0"/>
            <a:ext cx="27178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spc="100" kern="0" dirty="0">
                <a:solidFill>
                  <a:srgbClr val="F8FAF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METHODOLOGY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128000" y="0"/>
            <a:ext cx="27051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b="1" spc="100" kern="0" dirty="0">
                <a:solidFill>
                  <a:srgbClr val="D9770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XAI RESULTS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0833100" y="0"/>
            <a:ext cx="27178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spc="100" kern="0" dirty="0">
                <a:solidFill>
                  <a:srgbClr val="F8FAF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IMPLEMENTATION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3550900" y="0"/>
            <a:ext cx="27051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spc="100" kern="0" dirty="0">
                <a:solidFill>
                  <a:srgbClr val="F8FAF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DEMONSTRATION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62000" y="660400"/>
            <a:ext cx="8890000" cy="482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b="1" dirty="0">
                <a:solidFill>
                  <a:srgbClr val="1E293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SHAP Drivers &amp; Inhibitors</a:t>
            </a:r>
            <a:endParaRPr lang="en-US" sz="2800" dirty="0"/>
          </a:p>
        </p:txBody>
      </p:sp>
      <p:sp>
        <p:nvSpPr>
          <p:cNvPr id="10" name="Shape 8"/>
          <p:cNvSpPr/>
          <p:nvPr/>
        </p:nvSpPr>
        <p:spPr>
          <a:xfrm>
            <a:off x="762000" y="1206500"/>
            <a:ext cx="762000" cy="3810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11" name="Shape 9"/>
          <p:cNvSpPr/>
          <p:nvPr/>
        </p:nvSpPr>
        <p:spPr>
          <a:xfrm>
            <a:off x="762000" y="1524000"/>
            <a:ext cx="7112000" cy="24765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62000" y="1524000"/>
            <a:ext cx="76200" cy="247650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13" name="Text 11"/>
          <p:cNvSpPr/>
          <p:nvPr/>
        </p:nvSpPr>
        <p:spPr>
          <a:xfrm>
            <a:off x="1079500" y="1625600"/>
            <a:ext cx="254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b="1" spc="100" kern="0" dirty="0">
                <a:solidFill>
                  <a:srgbClr val="16A34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DRIVERS (+SHAP)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079500" y="2006600"/>
            <a:ext cx="6477000" cy="184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Features that </a:t>
            </a:r>
            <a:pPr>
              <a:lnSpc>
                <a:spcPct val="160000"/>
              </a:lnSpc>
            </a:pPr>
            <a:r>
              <a:rPr lang="en-US" sz="1600" b="1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push prediction toward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 specific career:</a:t>
            </a:r>
            <a:endParaRPr lang="en-US" sz="1600" dirty="0"/>
          </a:p>
          <a:p>
            <a:pPr>
              <a:lnSpc>
                <a:spcPct val="160000"/>
              </a:lnSpc>
              <a:spcBef>
                <a:spcPts val="600"/>
              </a:spcBef>
            </a:pPr>
            <a:r>
              <a:rPr lang="en-US" sz="1600" dirty="0">
                <a:solidFill>
                  <a:srgbClr val="16A34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▶</a:t>
            </a:r>
            <a:pPr>
              <a:lnSpc>
                <a:spcPct val="160000"/>
              </a:lnSpc>
              <a:spcBef>
                <a:spcPts val="600"/>
              </a:spcBef>
            </a:pPr>
            <a:r>
              <a:rPr lang="en-US" sz="1600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High Python + SQL scores drive </a:t>
            </a:r>
            <a:pPr>
              <a:lnSpc>
                <a:spcPct val="160000"/>
              </a:lnSpc>
              <a:spcBef>
                <a:spcPts val="600"/>
              </a:spcBef>
            </a:pPr>
            <a:r>
              <a:rPr lang="en-US" sz="1600" b="1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"Data Scientist"</a:t>
            </a:r>
            <a:pPr>
              <a:lnSpc>
                <a:spcPct val="160000"/>
              </a:lnSpc>
              <a:spcBef>
                <a:spcPts val="600"/>
              </a:spcBef>
            </a:pPr>
            <a:r>
              <a:rPr lang="en-US" sz="1600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predictions</a:t>
            </a:r>
            <a:endParaRPr lang="en-US" sz="1600" dirty="0"/>
          </a:p>
          <a:p>
            <a:pPr>
              <a:lnSpc>
                <a:spcPct val="160000"/>
              </a:lnSpc>
              <a:spcBef>
                <a:spcPts val="400"/>
              </a:spcBef>
            </a:pPr>
            <a:r>
              <a:rPr lang="en-US" sz="1600" dirty="0">
                <a:solidFill>
                  <a:srgbClr val="16A34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▶</a:t>
            </a:r>
            <a:pPr>
              <a:lnSpc>
                <a:spcPct val="160000"/>
              </a:lnSpc>
              <a:spcBef>
                <a:spcPts val="400"/>
              </a:spcBef>
            </a:pPr>
            <a:r>
              <a:rPr lang="en-US" sz="1600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Strong Java skills drive </a:t>
            </a:r>
            <a:pPr>
              <a:lnSpc>
                <a:spcPct val="160000"/>
              </a:lnSpc>
              <a:spcBef>
                <a:spcPts val="400"/>
              </a:spcBef>
            </a:pPr>
            <a:r>
              <a:rPr lang="en-US" sz="1600" b="1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"Backend Engineer"</a:t>
            </a:r>
            <a:pPr>
              <a:lnSpc>
                <a:spcPct val="160000"/>
              </a:lnSpc>
              <a:spcBef>
                <a:spcPts val="400"/>
              </a:spcBef>
            </a:pPr>
            <a:r>
              <a:rPr lang="en-US" sz="1600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predictions</a:t>
            </a:r>
            <a:endParaRPr lang="en-US" sz="1600" dirty="0"/>
          </a:p>
          <a:p>
            <a:pPr>
              <a:lnSpc>
                <a:spcPct val="160000"/>
              </a:lnSpc>
              <a:spcBef>
                <a:spcPts val="400"/>
              </a:spcBef>
            </a:pPr>
            <a:r>
              <a:rPr lang="en-US" sz="1600" dirty="0">
                <a:solidFill>
                  <a:srgbClr val="16A34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▶</a:t>
            </a:r>
            <a:pPr>
              <a:lnSpc>
                <a:spcPct val="160000"/>
              </a:lnSpc>
              <a:spcBef>
                <a:spcPts val="400"/>
              </a:spcBef>
            </a:pPr>
            <a:r>
              <a:rPr lang="en-US" sz="1600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High GPA + AI interest drive </a:t>
            </a:r>
            <a:pPr>
              <a:lnSpc>
                <a:spcPct val="160000"/>
              </a:lnSpc>
              <a:spcBef>
                <a:spcPts val="400"/>
              </a:spcBef>
            </a:pPr>
            <a:r>
              <a:rPr lang="en-US" sz="1600" b="1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"ML Engineer"</a:t>
            </a:r>
            <a:pPr>
              <a:lnSpc>
                <a:spcPct val="160000"/>
              </a:lnSpc>
              <a:spcBef>
                <a:spcPts val="400"/>
              </a:spcBef>
            </a:pPr>
            <a:r>
              <a:rPr lang="en-US" sz="1600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predictions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8382000" y="1524000"/>
            <a:ext cx="7112000" cy="24765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382000" y="1524000"/>
            <a:ext cx="76200" cy="247650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17" name="Text 15"/>
          <p:cNvSpPr/>
          <p:nvPr/>
        </p:nvSpPr>
        <p:spPr>
          <a:xfrm>
            <a:off x="8699500" y="1625600"/>
            <a:ext cx="254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b="1" spc="100" kern="0" dirty="0">
                <a:solidFill>
                  <a:srgbClr val="DC262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INHIBITORS (-SHAP)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699500" y="2006600"/>
            <a:ext cx="6477000" cy="184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Features that </a:t>
            </a:r>
            <a:pPr>
              <a:lnSpc>
                <a:spcPct val="160000"/>
              </a:lnSpc>
            </a:pPr>
            <a:r>
              <a:rPr lang="en-US" sz="1600" b="1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reduce likelihood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of a career match:</a:t>
            </a:r>
            <a:endParaRPr lang="en-US" sz="1600" dirty="0"/>
          </a:p>
          <a:p>
            <a:pPr>
              <a:lnSpc>
                <a:spcPct val="160000"/>
              </a:lnSpc>
              <a:spcBef>
                <a:spcPts val="600"/>
              </a:spcBef>
            </a:pPr>
            <a:r>
              <a:rPr lang="en-US" sz="1600" dirty="0">
                <a:solidFill>
                  <a:srgbClr val="DC262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▶</a:t>
            </a:r>
            <a:pPr>
              <a:lnSpc>
                <a:spcPct val="160000"/>
              </a:lnSpc>
              <a:spcBef>
                <a:spcPts val="600"/>
              </a:spcBef>
            </a:pPr>
            <a:r>
              <a:rPr lang="en-US" sz="1600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Low Java scores inhibit </a:t>
            </a:r>
            <a:pPr>
              <a:lnSpc>
                <a:spcPct val="160000"/>
              </a:lnSpc>
              <a:spcBef>
                <a:spcPts val="600"/>
              </a:spcBef>
            </a:pPr>
            <a:r>
              <a:rPr lang="en-US" sz="1600" b="1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"Backend Engineer"</a:t>
            </a:r>
            <a:pPr>
              <a:lnSpc>
                <a:spcPct val="160000"/>
              </a:lnSpc>
              <a:spcBef>
                <a:spcPts val="600"/>
              </a:spcBef>
            </a:pPr>
            <a:r>
              <a:rPr lang="en-US" sz="1600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predictions</a:t>
            </a:r>
            <a:endParaRPr lang="en-US" sz="1600" dirty="0"/>
          </a:p>
          <a:p>
            <a:pPr>
              <a:lnSpc>
                <a:spcPct val="160000"/>
              </a:lnSpc>
              <a:spcBef>
                <a:spcPts val="400"/>
              </a:spcBef>
            </a:pPr>
            <a:r>
              <a:rPr lang="en-US" sz="1600" dirty="0">
                <a:solidFill>
                  <a:srgbClr val="DC262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▶</a:t>
            </a:r>
            <a:pPr>
              <a:lnSpc>
                <a:spcPct val="160000"/>
              </a:lnSpc>
              <a:spcBef>
                <a:spcPts val="400"/>
              </a:spcBef>
            </a:pPr>
            <a:r>
              <a:rPr lang="en-US" sz="1600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Weak SQL skills inhibit </a:t>
            </a:r>
            <a:pPr>
              <a:lnSpc>
                <a:spcPct val="160000"/>
              </a:lnSpc>
              <a:spcBef>
                <a:spcPts val="400"/>
              </a:spcBef>
            </a:pPr>
            <a:r>
              <a:rPr lang="en-US" sz="1600" b="1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"Data Analyst"</a:t>
            </a:r>
            <a:pPr>
              <a:lnSpc>
                <a:spcPct val="160000"/>
              </a:lnSpc>
              <a:spcBef>
                <a:spcPts val="400"/>
              </a:spcBef>
            </a:pPr>
            <a:r>
              <a:rPr lang="en-US" sz="1600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predictions</a:t>
            </a:r>
            <a:endParaRPr lang="en-US" sz="1600" dirty="0"/>
          </a:p>
          <a:p>
            <a:pPr>
              <a:lnSpc>
                <a:spcPct val="160000"/>
              </a:lnSpc>
              <a:spcBef>
                <a:spcPts val="400"/>
              </a:spcBef>
            </a:pPr>
            <a:r>
              <a:rPr lang="en-US" sz="1600" dirty="0">
                <a:solidFill>
                  <a:srgbClr val="DC262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▶</a:t>
            </a:r>
            <a:pPr>
              <a:lnSpc>
                <a:spcPct val="160000"/>
              </a:lnSpc>
              <a:spcBef>
                <a:spcPts val="400"/>
              </a:spcBef>
            </a:pPr>
            <a:r>
              <a:rPr lang="en-US" sz="1600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Low programming scores inhibit </a:t>
            </a:r>
            <a:pPr>
              <a:lnSpc>
                <a:spcPct val="160000"/>
              </a:lnSpc>
              <a:spcBef>
                <a:spcPts val="400"/>
              </a:spcBef>
            </a:pPr>
            <a:r>
              <a:rPr lang="en-US" sz="1600" b="1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"Software Engineer"</a:t>
            </a:r>
            <a:pPr>
              <a:lnSpc>
                <a:spcPct val="160000"/>
              </a:lnSpc>
              <a:spcBef>
                <a:spcPts val="400"/>
              </a:spcBef>
            </a:pPr>
            <a:r>
              <a:rPr lang="en-US" sz="1600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predictions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762000" y="4381500"/>
            <a:ext cx="14732000" cy="3556000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0" name="Shape 18"/>
          <p:cNvSpPr/>
          <p:nvPr/>
        </p:nvSpPr>
        <p:spPr>
          <a:xfrm>
            <a:off x="7861300" y="5588000"/>
            <a:ext cx="533400" cy="609600"/>
          </a:xfrm>
          <a:custGeom>
            <a:avLst/>
            <a:gdLst/>
            <a:ahLst/>
            <a:cxnLst/>
            <a:rect l="l" t="t" r="r" b="b"/>
            <a:pathLst>
              <a:path w="533400" h="609600">
                <a:moveTo>
                  <a:pt x="76200" y="95250"/>
                </a:moveTo>
                <a:cubicBezTo>
                  <a:pt x="65723" y="95250"/>
                  <a:pt x="57150" y="103823"/>
                  <a:pt x="57150" y="114300"/>
                </a:cubicBezTo>
                <a:lnTo>
                  <a:pt x="57150" y="495300"/>
                </a:lnTo>
                <a:cubicBezTo>
                  <a:pt x="57150" y="505778"/>
                  <a:pt x="65723" y="514350"/>
                  <a:pt x="76200" y="514350"/>
                </a:cubicBezTo>
                <a:lnTo>
                  <a:pt x="457200" y="514350"/>
                </a:lnTo>
                <a:cubicBezTo>
                  <a:pt x="467678" y="514350"/>
                  <a:pt x="476250" y="505778"/>
                  <a:pt x="476250" y="495300"/>
                </a:cubicBezTo>
                <a:lnTo>
                  <a:pt x="476250" y="114300"/>
                </a:lnTo>
                <a:cubicBezTo>
                  <a:pt x="476250" y="103823"/>
                  <a:pt x="467678" y="95250"/>
                  <a:pt x="457200" y="95250"/>
                </a:cubicBezTo>
                <a:lnTo>
                  <a:pt x="76200" y="95250"/>
                </a:lnTo>
                <a:close/>
                <a:moveTo>
                  <a:pt x="0" y="114300"/>
                </a:moveTo>
                <a:cubicBezTo>
                  <a:pt x="0" y="72271"/>
                  <a:pt x="34171" y="38100"/>
                  <a:pt x="76200" y="38100"/>
                </a:cubicBezTo>
                <a:lnTo>
                  <a:pt x="457200" y="38100"/>
                </a:lnTo>
                <a:cubicBezTo>
                  <a:pt x="499229" y="38100"/>
                  <a:pt x="533400" y="72271"/>
                  <a:pt x="533400" y="114300"/>
                </a:cubicBezTo>
                <a:lnTo>
                  <a:pt x="533400" y="495300"/>
                </a:lnTo>
                <a:cubicBezTo>
                  <a:pt x="533400" y="537329"/>
                  <a:pt x="499229" y="571500"/>
                  <a:pt x="457200" y="571500"/>
                </a:cubicBezTo>
                <a:lnTo>
                  <a:pt x="76200" y="571500"/>
                </a:lnTo>
                <a:cubicBezTo>
                  <a:pt x="34171" y="571500"/>
                  <a:pt x="0" y="537329"/>
                  <a:pt x="0" y="495300"/>
                </a:cubicBezTo>
                <a:lnTo>
                  <a:pt x="0" y="114300"/>
                </a:lnTo>
                <a:close/>
                <a:moveTo>
                  <a:pt x="152400" y="152400"/>
                </a:moveTo>
                <a:cubicBezTo>
                  <a:pt x="173428" y="152400"/>
                  <a:pt x="190500" y="169472"/>
                  <a:pt x="190500" y="190500"/>
                </a:cubicBezTo>
                <a:cubicBezTo>
                  <a:pt x="190500" y="211528"/>
                  <a:pt x="173428" y="228600"/>
                  <a:pt x="152400" y="228600"/>
                </a:cubicBezTo>
                <a:cubicBezTo>
                  <a:pt x="131372" y="228600"/>
                  <a:pt x="114300" y="211528"/>
                  <a:pt x="114300" y="190500"/>
                </a:cubicBezTo>
                <a:cubicBezTo>
                  <a:pt x="114300" y="169472"/>
                  <a:pt x="131372" y="152400"/>
                  <a:pt x="152400" y="152400"/>
                </a:cubicBezTo>
                <a:close/>
                <a:moveTo>
                  <a:pt x="314325" y="238125"/>
                </a:moveTo>
                <a:cubicBezTo>
                  <a:pt x="324445" y="238125"/>
                  <a:pt x="333851" y="243483"/>
                  <a:pt x="338971" y="252174"/>
                </a:cubicBezTo>
                <a:lnTo>
                  <a:pt x="434221" y="414099"/>
                </a:lnTo>
                <a:cubicBezTo>
                  <a:pt x="439460" y="422910"/>
                  <a:pt x="439460" y="433864"/>
                  <a:pt x="434340" y="442793"/>
                </a:cubicBezTo>
                <a:cubicBezTo>
                  <a:pt x="429220" y="451723"/>
                  <a:pt x="419814" y="457200"/>
                  <a:pt x="409575" y="457200"/>
                </a:cubicBezTo>
                <a:lnTo>
                  <a:pt x="123825" y="457200"/>
                </a:lnTo>
                <a:cubicBezTo>
                  <a:pt x="113228" y="457200"/>
                  <a:pt x="103346" y="451247"/>
                  <a:pt x="98465" y="441841"/>
                </a:cubicBezTo>
                <a:cubicBezTo>
                  <a:pt x="93583" y="432435"/>
                  <a:pt x="94298" y="421005"/>
                  <a:pt x="100370" y="412313"/>
                </a:cubicBezTo>
                <a:lnTo>
                  <a:pt x="167045" y="317063"/>
                </a:lnTo>
                <a:cubicBezTo>
                  <a:pt x="172403" y="309443"/>
                  <a:pt x="181094" y="304919"/>
                  <a:pt x="190500" y="304919"/>
                </a:cubicBezTo>
                <a:cubicBezTo>
                  <a:pt x="199906" y="304919"/>
                  <a:pt x="208597" y="309443"/>
                  <a:pt x="213955" y="317063"/>
                </a:cubicBezTo>
                <a:lnTo>
                  <a:pt x="234434" y="346353"/>
                </a:lnTo>
                <a:lnTo>
                  <a:pt x="289798" y="252293"/>
                </a:lnTo>
                <a:cubicBezTo>
                  <a:pt x="294918" y="243602"/>
                  <a:pt x="304324" y="238244"/>
                  <a:pt x="314444" y="238244"/>
                </a:cubicBezTo>
                <a:close/>
              </a:path>
            </a:pathLst>
          </a:custGeom>
          <a:solidFill>
            <a:srgbClr val="64748B"/>
          </a:solidFill>
          <a:ln/>
        </p:spPr>
      </p:sp>
      <p:sp>
        <p:nvSpPr>
          <p:cNvPr id="21" name="Text 19"/>
          <p:cNvSpPr/>
          <p:nvPr/>
        </p:nvSpPr>
        <p:spPr>
          <a:xfrm>
            <a:off x="4826000" y="6350000"/>
            <a:ext cx="6604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50000"/>
              </a:lnSpc>
            </a:pPr>
            <a:r>
              <a:rPr lang="en-US" sz="14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[Insert Screenshot: SHAP Force Plot / Waterfall Plot</a:t>
            </a:r>
            <a:endParaRPr lang="en-US" sz="1600" dirty="0"/>
          </a:p>
          <a:p>
            <a:pPr algn="ctr">
              <a:lnSpc>
                <a:spcPct val="150000"/>
              </a:lnSpc>
            </a:pPr>
            <a:r>
              <a:rPr lang="en-US" sz="14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for Sample Student]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4986000" y="87630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200" dirty="0">
                <a:solidFill>
                  <a:srgbClr val="64748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22</a:t>
            </a:r>
            <a:endParaRPr lang="en-US" sz="1200" dirty="0"/>
          </a:p>
        </p:txBody>
      </p:sp>
    </p:spTree>
  </p:cSld>
  <p:clrMapOvr>
    <a:masterClrMapping/>
  </p:clrMapOvr>
  <p:transition>
    <p:fade/>
    <p:spd val="med"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2286000"/>
            <a:ext cx="2540000" cy="1143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7200" b="1" dirty="0">
                <a:solidFill>
                  <a:srgbClr val="D9770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05</a:t>
            </a:r>
            <a:endParaRPr lang="en-US" sz="1600" dirty="0"/>
          </a:p>
        </p:txBody>
      </p:sp>
      <p:sp>
        <p:nvSpPr>
          <p:cNvPr id="3" name="Shape 1"/>
          <p:cNvSpPr/>
          <p:nvPr/>
        </p:nvSpPr>
        <p:spPr>
          <a:xfrm>
            <a:off x="762000" y="3619500"/>
            <a:ext cx="1270000" cy="3810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4" name="Text 2"/>
          <p:cNvSpPr/>
          <p:nvPr/>
        </p:nvSpPr>
        <p:spPr>
          <a:xfrm>
            <a:off x="762000" y="3873500"/>
            <a:ext cx="889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600" b="1" spc="200" kern="0" dirty="0">
                <a:solidFill>
                  <a:srgbClr val="F8FAF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SYSTEM IMPLEMENTATION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62000" y="4699000"/>
            <a:ext cx="889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Architecture, tech stack, and core components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AFA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45720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Text 1"/>
          <p:cNvSpPr/>
          <p:nvPr/>
        </p:nvSpPr>
        <p:spPr>
          <a:xfrm>
            <a:off x="0" y="0"/>
            <a:ext cx="27051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spc="100" kern="0" dirty="0">
                <a:solidFill>
                  <a:srgbClr val="F8FAF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INTRODUCTION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2705100" y="0"/>
            <a:ext cx="27051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spc="100" kern="0" dirty="0">
                <a:solidFill>
                  <a:srgbClr val="F8FAF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LITERATURE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10200" y="0"/>
            <a:ext cx="27178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spc="100" kern="0" dirty="0">
                <a:solidFill>
                  <a:srgbClr val="F8FAF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METHODOLOGY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128000" y="0"/>
            <a:ext cx="27051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spc="100" kern="0" dirty="0">
                <a:solidFill>
                  <a:srgbClr val="F8FAF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XAI RESULTS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0833100" y="0"/>
            <a:ext cx="27178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b="1" spc="100" kern="0" dirty="0">
                <a:solidFill>
                  <a:srgbClr val="D9770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IMPLEMENTATION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3550900" y="0"/>
            <a:ext cx="27051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spc="100" kern="0" dirty="0">
                <a:solidFill>
                  <a:srgbClr val="F8FAF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DEMONSTRATION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62000" y="660400"/>
            <a:ext cx="8890000" cy="482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b="1" dirty="0">
                <a:solidFill>
                  <a:srgbClr val="1E293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System Architecture Overview</a:t>
            </a:r>
            <a:endParaRPr lang="en-US" sz="2800" dirty="0"/>
          </a:p>
        </p:txBody>
      </p:sp>
      <p:sp>
        <p:nvSpPr>
          <p:cNvPr id="10" name="Shape 8"/>
          <p:cNvSpPr/>
          <p:nvPr/>
        </p:nvSpPr>
        <p:spPr>
          <a:xfrm>
            <a:off x="762000" y="1206500"/>
            <a:ext cx="762000" cy="3810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11" name="Text 9"/>
          <p:cNvSpPr/>
          <p:nvPr/>
        </p:nvSpPr>
        <p:spPr>
          <a:xfrm>
            <a:off x="762000" y="1460500"/>
            <a:ext cx="7366000" cy="292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800" dirty="0">
                <a:solidFill>
                  <a:srgbClr val="D9770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■</a:t>
            </a:r>
            <a:pPr>
              <a:lnSpc>
                <a:spcPct val="150000"/>
              </a:lnSpc>
            </a:pPr>
            <a:r>
              <a:rPr lang="en-US" sz="1800" dirty="0">
                <a:solidFill>
                  <a:srgbClr val="0F172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</a:t>
            </a:r>
            <a:pPr>
              <a:lnSpc>
                <a:spcPct val="150000"/>
              </a:lnSpc>
            </a:pPr>
            <a:r>
              <a:rPr lang="en-US" sz="1800" b="1" dirty="0">
                <a:solidFill>
                  <a:srgbClr val="0F172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Three-tier architecture:</a:t>
            </a:r>
            <a:pPr>
              <a:lnSpc>
                <a:spcPct val="150000"/>
              </a:lnSpc>
            </a:pPr>
            <a:r>
              <a:rPr lang="en-US" sz="1800" dirty="0">
                <a:solidFill>
                  <a:srgbClr val="0F172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React Frontend → FastAPI Backend → MongoDB + ML Services</a:t>
            </a:r>
            <a:endParaRPr lang="en-US" sz="1800" dirty="0"/>
          </a:p>
          <a:p>
            <a:pPr>
              <a:lnSpc>
                <a:spcPct val="150000"/>
              </a:lnSpc>
              <a:spcBef>
                <a:spcPts val="1000"/>
              </a:spcBef>
            </a:pPr>
            <a:r>
              <a:rPr lang="en-US" sz="1800" dirty="0">
                <a:solidFill>
                  <a:srgbClr val="D9770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■</a:t>
            </a:r>
            <a:pPr>
              <a:lnSpc>
                <a:spcPct val="150000"/>
              </a:lnSpc>
              <a:spcBef>
                <a:spcPts val="1000"/>
              </a:spcBef>
            </a:pPr>
            <a:r>
              <a:rPr lang="en-US" sz="1800" dirty="0">
                <a:solidFill>
                  <a:srgbClr val="0F172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</a:t>
            </a:r>
            <a:pPr>
              <a:lnSpc>
                <a:spcPct val="150000"/>
              </a:lnSpc>
              <a:spcBef>
                <a:spcPts val="1000"/>
              </a:spcBef>
            </a:pPr>
            <a:r>
              <a:rPr lang="en-US" sz="1800" b="1" dirty="0">
                <a:solidFill>
                  <a:srgbClr val="0F172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Microservices:</a:t>
            </a:r>
            <a:pPr>
              <a:lnSpc>
                <a:spcPct val="150000"/>
              </a:lnSpc>
              <a:spcBef>
                <a:spcPts val="1000"/>
              </a:spcBef>
            </a:pPr>
            <a:r>
              <a:rPr lang="en-US" sz="1800" dirty="0">
                <a:solidFill>
                  <a:srgbClr val="0F172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Auth, Prediction Engine, SHAP Explainer, STT/TTS, CV Analysis, RAG</a:t>
            </a:r>
            <a:endParaRPr lang="en-US" sz="1800" dirty="0"/>
          </a:p>
          <a:p>
            <a:pPr>
              <a:lnSpc>
                <a:spcPct val="150000"/>
              </a:lnSpc>
              <a:spcBef>
                <a:spcPts val="1000"/>
              </a:spcBef>
            </a:pPr>
            <a:r>
              <a:rPr lang="en-US" sz="1800" dirty="0">
                <a:solidFill>
                  <a:srgbClr val="D9770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■</a:t>
            </a:r>
            <a:pPr>
              <a:lnSpc>
                <a:spcPct val="150000"/>
              </a:lnSpc>
              <a:spcBef>
                <a:spcPts val="1000"/>
              </a:spcBef>
            </a:pPr>
            <a:r>
              <a:rPr lang="en-US" sz="1800" dirty="0">
                <a:solidFill>
                  <a:srgbClr val="0F172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</a:t>
            </a:r>
            <a:pPr>
              <a:lnSpc>
                <a:spcPct val="150000"/>
              </a:lnSpc>
              <a:spcBef>
                <a:spcPts val="1000"/>
              </a:spcBef>
            </a:pPr>
            <a:r>
              <a:rPr lang="en-US" sz="1800" b="1" dirty="0">
                <a:solidFill>
                  <a:srgbClr val="0F172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RESTful API</a:t>
            </a:r>
            <a:pPr>
              <a:lnSpc>
                <a:spcPct val="150000"/>
              </a:lnSpc>
              <a:spcBef>
                <a:spcPts val="1000"/>
              </a:spcBef>
            </a:pPr>
            <a:r>
              <a:rPr lang="en-US" sz="1800" dirty="0">
                <a:solidFill>
                  <a:srgbClr val="0F172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design with async processing for real-time features</a:t>
            </a:r>
            <a:endParaRPr lang="en-US" sz="1800" dirty="0"/>
          </a:p>
          <a:p>
            <a:pPr>
              <a:lnSpc>
                <a:spcPct val="150000"/>
              </a:lnSpc>
              <a:spcBef>
                <a:spcPts val="1000"/>
              </a:spcBef>
            </a:pPr>
            <a:r>
              <a:rPr lang="en-US" sz="1800" dirty="0">
                <a:solidFill>
                  <a:srgbClr val="D9770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■</a:t>
            </a:r>
            <a:pPr>
              <a:lnSpc>
                <a:spcPct val="150000"/>
              </a:lnSpc>
              <a:spcBef>
                <a:spcPts val="1000"/>
              </a:spcBef>
            </a:pPr>
            <a:r>
              <a:rPr lang="en-US" sz="1800" dirty="0">
                <a:solidFill>
                  <a:srgbClr val="0F172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</a:t>
            </a:r>
            <a:pPr>
              <a:lnSpc>
                <a:spcPct val="150000"/>
              </a:lnSpc>
              <a:spcBef>
                <a:spcPts val="1000"/>
              </a:spcBef>
            </a:pPr>
            <a:r>
              <a:rPr lang="en-US" sz="1800" b="1" dirty="0">
                <a:solidFill>
                  <a:srgbClr val="0F172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Containerized deployment</a:t>
            </a:r>
            <a:pPr>
              <a:lnSpc>
                <a:spcPct val="150000"/>
              </a:lnSpc>
              <a:spcBef>
                <a:spcPts val="1000"/>
              </a:spcBef>
            </a:pPr>
            <a:r>
              <a:rPr lang="en-US" sz="1800" dirty="0">
                <a:solidFill>
                  <a:srgbClr val="0F172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ready for cloud scaling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762000" y="4699000"/>
            <a:ext cx="4572000" cy="889000"/>
          </a:xfrm>
          <a:prstGeom prst="roundRect">
            <a:avLst>
              <a:gd name="adj" fmla="val 8000"/>
            </a:avLst>
          </a:prstGeom>
          <a:solidFill>
            <a:srgbClr val="3B82F6"/>
          </a:solidFill>
          <a:ln/>
        </p:spPr>
      </p:sp>
      <p:sp>
        <p:nvSpPr>
          <p:cNvPr id="13" name="Text 11"/>
          <p:cNvSpPr/>
          <p:nvPr/>
        </p:nvSpPr>
        <p:spPr>
          <a:xfrm>
            <a:off x="952500" y="4800600"/>
            <a:ext cx="4191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1400" b="1" dirty="0">
                <a:solidFill>
                  <a:srgbClr val="F8FAF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PRESENTATION TIER</a:t>
            </a:r>
            <a:endParaRPr lang="en-US" sz="1600" dirty="0"/>
          </a:p>
          <a:p>
            <a:pPr algn="ctr">
              <a:lnSpc>
                <a:spcPct val="140000"/>
              </a:lnSpc>
            </a:pPr>
            <a:r>
              <a:rPr lang="en-US" sz="1400" dirty="0">
                <a:solidFill>
                  <a:srgbClr val="F8FAF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React 19 + Vite + Tailwind CSS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3048000" y="5562600"/>
            <a:ext cx="0" cy="317500"/>
          </a:xfrm>
          <a:prstGeom prst="straightConnector1">
            <a:avLst/>
          </a:prstGeom>
          <a:noFill/>
          <a:ln w="25400">
            <a:solidFill>
              <a:srgbClr val="D97706"/>
            </a:solidFill>
            <a:prstDash val="solid"/>
            <a:headEnd type="none"/>
            <a:tailEnd type="arrow"/>
          </a:ln>
        </p:spPr>
      </p:sp>
      <p:sp>
        <p:nvSpPr>
          <p:cNvPr id="15" name="Shape 13"/>
          <p:cNvSpPr/>
          <p:nvPr/>
        </p:nvSpPr>
        <p:spPr>
          <a:xfrm>
            <a:off x="762000" y="5905500"/>
            <a:ext cx="4572000" cy="889000"/>
          </a:xfrm>
          <a:prstGeom prst="roundRect">
            <a:avLst>
              <a:gd name="adj" fmla="val 8000"/>
            </a:avLst>
          </a:prstGeom>
          <a:solidFill>
            <a:srgbClr val="D97706"/>
          </a:solidFill>
          <a:ln/>
        </p:spPr>
      </p:sp>
      <p:sp>
        <p:nvSpPr>
          <p:cNvPr id="16" name="Text 14"/>
          <p:cNvSpPr/>
          <p:nvPr/>
        </p:nvSpPr>
        <p:spPr>
          <a:xfrm>
            <a:off x="952500" y="5930900"/>
            <a:ext cx="4191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1400" b="1" dirty="0">
                <a:solidFill>
                  <a:srgbClr val="F8FAF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APPLICATION TIER</a:t>
            </a:r>
            <a:endParaRPr lang="en-US" sz="1600" dirty="0"/>
          </a:p>
          <a:p>
            <a:pPr algn="ctr">
              <a:lnSpc>
                <a:spcPct val="140000"/>
              </a:lnSpc>
            </a:pPr>
            <a:r>
              <a:rPr lang="en-US" sz="1400" dirty="0">
                <a:solidFill>
                  <a:srgbClr val="F8FAF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FastAPI + Microservices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3048000" y="6667500"/>
            <a:ext cx="0" cy="317500"/>
          </a:xfrm>
          <a:prstGeom prst="straightConnector1">
            <a:avLst/>
          </a:prstGeom>
          <a:noFill/>
          <a:ln w="25400">
            <a:solidFill>
              <a:srgbClr val="D97706"/>
            </a:solidFill>
            <a:prstDash val="solid"/>
            <a:headEnd type="none"/>
            <a:tailEnd type="arrow"/>
          </a:ln>
        </p:spPr>
      </p:sp>
      <p:sp>
        <p:nvSpPr>
          <p:cNvPr id="18" name="Shape 16"/>
          <p:cNvSpPr/>
          <p:nvPr/>
        </p:nvSpPr>
        <p:spPr>
          <a:xfrm>
            <a:off x="762000" y="6985000"/>
            <a:ext cx="4572000" cy="88900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/>
        </p:spPr>
      </p:sp>
      <p:sp>
        <p:nvSpPr>
          <p:cNvPr id="19" name="Text 17"/>
          <p:cNvSpPr/>
          <p:nvPr/>
        </p:nvSpPr>
        <p:spPr>
          <a:xfrm>
            <a:off x="952500" y="7086600"/>
            <a:ext cx="4191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1400" b="1" dirty="0">
                <a:solidFill>
                  <a:srgbClr val="F8FAF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DATA TIER</a:t>
            </a:r>
            <a:endParaRPr lang="en-US" sz="1600" dirty="0"/>
          </a:p>
          <a:p>
            <a:pPr algn="ctr">
              <a:lnSpc>
                <a:spcPct val="140000"/>
              </a:lnSpc>
            </a:pPr>
            <a:r>
              <a:rPr lang="en-US" sz="1400" dirty="0">
                <a:solidFill>
                  <a:srgbClr val="F8FAF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MongoDB + Joblib Model Store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096000" y="4699000"/>
            <a:ext cx="381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b="1" spc="100" kern="0" dirty="0">
                <a:solidFill>
                  <a:srgbClr val="D9770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MICROSERVICES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6096000" y="5143500"/>
            <a:ext cx="2159000" cy="6350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159500" y="5207000"/>
            <a:ext cx="2032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300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Auth Service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8445500" y="5143500"/>
            <a:ext cx="2159000" cy="6350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509000" y="5207000"/>
            <a:ext cx="2032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300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ML Predictor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10795000" y="5143500"/>
            <a:ext cx="2159000" cy="6350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0858500" y="5207000"/>
            <a:ext cx="2032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300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SHAP Engine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13144500" y="5143500"/>
            <a:ext cx="2349500" cy="6350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3208000" y="5207000"/>
            <a:ext cx="22225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300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STT/TTS Service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6096000" y="5969000"/>
            <a:ext cx="2159000" cy="6350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159500" y="6032500"/>
            <a:ext cx="2032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300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CV Analysis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8445500" y="5969000"/>
            <a:ext cx="2159000" cy="6350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509000" y="6032500"/>
            <a:ext cx="2032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300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RAG Service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10795000" y="5969000"/>
            <a:ext cx="4699000" cy="6350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0858500" y="6032500"/>
            <a:ext cx="4572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300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Roadmap Generator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6096000" y="6921500"/>
            <a:ext cx="9398000" cy="1270000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6" name="Shape 34"/>
          <p:cNvSpPr/>
          <p:nvPr/>
        </p:nvSpPr>
        <p:spPr>
          <a:xfrm>
            <a:off x="10645775" y="7175500"/>
            <a:ext cx="400050" cy="457200"/>
          </a:xfrm>
          <a:custGeom>
            <a:avLst/>
            <a:gdLst/>
            <a:ahLst/>
            <a:cxnLst/>
            <a:rect l="l" t="t" r="r" b="b"/>
            <a:pathLst>
              <a:path w="400050" h="457200">
                <a:moveTo>
                  <a:pt x="57150" y="71438"/>
                </a:moveTo>
                <a:cubicBezTo>
                  <a:pt x="49292" y="71438"/>
                  <a:pt x="42863" y="77867"/>
                  <a:pt x="42863" y="85725"/>
                </a:cubicBezTo>
                <a:lnTo>
                  <a:pt x="42863" y="371475"/>
                </a:lnTo>
                <a:cubicBezTo>
                  <a:pt x="42863" y="379333"/>
                  <a:pt x="49292" y="385763"/>
                  <a:pt x="57150" y="385763"/>
                </a:cubicBezTo>
                <a:lnTo>
                  <a:pt x="342900" y="385763"/>
                </a:lnTo>
                <a:cubicBezTo>
                  <a:pt x="350758" y="385763"/>
                  <a:pt x="357188" y="379333"/>
                  <a:pt x="357188" y="371475"/>
                </a:cubicBezTo>
                <a:lnTo>
                  <a:pt x="357188" y="85725"/>
                </a:lnTo>
                <a:cubicBezTo>
                  <a:pt x="357188" y="77867"/>
                  <a:pt x="350758" y="71438"/>
                  <a:pt x="342900" y="71438"/>
                </a:cubicBezTo>
                <a:lnTo>
                  <a:pt x="57150" y="71438"/>
                </a:lnTo>
                <a:close/>
                <a:moveTo>
                  <a:pt x="0" y="85725"/>
                </a:moveTo>
                <a:cubicBezTo>
                  <a:pt x="0" y="54203"/>
                  <a:pt x="25628" y="28575"/>
                  <a:pt x="57150" y="28575"/>
                </a:cubicBezTo>
                <a:lnTo>
                  <a:pt x="342900" y="28575"/>
                </a:lnTo>
                <a:cubicBezTo>
                  <a:pt x="374422" y="28575"/>
                  <a:pt x="400050" y="54203"/>
                  <a:pt x="400050" y="85725"/>
                </a:cubicBezTo>
                <a:lnTo>
                  <a:pt x="400050" y="371475"/>
                </a:lnTo>
                <a:cubicBezTo>
                  <a:pt x="400050" y="402997"/>
                  <a:pt x="374422" y="428625"/>
                  <a:pt x="342900" y="428625"/>
                </a:cubicBezTo>
                <a:lnTo>
                  <a:pt x="57150" y="428625"/>
                </a:lnTo>
                <a:cubicBezTo>
                  <a:pt x="25628" y="428625"/>
                  <a:pt x="0" y="402997"/>
                  <a:pt x="0" y="371475"/>
                </a:cubicBezTo>
                <a:lnTo>
                  <a:pt x="0" y="85725"/>
                </a:lnTo>
                <a:close/>
                <a:moveTo>
                  <a:pt x="114300" y="114300"/>
                </a:moveTo>
                <a:cubicBezTo>
                  <a:pt x="130071" y="114300"/>
                  <a:pt x="142875" y="127104"/>
                  <a:pt x="142875" y="142875"/>
                </a:cubicBezTo>
                <a:cubicBezTo>
                  <a:pt x="142875" y="158646"/>
                  <a:pt x="130071" y="171450"/>
                  <a:pt x="114300" y="171450"/>
                </a:cubicBezTo>
                <a:cubicBezTo>
                  <a:pt x="98529" y="171450"/>
                  <a:pt x="85725" y="158646"/>
                  <a:pt x="85725" y="142875"/>
                </a:cubicBezTo>
                <a:cubicBezTo>
                  <a:pt x="85725" y="127104"/>
                  <a:pt x="98529" y="114300"/>
                  <a:pt x="114300" y="114300"/>
                </a:cubicBezTo>
                <a:close/>
                <a:moveTo>
                  <a:pt x="235744" y="178594"/>
                </a:moveTo>
                <a:cubicBezTo>
                  <a:pt x="243334" y="178594"/>
                  <a:pt x="250388" y="182612"/>
                  <a:pt x="254228" y="189131"/>
                </a:cubicBezTo>
                <a:lnTo>
                  <a:pt x="325666" y="310575"/>
                </a:lnTo>
                <a:cubicBezTo>
                  <a:pt x="329595" y="317183"/>
                  <a:pt x="329595" y="325398"/>
                  <a:pt x="325755" y="332095"/>
                </a:cubicBezTo>
                <a:cubicBezTo>
                  <a:pt x="321915" y="338792"/>
                  <a:pt x="314861" y="342900"/>
                  <a:pt x="307181" y="342900"/>
                </a:cubicBezTo>
                <a:lnTo>
                  <a:pt x="92869" y="342900"/>
                </a:lnTo>
                <a:cubicBezTo>
                  <a:pt x="84921" y="342900"/>
                  <a:pt x="77510" y="338435"/>
                  <a:pt x="73849" y="331381"/>
                </a:cubicBezTo>
                <a:cubicBezTo>
                  <a:pt x="70187" y="324326"/>
                  <a:pt x="70723" y="315754"/>
                  <a:pt x="75277" y="309235"/>
                </a:cubicBezTo>
                <a:lnTo>
                  <a:pt x="125284" y="237798"/>
                </a:lnTo>
                <a:cubicBezTo>
                  <a:pt x="129302" y="232083"/>
                  <a:pt x="135821" y="228689"/>
                  <a:pt x="142875" y="228689"/>
                </a:cubicBezTo>
                <a:cubicBezTo>
                  <a:pt x="149929" y="228689"/>
                  <a:pt x="156448" y="232083"/>
                  <a:pt x="160466" y="237798"/>
                </a:cubicBezTo>
                <a:lnTo>
                  <a:pt x="175826" y="259765"/>
                </a:lnTo>
                <a:lnTo>
                  <a:pt x="217349" y="189220"/>
                </a:lnTo>
                <a:cubicBezTo>
                  <a:pt x="221188" y="182701"/>
                  <a:pt x="228243" y="178683"/>
                  <a:pt x="235833" y="178683"/>
                </a:cubicBezTo>
                <a:close/>
              </a:path>
            </a:pathLst>
          </a:custGeom>
          <a:solidFill>
            <a:srgbClr val="64748B"/>
          </a:solidFill>
          <a:ln/>
        </p:spPr>
      </p:sp>
      <p:sp>
        <p:nvSpPr>
          <p:cNvPr id="37" name="Text 35"/>
          <p:cNvSpPr/>
          <p:nvPr/>
        </p:nvSpPr>
        <p:spPr>
          <a:xfrm>
            <a:off x="7366000" y="7683500"/>
            <a:ext cx="6858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3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[Insert Diagram: Detailed System Architecture Diagram / High-Level DFD]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14986000" y="87630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200" dirty="0">
                <a:solidFill>
                  <a:srgbClr val="64748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24</a:t>
            </a:r>
            <a:endParaRPr lang="en-US" sz="1200" dirty="0"/>
          </a:p>
        </p:txBody>
      </p:sp>
    </p:spTree>
  </p:cSld>
  <p:clrMapOvr>
    <a:masterClrMapping/>
  </p:clrMapOvr>
  <p:transition>
    <p:fade/>
    <p:spd val="med"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AFA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45720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Text 1"/>
          <p:cNvSpPr/>
          <p:nvPr/>
        </p:nvSpPr>
        <p:spPr>
          <a:xfrm>
            <a:off x="0" y="0"/>
            <a:ext cx="27051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spc="100" kern="0" dirty="0">
                <a:solidFill>
                  <a:srgbClr val="F8FAF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INTRODUCTION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2705100" y="0"/>
            <a:ext cx="27051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spc="100" kern="0" dirty="0">
                <a:solidFill>
                  <a:srgbClr val="F8FAF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LITERATURE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10200" y="0"/>
            <a:ext cx="27178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spc="100" kern="0" dirty="0">
                <a:solidFill>
                  <a:srgbClr val="F8FAF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METHODOLOGY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128000" y="0"/>
            <a:ext cx="27051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spc="100" kern="0" dirty="0">
                <a:solidFill>
                  <a:srgbClr val="F8FAF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XAI RESULTS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0833100" y="0"/>
            <a:ext cx="27178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b="1" spc="100" kern="0" dirty="0">
                <a:solidFill>
                  <a:srgbClr val="D9770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IMPLEMENTATION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3550900" y="0"/>
            <a:ext cx="27051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spc="100" kern="0" dirty="0">
                <a:solidFill>
                  <a:srgbClr val="F8FAF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DEMONSTRATION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62000" y="660400"/>
            <a:ext cx="7620000" cy="482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b="1" dirty="0">
                <a:solidFill>
                  <a:srgbClr val="1E293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Tech Stack: Frontend</a:t>
            </a:r>
            <a:endParaRPr lang="en-US" sz="2800" dirty="0"/>
          </a:p>
        </p:txBody>
      </p:sp>
      <p:sp>
        <p:nvSpPr>
          <p:cNvPr id="10" name="Shape 8"/>
          <p:cNvSpPr/>
          <p:nvPr/>
        </p:nvSpPr>
        <p:spPr>
          <a:xfrm>
            <a:off x="762000" y="1206500"/>
            <a:ext cx="762000" cy="3810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11" name="Shape 9"/>
          <p:cNvSpPr/>
          <p:nvPr/>
        </p:nvSpPr>
        <p:spPr>
          <a:xfrm>
            <a:off x="762000" y="1524000"/>
            <a:ext cx="7112000" cy="15240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079500" y="18796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373440" y="158234"/>
                </a:moveTo>
                <a:cubicBezTo>
                  <a:pt x="368618" y="156627"/>
                  <a:pt x="363795" y="155109"/>
                  <a:pt x="358973" y="153680"/>
                </a:cubicBezTo>
                <a:cubicBezTo>
                  <a:pt x="359777" y="150376"/>
                  <a:pt x="360491" y="147072"/>
                  <a:pt x="361206" y="143768"/>
                </a:cubicBezTo>
                <a:cubicBezTo>
                  <a:pt x="372189" y="90547"/>
                  <a:pt x="364956" y="47774"/>
                  <a:pt x="340578" y="33665"/>
                </a:cubicBezTo>
                <a:cubicBezTo>
                  <a:pt x="317093" y="20181"/>
                  <a:pt x="278785" y="34201"/>
                  <a:pt x="240030" y="67955"/>
                </a:cubicBezTo>
                <a:cubicBezTo>
                  <a:pt x="236190" y="71259"/>
                  <a:pt x="232440" y="74741"/>
                  <a:pt x="228868" y="78224"/>
                </a:cubicBezTo>
                <a:cubicBezTo>
                  <a:pt x="226457" y="75902"/>
                  <a:pt x="223957" y="73581"/>
                  <a:pt x="221456" y="71348"/>
                </a:cubicBezTo>
                <a:cubicBezTo>
                  <a:pt x="180826" y="35272"/>
                  <a:pt x="140107" y="20092"/>
                  <a:pt x="115729" y="34290"/>
                </a:cubicBezTo>
                <a:cubicBezTo>
                  <a:pt x="92333" y="47863"/>
                  <a:pt x="85368" y="88136"/>
                  <a:pt x="95190" y="138499"/>
                </a:cubicBezTo>
                <a:cubicBezTo>
                  <a:pt x="96173" y="143500"/>
                  <a:pt x="97244" y="148411"/>
                  <a:pt x="98494" y="153412"/>
                </a:cubicBezTo>
                <a:cubicBezTo>
                  <a:pt x="92779" y="155019"/>
                  <a:pt x="87154" y="156805"/>
                  <a:pt x="81885" y="158681"/>
                </a:cubicBezTo>
                <a:cubicBezTo>
                  <a:pt x="34201" y="175200"/>
                  <a:pt x="0" y="201275"/>
                  <a:pt x="0" y="228243"/>
                </a:cubicBezTo>
                <a:cubicBezTo>
                  <a:pt x="0" y="256103"/>
                  <a:pt x="36433" y="284053"/>
                  <a:pt x="85993" y="301020"/>
                </a:cubicBezTo>
                <a:cubicBezTo>
                  <a:pt x="90011" y="302359"/>
                  <a:pt x="94030" y="303699"/>
                  <a:pt x="98137" y="304860"/>
                </a:cubicBezTo>
                <a:cubicBezTo>
                  <a:pt x="96798" y="310217"/>
                  <a:pt x="95637" y="315486"/>
                  <a:pt x="94565" y="320933"/>
                </a:cubicBezTo>
                <a:cubicBezTo>
                  <a:pt x="85189" y="370493"/>
                  <a:pt x="92512" y="409783"/>
                  <a:pt x="115907" y="423267"/>
                </a:cubicBezTo>
                <a:cubicBezTo>
                  <a:pt x="140017" y="437198"/>
                  <a:pt x="180558" y="422910"/>
                  <a:pt x="220027" y="388352"/>
                </a:cubicBezTo>
                <a:cubicBezTo>
                  <a:pt x="223153" y="385584"/>
                  <a:pt x="226278" y="382726"/>
                  <a:pt x="229404" y="379690"/>
                </a:cubicBezTo>
                <a:cubicBezTo>
                  <a:pt x="233333" y="383530"/>
                  <a:pt x="237440" y="387191"/>
                  <a:pt x="241548" y="390763"/>
                </a:cubicBezTo>
                <a:cubicBezTo>
                  <a:pt x="279767" y="423624"/>
                  <a:pt x="317540" y="436930"/>
                  <a:pt x="340846" y="423446"/>
                </a:cubicBezTo>
                <a:cubicBezTo>
                  <a:pt x="364956" y="409515"/>
                  <a:pt x="372814" y="367278"/>
                  <a:pt x="362635" y="315843"/>
                </a:cubicBezTo>
                <a:cubicBezTo>
                  <a:pt x="361831" y="311914"/>
                  <a:pt x="360938" y="307896"/>
                  <a:pt x="359956" y="303788"/>
                </a:cubicBezTo>
                <a:cubicBezTo>
                  <a:pt x="362813" y="302984"/>
                  <a:pt x="365581" y="302091"/>
                  <a:pt x="368350" y="301198"/>
                </a:cubicBezTo>
                <a:cubicBezTo>
                  <a:pt x="419874" y="284143"/>
                  <a:pt x="457200" y="256550"/>
                  <a:pt x="457200" y="228243"/>
                </a:cubicBezTo>
                <a:cubicBezTo>
                  <a:pt x="457200" y="201186"/>
                  <a:pt x="422017" y="174933"/>
                  <a:pt x="373440" y="158234"/>
                </a:cubicBezTo>
                <a:close/>
                <a:moveTo>
                  <a:pt x="252621" y="82421"/>
                </a:moveTo>
                <a:cubicBezTo>
                  <a:pt x="285839" y="53489"/>
                  <a:pt x="316825" y="42148"/>
                  <a:pt x="330934" y="50274"/>
                </a:cubicBezTo>
                <a:cubicBezTo>
                  <a:pt x="346025" y="58936"/>
                  <a:pt x="351830" y="93940"/>
                  <a:pt x="342364" y="139928"/>
                </a:cubicBezTo>
                <a:cubicBezTo>
                  <a:pt x="341739" y="142964"/>
                  <a:pt x="341114" y="145911"/>
                  <a:pt x="340310" y="148858"/>
                </a:cubicBezTo>
                <a:cubicBezTo>
                  <a:pt x="320486" y="144393"/>
                  <a:pt x="300395" y="141178"/>
                  <a:pt x="280214" y="139392"/>
                </a:cubicBezTo>
                <a:cubicBezTo>
                  <a:pt x="268605" y="122783"/>
                  <a:pt x="255925" y="106888"/>
                  <a:pt x="242173" y="91976"/>
                </a:cubicBezTo>
                <a:cubicBezTo>
                  <a:pt x="245656" y="88672"/>
                  <a:pt x="249049" y="85546"/>
                  <a:pt x="252621" y="82421"/>
                </a:cubicBezTo>
                <a:close/>
                <a:moveTo>
                  <a:pt x="149304" y="274588"/>
                </a:moveTo>
                <a:cubicBezTo>
                  <a:pt x="153859" y="282357"/>
                  <a:pt x="158502" y="290126"/>
                  <a:pt x="163413" y="297716"/>
                </a:cubicBezTo>
                <a:cubicBezTo>
                  <a:pt x="149483" y="296198"/>
                  <a:pt x="135642" y="293965"/>
                  <a:pt x="121980" y="291019"/>
                </a:cubicBezTo>
                <a:cubicBezTo>
                  <a:pt x="125909" y="278160"/>
                  <a:pt x="130820" y="264855"/>
                  <a:pt x="136535" y="251281"/>
                </a:cubicBezTo>
                <a:cubicBezTo>
                  <a:pt x="140643" y="259140"/>
                  <a:pt x="144840" y="266908"/>
                  <a:pt x="149304" y="274588"/>
                </a:cubicBezTo>
                <a:close/>
                <a:moveTo>
                  <a:pt x="122247" y="167164"/>
                </a:moveTo>
                <a:cubicBezTo>
                  <a:pt x="135106" y="164306"/>
                  <a:pt x="148769" y="161985"/>
                  <a:pt x="162967" y="160199"/>
                </a:cubicBezTo>
                <a:cubicBezTo>
                  <a:pt x="158234" y="167610"/>
                  <a:pt x="153591" y="175200"/>
                  <a:pt x="149215" y="182880"/>
                </a:cubicBezTo>
                <a:cubicBezTo>
                  <a:pt x="144840" y="190470"/>
                  <a:pt x="140553" y="198239"/>
                  <a:pt x="136535" y="206097"/>
                </a:cubicBezTo>
                <a:cubicBezTo>
                  <a:pt x="130909" y="192792"/>
                  <a:pt x="126176" y="179755"/>
                  <a:pt x="122247" y="167164"/>
                </a:cubicBezTo>
                <a:close/>
                <a:moveTo>
                  <a:pt x="146715" y="228689"/>
                </a:moveTo>
                <a:cubicBezTo>
                  <a:pt x="152608" y="216366"/>
                  <a:pt x="159038" y="204311"/>
                  <a:pt x="165824" y="192435"/>
                </a:cubicBezTo>
                <a:cubicBezTo>
                  <a:pt x="172611" y="180558"/>
                  <a:pt x="179933" y="169039"/>
                  <a:pt x="187613" y="157698"/>
                </a:cubicBezTo>
                <a:cubicBezTo>
                  <a:pt x="201007" y="156716"/>
                  <a:pt x="214670" y="156180"/>
                  <a:pt x="228600" y="156180"/>
                </a:cubicBezTo>
                <a:cubicBezTo>
                  <a:pt x="242530" y="156180"/>
                  <a:pt x="256282" y="156716"/>
                  <a:pt x="269587" y="157698"/>
                </a:cubicBezTo>
                <a:cubicBezTo>
                  <a:pt x="277178" y="168950"/>
                  <a:pt x="284411" y="180469"/>
                  <a:pt x="291286" y="192256"/>
                </a:cubicBezTo>
                <a:cubicBezTo>
                  <a:pt x="298162" y="204043"/>
                  <a:pt x="304592" y="216098"/>
                  <a:pt x="310664" y="228332"/>
                </a:cubicBezTo>
                <a:cubicBezTo>
                  <a:pt x="304681" y="240655"/>
                  <a:pt x="298252" y="252799"/>
                  <a:pt x="291376" y="264765"/>
                </a:cubicBezTo>
                <a:cubicBezTo>
                  <a:pt x="284589" y="276642"/>
                  <a:pt x="277356" y="288161"/>
                  <a:pt x="269766" y="299591"/>
                </a:cubicBezTo>
                <a:cubicBezTo>
                  <a:pt x="256461" y="300573"/>
                  <a:pt x="242620" y="301020"/>
                  <a:pt x="228600" y="301020"/>
                </a:cubicBezTo>
                <a:cubicBezTo>
                  <a:pt x="214580" y="301020"/>
                  <a:pt x="201007" y="300573"/>
                  <a:pt x="187881" y="299770"/>
                </a:cubicBezTo>
                <a:cubicBezTo>
                  <a:pt x="180112" y="288429"/>
                  <a:pt x="172789" y="276820"/>
                  <a:pt x="165914" y="264944"/>
                </a:cubicBezTo>
                <a:cubicBezTo>
                  <a:pt x="159038" y="253067"/>
                  <a:pt x="152698" y="241012"/>
                  <a:pt x="146715" y="228689"/>
                </a:cubicBezTo>
                <a:close/>
                <a:moveTo>
                  <a:pt x="307985" y="274409"/>
                </a:moveTo>
                <a:cubicBezTo>
                  <a:pt x="312539" y="266551"/>
                  <a:pt x="316825" y="258604"/>
                  <a:pt x="321022" y="250567"/>
                </a:cubicBezTo>
                <a:cubicBezTo>
                  <a:pt x="326737" y="263515"/>
                  <a:pt x="331738" y="276642"/>
                  <a:pt x="336113" y="290126"/>
                </a:cubicBezTo>
                <a:cubicBezTo>
                  <a:pt x="322272" y="293251"/>
                  <a:pt x="308253" y="295662"/>
                  <a:pt x="294144" y="297269"/>
                </a:cubicBezTo>
                <a:cubicBezTo>
                  <a:pt x="298966" y="289768"/>
                  <a:pt x="303520" y="282089"/>
                  <a:pt x="307985" y="274409"/>
                </a:cubicBezTo>
                <a:close/>
                <a:moveTo>
                  <a:pt x="320844" y="206097"/>
                </a:moveTo>
                <a:cubicBezTo>
                  <a:pt x="316647" y="198239"/>
                  <a:pt x="312360" y="190381"/>
                  <a:pt x="307896" y="182701"/>
                </a:cubicBezTo>
                <a:cubicBezTo>
                  <a:pt x="303520" y="175111"/>
                  <a:pt x="298966" y="167610"/>
                  <a:pt x="294233" y="160199"/>
                </a:cubicBezTo>
                <a:cubicBezTo>
                  <a:pt x="308610" y="161985"/>
                  <a:pt x="322362" y="164396"/>
                  <a:pt x="335220" y="167342"/>
                </a:cubicBezTo>
                <a:cubicBezTo>
                  <a:pt x="331113" y="180558"/>
                  <a:pt x="326291" y="193417"/>
                  <a:pt x="320844" y="206097"/>
                </a:cubicBezTo>
                <a:close/>
                <a:moveTo>
                  <a:pt x="228779" y="105638"/>
                </a:moveTo>
                <a:cubicBezTo>
                  <a:pt x="238155" y="115818"/>
                  <a:pt x="246995" y="126534"/>
                  <a:pt x="255210" y="137606"/>
                </a:cubicBezTo>
                <a:cubicBezTo>
                  <a:pt x="237530" y="136803"/>
                  <a:pt x="219760" y="136803"/>
                  <a:pt x="202079" y="137606"/>
                </a:cubicBezTo>
                <a:cubicBezTo>
                  <a:pt x="210830" y="126087"/>
                  <a:pt x="219849" y="115372"/>
                  <a:pt x="228779" y="105638"/>
                </a:cubicBezTo>
                <a:close/>
                <a:moveTo>
                  <a:pt x="125194" y="50899"/>
                </a:moveTo>
                <a:cubicBezTo>
                  <a:pt x="140196" y="42148"/>
                  <a:pt x="173504" y="54650"/>
                  <a:pt x="208598" y="85725"/>
                </a:cubicBezTo>
                <a:cubicBezTo>
                  <a:pt x="210830" y="87690"/>
                  <a:pt x="213062" y="89833"/>
                  <a:pt x="215384" y="91976"/>
                </a:cubicBezTo>
                <a:cubicBezTo>
                  <a:pt x="201543" y="106888"/>
                  <a:pt x="188774" y="122783"/>
                  <a:pt x="177076" y="139392"/>
                </a:cubicBezTo>
                <a:cubicBezTo>
                  <a:pt x="156895" y="141178"/>
                  <a:pt x="136892" y="144304"/>
                  <a:pt x="117068" y="148679"/>
                </a:cubicBezTo>
                <a:cubicBezTo>
                  <a:pt x="115907" y="144125"/>
                  <a:pt x="114925" y="139482"/>
                  <a:pt x="113943" y="134838"/>
                </a:cubicBezTo>
                <a:cubicBezTo>
                  <a:pt x="105549" y="91619"/>
                  <a:pt x="111085" y="59025"/>
                  <a:pt x="125194" y="50899"/>
                </a:cubicBezTo>
                <a:close/>
                <a:moveTo>
                  <a:pt x="103316" y="286286"/>
                </a:moveTo>
                <a:cubicBezTo>
                  <a:pt x="99566" y="285214"/>
                  <a:pt x="95905" y="284053"/>
                  <a:pt x="92244" y="282803"/>
                </a:cubicBezTo>
                <a:cubicBezTo>
                  <a:pt x="73223" y="276820"/>
                  <a:pt x="51614" y="267355"/>
                  <a:pt x="35987" y="254943"/>
                </a:cubicBezTo>
                <a:cubicBezTo>
                  <a:pt x="26968" y="248692"/>
                  <a:pt x="20895" y="239048"/>
                  <a:pt x="19199" y="228243"/>
                </a:cubicBezTo>
                <a:cubicBezTo>
                  <a:pt x="19199" y="211901"/>
                  <a:pt x="47417" y="191006"/>
                  <a:pt x="88136" y="176808"/>
                </a:cubicBezTo>
                <a:cubicBezTo>
                  <a:pt x="93226" y="175022"/>
                  <a:pt x="98405" y="173415"/>
                  <a:pt x="103584" y="171896"/>
                </a:cubicBezTo>
                <a:cubicBezTo>
                  <a:pt x="109657" y="191274"/>
                  <a:pt x="116979" y="210294"/>
                  <a:pt x="125462" y="228689"/>
                </a:cubicBezTo>
                <a:cubicBezTo>
                  <a:pt x="116890" y="247352"/>
                  <a:pt x="109478" y="266640"/>
                  <a:pt x="103316" y="286286"/>
                </a:cubicBezTo>
                <a:close/>
                <a:moveTo>
                  <a:pt x="207437" y="373797"/>
                </a:moveTo>
                <a:cubicBezTo>
                  <a:pt x="192703" y="387281"/>
                  <a:pt x="175647" y="397996"/>
                  <a:pt x="157073" y="405319"/>
                </a:cubicBezTo>
                <a:cubicBezTo>
                  <a:pt x="147161" y="410051"/>
                  <a:pt x="135731" y="410498"/>
                  <a:pt x="125551" y="406479"/>
                </a:cubicBezTo>
                <a:cubicBezTo>
                  <a:pt x="111353" y="398264"/>
                  <a:pt x="105460" y="366742"/>
                  <a:pt x="113496" y="324326"/>
                </a:cubicBezTo>
                <a:cubicBezTo>
                  <a:pt x="114479" y="319326"/>
                  <a:pt x="115550" y="314325"/>
                  <a:pt x="116800" y="309414"/>
                </a:cubicBezTo>
                <a:cubicBezTo>
                  <a:pt x="136803" y="313700"/>
                  <a:pt x="156984" y="316647"/>
                  <a:pt x="177433" y="318165"/>
                </a:cubicBezTo>
                <a:cubicBezTo>
                  <a:pt x="189220" y="334863"/>
                  <a:pt x="202168" y="350847"/>
                  <a:pt x="216009" y="365849"/>
                </a:cubicBezTo>
                <a:cubicBezTo>
                  <a:pt x="213152" y="368618"/>
                  <a:pt x="210294" y="371296"/>
                  <a:pt x="207437" y="373797"/>
                </a:cubicBezTo>
                <a:close/>
                <a:moveTo>
                  <a:pt x="229314" y="352098"/>
                </a:moveTo>
                <a:cubicBezTo>
                  <a:pt x="220206" y="342275"/>
                  <a:pt x="211098" y="331381"/>
                  <a:pt x="202257" y="319683"/>
                </a:cubicBezTo>
                <a:cubicBezTo>
                  <a:pt x="210830" y="320040"/>
                  <a:pt x="219670" y="320219"/>
                  <a:pt x="228600" y="320219"/>
                </a:cubicBezTo>
                <a:cubicBezTo>
                  <a:pt x="237798" y="320219"/>
                  <a:pt x="246817" y="320040"/>
                  <a:pt x="255746" y="319594"/>
                </a:cubicBezTo>
                <a:cubicBezTo>
                  <a:pt x="247531" y="330934"/>
                  <a:pt x="238691" y="341739"/>
                  <a:pt x="229314" y="352098"/>
                </a:cubicBezTo>
                <a:close/>
                <a:moveTo>
                  <a:pt x="346025" y="378887"/>
                </a:moveTo>
                <a:cubicBezTo>
                  <a:pt x="345222" y="389781"/>
                  <a:pt x="339864" y="399961"/>
                  <a:pt x="331291" y="406837"/>
                </a:cubicBezTo>
                <a:cubicBezTo>
                  <a:pt x="317093" y="415052"/>
                  <a:pt x="286822" y="404336"/>
                  <a:pt x="254139" y="376297"/>
                </a:cubicBezTo>
                <a:cubicBezTo>
                  <a:pt x="250388" y="373082"/>
                  <a:pt x="246638" y="369600"/>
                  <a:pt x="242798" y="366028"/>
                </a:cubicBezTo>
                <a:cubicBezTo>
                  <a:pt x="256461" y="350937"/>
                  <a:pt x="269051" y="334953"/>
                  <a:pt x="280481" y="318165"/>
                </a:cubicBezTo>
                <a:cubicBezTo>
                  <a:pt x="300930" y="316468"/>
                  <a:pt x="321290" y="313343"/>
                  <a:pt x="341382" y="308789"/>
                </a:cubicBezTo>
                <a:cubicBezTo>
                  <a:pt x="342275" y="312450"/>
                  <a:pt x="343079" y="316111"/>
                  <a:pt x="343793" y="319683"/>
                </a:cubicBezTo>
                <a:cubicBezTo>
                  <a:pt x="348169" y="338971"/>
                  <a:pt x="348883" y="359063"/>
                  <a:pt x="346025" y="378887"/>
                </a:cubicBezTo>
                <a:close/>
                <a:moveTo>
                  <a:pt x="362277" y="282893"/>
                </a:moveTo>
                <a:cubicBezTo>
                  <a:pt x="359777" y="283696"/>
                  <a:pt x="357277" y="284500"/>
                  <a:pt x="354687" y="285214"/>
                </a:cubicBezTo>
                <a:cubicBezTo>
                  <a:pt x="348436" y="265748"/>
                  <a:pt x="340757" y="246727"/>
                  <a:pt x="331916" y="228243"/>
                </a:cubicBezTo>
                <a:cubicBezTo>
                  <a:pt x="340489" y="210026"/>
                  <a:pt x="347722" y="191274"/>
                  <a:pt x="353794" y="172075"/>
                </a:cubicBezTo>
                <a:cubicBezTo>
                  <a:pt x="358438" y="173415"/>
                  <a:pt x="362903" y="174843"/>
                  <a:pt x="367189" y="176272"/>
                </a:cubicBezTo>
                <a:cubicBezTo>
                  <a:pt x="408801" y="190560"/>
                  <a:pt x="438001" y="211812"/>
                  <a:pt x="438001" y="228064"/>
                </a:cubicBezTo>
                <a:cubicBezTo>
                  <a:pt x="438001" y="245566"/>
                  <a:pt x="406837" y="268159"/>
                  <a:pt x="362277" y="282893"/>
                </a:cubicBezTo>
                <a:close/>
                <a:moveTo>
                  <a:pt x="228600" y="269498"/>
                </a:moveTo>
                <a:cubicBezTo>
                  <a:pt x="251172" y="269498"/>
                  <a:pt x="269498" y="251172"/>
                  <a:pt x="269498" y="228600"/>
                </a:cubicBezTo>
                <a:cubicBezTo>
                  <a:pt x="269498" y="206028"/>
                  <a:pt x="251172" y="187702"/>
                  <a:pt x="228600" y="187702"/>
                </a:cubicBezTo>
                <a:cubicBezTo>
                  <a:pt x="206028" y="187702"/>
                  <a:pt x="187702" y="206028"/>
                  <a:pt x="187702" y="228600"/>
                </a:cubicBezTo>
                <a:cubicBezTo>
                  <a:pt x="187702" y="251172"/>
                  <a:pt x="206028" y="269498"/>
                  <a:pt x="228600" y="269498"/>
                </a:cubicBezTo>
                <a:close/>
              </a:path>
            </a:pathLst>
          </a:custGeom>
          <a:solidFill>
            <a:srgbClr val="3B82F6"/>
          </a:solidFill>
          <a:ln/>
        </p:spPr>
      </p:sp>
      <p:sp>
        <p:nvSpPr>
          <p:cNvPr id="13" name="Text 11"/>
          <p:cNvSpPr/>
          <p:nvPr/>
        </p:nvSpPr>
        <p:spPr>
          <a:xfrm>
            <a:off x="1714500" y="1752600"/>
            <a:ext cx="381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React 19 + Vite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714500" y="2159000"/>
            <a:ext cx="590550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Latest React with Vite build tooling for fast development, optimized bundles, and modern ES modules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8382000" y="1524000"/>
            <a:ext cx="7112000" cy="15240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699500" y="18796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57175" y="28575"/>
                </a:moveTo>
                <a:cubicBezTo>
                  <a:pt x="257175" y="44381"/>
                  <a:pt x="269944" y="57150"/>
                  <a:pt x="285750" y="57150"/>
                </a:cubicBezTo>
                <a:lnTo>
                  <a:pt x="321469" y="57150"/>
                </a:lnTo>
                <a:cubicBezTo>
                  <a:pt x="333345" y="57150"/>
                  <a:pt x="342900" y="66705"/>
                  <a:pt x="342900" y="78581"/>
                </a:cubicBezTo>
                <a:cubicBezTo>
                  <a:pt x="342900" y="90458"/>
                  <a:pt x="333345" y="100013"/>
                  <a:pt x="321469" y="100013"/>
                </a:cubicBezTo>
                <a:lnTo>
                  <a:pt x="28575" y="100013"/>
                </a:lnTo>
                <a:cubicBezTo>
                  <a:pt x="12769" y="100013"/>
                  <a:pt x="0" y="112782"/>
                  <a:pt x="0" y="128588"/>
                </a:cubicBezTo>
                <a:cubicBezTo>
                  <a:pt x="0" y="144393"/>
                  <a:pt x="12769" y="157163"/>
                  <a:pt x="28575" y="157163"/>
                </a:cubicBezTo>
                <a:lnTo>
                  <a:pt x="321469" y="157163"/>
                </a:lnTo>
                <a:cubicBezTo>
                  <a:pt x="364867" y="157163"/>
                  <a:pt x="400050" y="121980"/>
                  <a:pt x="400050" y="78581"/>
                </a:cubicBezTo>
                <a:cubicBezTo>
                  <a:pt x="400050" y="35183"/>
                  <a:pt x="364867" y="0"/>
                  <a:pt x="321469" y="0"/>
                </a:cubicBezTo>
                <a:lnTo>
                  <a:pt x="285750" y="0"/>
                </a:lnTo>
                <a:cubicBezTo>
                  <a:pt x="269944" y="0"/>
                  <a:pt x="257175" y="12769"/>
                  <a:pt x="257175" y="28575"/>
                </a:cubicBezTo>
                <a:close/>
                <a:moveTo>
                  <a:pt x="314325" y="342900"/>
                </a:moveTo>
                <a:cubicBezTo>
                  <a:pt x="314325" y="358706"/>
                  <a:pt x="327094" y="371475"/>
                  <a:pt x="342900" y="371475"/>
                </a:cubicBezTo>
                <a:lnTo>
                  <a:pt x="371475" y="371475"/>
                </a:lnTo>
                <a:cubicBezTo>
                  <a:pt x="418802" y="371475"/>
                  <a:pt x="457200" y="333077"/>
                  <a:pt x="457200" y="285750"/>
                </a:cubicBezTo>
                <a:cubicBezTo>
                  <a:pt x="457200" y="238423"/>
                  <a:pt x="418802" y="200025"/>
                  <a:pt x="371475" y="200025"/>
                </a:cubicBezTo>
                <a:lnTo>
                  <a:pt x="28575" y="200025"/>
                </a:lnTo>
                <a:cubicBezTo>
                  <a:pt x="12769" y="200025"/>
                  <a:pt x="0" y="212794"/>
                  <a:pt x="0" y="228600"/>
                </a:cubicBezTo>
                <a:cubicBezTo>
                  <a:pt x="0" y="244406"/>
                  <a:pt x="12769" y="257175"/>
                  <a:pt x="28575" y="257175"/>
                </a:cubicBezTo>
                <a:lnTo>
                  <a:pt x="371475" y="257175"/>
                </a:lnTo>
                <a:cubicBezTo>
                  <a:pt x="387281" y="257175"/>
                  <a:pt x="400050" y="269944"/>
                  <a:pt x="400050" y="285750"/>
                </a:cubicBezTo>
                <a:cubicBezTo>
                  <a:pt x="400050" y="301556"/>
                  <a:pt x="387281" y="314325"/>
                  <a:pt x="371475" y="314325"/>
                </a:cubicBezTo>
                <a:lnTo>
                  <a:pt x="342900" y="314325"/>
                </a:lnTo>
                <a:cubicBezTo>
                  <a:pt x="327094" y="314325"/>
                  <a:pt x="314325" y="327094"/>
                  <a:pt x="314325" y="342900"/>
                </a:cubicBezTo>
                <a:close/>
                <a:moveTo>
                  <a:pt x="114300" y="457200"/>
                </a:moveTo>
                <a:lnTo>
                  <a:pt x="150019" y="457200"/>
                </a:lnTo>
                <a:cubicBezTo>
                  <a:pt x="193417" y="457200"/>
                  <a:pt x="228600" y="422017"/>
                  <a:pt x="228600" y="378619"/>
                </a:cubicBezTo>
                <a:cubicBezTo>
                  <a:pt x="228600" y="335220"/>
                  <a:pt x="193417" y="300038"/>
                  <a:pt x="150019" y="300038"/>
                </a:cubicBezTo>
                <a:lnTo>
                  <a:pt x="28575" y="300038"/>
                </a:lnTo>
                <a:cubicBezTo>
                  <a:pt x="12769" y="300038"/>
                  <a:pt x="0" y="312807"/>
                  <a:pt x="0" y="328613"/>
                </a:cubicBezTo>
                <a:cubicBezTo>
                  <a:pt x="0" y="344418"/>
                  <a:pt x="12769" y="357188"/>
                  <a:pt x="28575" y="357188"/>
                </a:cubicBezTo>
                <a:lnTo>
                  <a:pt x="150019" y="357188"/>
                </a:lnTo>
                <a:cubicBezTo>
                  <a:pt x="161895" y="357188"/>
                  <a:pt x="171450" y="366742"/>
                  <a:pt x="171450" y="378619"/>
                </a:cubicBezTo>
                <a:cubicBezTo>
                  <a:pt x="171450" y="390495"/>
                  <a:pt x="161895" y="400050"/>
                  <a:pt x="150019" y="400050"/>
                </a:cubicBezTo>
                <a:lnTo>
                  <a:pt x="114300" y="400050"/>
                </a:lnTo>
                <a:cubicBezTo>
                  <a:pt x="98494" y="400050"/>
                  <a:pt x="85725" y="412819"/>
                  <a:pt x="85725" y="428625"/>
                </a:cubicBezTo>
                <a:cubicBezTo>
                  <a:pt x="85725" y="444431"/>
                  <a:pt x="98494" y="457200"/>
                  <a:pt x="114300" y="457200"/>
                </a:cubicBezTo>
                <a:close/>
              </a:path>
            </a:pathLst>
          </a:custGeom>
          <a:solidFill>
            <a:srgbClr val="06B6D4"/>
          </a:solidFill>
          <a:ln/>
        </p:spPr>
      </p:sp>
      <p:sp>
        <p:nvSpPr>
          <p:cNvPr id="17" name="Text 15"/>
          <p:cNvSpPr/>
          <p:nvPr/>
        </p:nvSpPr>
        <p:spPr>
          <a:xfrm>
            <a:off x="9334500" y="1752600"/>
            <a:ext cx="381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Tailwind CSS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9334500" y="2159000"/>
            <a:ext cx="590550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Utility-first, responsive styling with custom design tokens for the glassmorphism aesthetic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762000" y="3365500"/>
            <a:ext cx="7112000" cy="15240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50925" y="3721100"/>
            <a:ext cx="514350" cy="457200"/>
          </a:xfrm>
          <a:custGeom>
            <a:avLst/>
            <a:gdLst/>
            <a:ahLst/>
            <a:cxnLst/>
            <a:rect l="l" t="t" r="r" b="b"/>
            <a:pathLst>
              <a:path w="514350" h="457200">
                <a:moveTo>
                  <a:pt x="235208" y="-24110"/>
                </a:moveTo>
                <a:lnTo>
                  <a:pt x="248424" y="8751"/>
                </a:lnTo>
                <a:lnTo>
                  <a:pt x="281285" y="21967"/>
                </a:lnTo>
                <a:cubicBezTo>
                  <a:pt x="283964" y="23039"/>
                  <a:pt x="285750" y="25718"/>
                  <a:pt x="285750" y="28575"/>
                </a:cubicBezTo>
                <a:cubicBezTo>
                  <a:pt x="285750" y="31433"/>
                  <a:pt x="283964" y="34111"/>
                  <a:pt x="281285" y="35183"/>
                </a:cubicBezTo>
                <a:lnTo>
                  <a:pt x="248424" y="48399"/>
                </a:lnTo>
                <a:lnTo>
                  <a:pt x="235208" y="81260"/>
                </a:lnTo>
                <a:cubicBezTo>
                  <a:pt x="234136" y="83939"/>
                  <a:pt x="231458" y="85725"/>
                  <a:pt x="228600" y="85725"/>
                </a:cubicBezTo>
                <a:cubicBezTo>
                  <a:pt x="225742" y="85725"/>
                  <a:pt x="223064" y="83939"/>
                  <a:pt x="221992" y="81260"/>
                </a:cubicBezTo>
                <a:lnTo>
                  <a:pt x="208776" y="48399"/>
                </a:lnTo>
                <a:lnTo>
                  <a:pt x="175915" y="35183"/>
                </a:lnTo>
                <a:cubicBezTo>
                  <a:pt x="173236" y="34111"/>
                  <a:pt x="171450" y="31432"/>
                  <a:pt x="171450" y="28575"/>
                </a:cubicBezTo>
                <a:cubicBezTo>
                  <a:pt x="171450" y="25718"/>
                  <a:pt x="173236" y="23039"/>
                  <a:pt x="175915" y="21967"/>
                </a:cubicBezTo>
                <a:lnTo>
                  <a:pt x="208776" y="8751"/>
                </a:lnTo>
                <a:lnTo>
                  <a:pt x="221992" y="-24110"/>
                </a:lnTo>
                <a:cubicBezTo>
                  <a:pt x="223064" y="-26789"/>
                  <a:pt x="225743" y="-28575"/>
                  <a:pt x="228600" y="-28575"/>
                </a:cubicBezTo>
                <a:cubicBezTo>
                  <a:pt x="231458" y="-28575"/>
                  <a:pt x="234136" y="-26789"/>
                  <a:pt x="235208" y="-24110"/>
                </a:cubicBezTo>
                <a:close/>
                <a:moveTo>
                  <a:pt x="98852" y="37237"/>
                </a:moveTo>
                <a:lnTo>
                  <a:pt x="118050" y="81975"/>
                </a:lnTo>
                <a:lnTo>
                  <a:pt x="162788" y="101173"/>
                </a:lnTo>
                <a:cubicBezTo>
                  <a:pt x="168057" y="103406"/>
                  <a:pt x="171450" y="108585"/>
                  <a:pt x="171450" y="114300"/>
                </a:cubicBezTo>
                <a:cubicBezTo>
                  <a:pt x="171450" y="120015"/>
                  <a:pt x="168057" y="125194"/>
                  <a:pt x="162788" y="127427"/>
                </a:cubicBezTo>
                <a:lnTo>
                  <a:pt x="118050" y="146625"/>
                </a:lnTo>
                <a:lnTo>
                  <a:pt x="98852" y="191363"/>
                </a:lnTo>
                <a:cubicBezTo>
                  <a:pt x="96619" y="196632"/>
                  <a:pt x="91440" y="200025"/>
                  <a:pt x="85725" y="200025"/>
                </a:cubicBezTo>
                <a:cubicBezTo>
                  <a:pt x="80010" y="200025"/>
                  <a:pt x="74831" y="196632"/>
                  <a:pt x="72598" y="191363"/>
                </a:cubicBezTo>
                <a:lnTo>
                  <a:pt x="53400" y="146625"/>
                </a:lnTo>
                <a:lnTo>
                  <a:pt x="8662" y="127427"/>
                </a:lnTo>
                <a:cubicBezTo>
                  <a:pt x="3393" y="125194"/>
                  <a:pt x="0" y="120015"/>
                  <a:pt x="0" y="114300"/>
                </a:cubicBezTo>
                <a:cubicBezTo>
                  <a:pt x="0" y="108585"/>
                  <a:pt x="3393" y="103406"/>
                  <a:pt x="8662" y="101173"/>
                </a:cubicBezTo>
                <a:lnTo>
                  <a:pt x="53400" y="81975"/>
                </a:lnTo>
                <a:lnTo>
                  <a:pt x="72598" y="37237"/>
                </a:lnTo>
                <a:cubicBezTo>
                  <a:pt x="74831" y="31968"/>
                  <a:pt x="80010" y="28575"/>
                  <a:pt x="85725" y="28575"/>
                </a:cubicBezTo>
                <a:cubicBezTo>
                  <a:pt x="91440" y="28575"/>
                  <a:pt x="96619" y="31968"/>
                  <a:pt x="98852" y="37237"/>
                </a:cubicBezTo>
                <a:close/>
                <a:moveTo>
                  <a:pt x="414338" y="271463"/>
                </a:moveTo>
                <a:cubicBezTo>
                  <a:pt x="420053" y="271463"/>
                  <a:pt x="425232" y="274856"/>
                  <a:pt x="427464" y="280124"/>
                </a:cubicBezTo>
                <a:lnTo>
                  <a:pt x="446663" y="324862"/>
                </a:lnTo>
                <a:lnTo>
                  <a:pt x="491401" y="344061"/>
                </a:lnTo>
                <a:cubicBezTo>
                  <a:pt x="496669" y="346293"/>
                  <a:pt x="500063" y="351473"/>
                  <a:pt x="500063" y="357188"/>
                </a:cubicBezTo>
                <a:cubicBezTo>
                  <a:pt x="500063" y="362903"/>
                  <a:pt x="496669" y="368082"/>
                  <a:pt x="491401" y="370314"/>
                </a:cubicBezTo>
                <a:lnTo>
                  <a:pt x="446663" y="389513"/>
                </a:lnTo>
                <a:lnTo>
                  <a:pt x="427464" y="434251"/>
                </a:lnTo>
                <a:cubicBezTo>
                  <a:pt x="425232" y="439519"/>
                  <a:pt x="420052" y="442913"/>
                  <a:pt x="414337" y="442913"/>
                </a:cubicBezTo>
                <a:cubicBezTo>
                  <a:pt x="408622" y="442913"/>
                  <a:pt x="403443" y="439519"/>
                  <a:pt x="401211" y="434251"/>
                </a:cubicBezTo>
                <a:lnTo>
                  <a:pt x="382012" y="389513"/>
                </a:lnTo>
                <a:lnTo>
                  <a:pt x="337274" y="370314"/>
                </a:lnTo>
                <a:cubicBezTo>
                  <a:pt x="332006" y="368082"/>
                  <a:pt x="328613" y="362903"/>
                  <a:pt x="328613" y="357188"/>
                </a:cubicBezTo>
                <a:cubicBezTo>
                  <a:pt x="328613" y="351473"/>
                  <a:pt x="332006" y="346293"/>
                  <a:pt x="337274" y="344061"/>
                </a:cubicBezTo>
                <a:lnTo>
                  <a:pt x="382012" y="324862"/>
                </a:lnTo>
                <a:lnTo>
                  <a:pt x="401211" y="280124"/>
                </a:lnTo>
                <a:cubicBezTo>
                  <a:pt x="403443" y="274856"/>
                  <a:pt x="408622" y="271463"/>
                  <a:pt x="414337" y="271463"/>
                </a:cubicBezTo>
                <a:close/>
                <a:moveTo>
                  <a:pt x="410766" y="0"/>
                </a:moveTo>
                <a:cubicBezTo>
                  <a:pt x="420588" y="0"/>
                  <a:pt x="430054" y="3929"/>
                  <a:pt x="437108" y="10894"/>
                </a:cubicBezTo>
                <a:lnTo>
                  <a:pt x="474881" y="48667"/>
                </a:lnTo>
                <a:cubicBezTo>
                  <a:pt x="481846" y="55721"/>
                  <a:pt x="485775" y="65187"/>
                  <a:pt x="485775" y="75009"/>
                </a:cubicBezTo>
                <a:cubicBezTo>
                  <a:pt x="485775" y="84832"/>
                  <a:pt x="481846" y="94298"/>
                  <a:pt x="474881" y="101352"/>
                </a:cubicBezTo>
                <a:lnTo>
                  <a:pt x="396121" y="180112"/>
                </a:lnTo>
                <a:lnTo>
                  <a:pt x="305663" y="89654"/>
                </a:lnTo>
                <a:lnTo>
                  <a:pt x="384423" y="10894"/>
                </a:lnTo>
                <a:cubicBezTo>
                  <a:pt x="391478" y="3929"/>
                  <a:pt x="400943" y="0"/>
                  <a:pt x="410766" y="0"/>
                </a:cubicBezTo>
                <a:close/>
                <a:moveTo>
                  <a:pt x="39469" y="355848"/>
                </a:moveTo>
                <a:lnTo>
                  <a:pt x="275392" y="119926"/>
                </a:lnTo>
                <a:lnTo>
                  <a:pt x="365849" y="210383"/>
                </a:lnTo>
                <a:lnTo>
                  <a:pt x="129927" y="446306"/>
                </a:lnTo>
                <a:cubicBezTo>
                  <a:pt x="122873" y="453271"/>
                  <a:pt x="113407" y="457200"/>
                  <a:pt x="103584" y="457200"/>
                </a:cubicBezTo>
                <a:cubicBezTo>
                  <a:pt x="93762" y="457200"/>
                  <a:pt x="84296" y="453271"/>
                  <a:pt x="77242" y="446306"/>
                </a:cubicBezTo>
                <a:lnTo>
                  <a:pt x="39469" y="408533"/>
                </a:lnTo>
                <a:cubicBezTo>
                  <a:pt x="32504" y="401479"/>
                  <a:pt x="28575" y="392013"/>
                  <a:pt x="28575" y="382191"/>
                </a:cubicBezTo>
                <a:cubicBezTo>
                  <a:pt x="28575" y="372368"/>
                  <a:pt x="32504" y="362903"/>
                  <a:pt x="39469" y="355848"/>
                </a:cubicBezTo>
                <a:close/>
              </a:path>
            </a:pathLst>
          </a:custGeom>
          <a:solidFill>
            <a:srgbClr val="8B5CF6"/>
          </a:solidFill>
          <a:ln/>
        </p:spPr>
      </p:sp>
      <p:sp>
        <p:nvSpPr>
          <p:cNvPr id="21" name="Text 19"/>
          <p:cNvSpPr/>
          <p:nvPr/>
        </p:nvSpPr>
        <p:spPr>
          <a:xfrm>
            <a:off x="1714500" y="3594100"/>
            <a:ext cx="381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Framer Motion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714500" y="4000500"/>
            <a:ext cx="590550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Smooth animations, page transitions, and interactive micro-interactions for premium UX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8382000" y="3365500"/>
            <a:ext cx="7112000" cy="15240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699500" y="37211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07615" y="4643"/>
                </a:moveTo>
                <a:cubicBezTo>
                  <a:pt x="220920" y="-1518"/>
                  <a:pt x="236280" y="-1518"/>
                  <a:pt x="249585" y="4643"/>
                </a:cubicBezTo>
                <a:lnTo>
                  <a:pt x="444788" y="94833"/>
                </a:lnTo>
                <a:cubicBezTo>
                  <a:pt x="452378" y="98316"/>
                  <a:pt x="457200" y="105906"/>
                  <a:pt x="457200" y="114300"/>
                </a:cubicBezTo>
                <a:cubicBezTo>
                  <a:pt x="457200" y="122694"/>
                  <a:pt x="452378" y="130284"/>
                  <a:pt x="444788" y="133767"/>
                </a:cubicBezTo>
                <a:lnTo>
                  <a:pt x="249585" y="223957"/>
                </a:lnTo>
                <a:cubicBezTo>
                  <a:pt x="236280" y="230118"/>
                  <a:pt x="220920" y="230118"/>
                  <a:pt x="207615" y="223957"/>
                </a:cubicBezTo>
                <a:lnTo>
                  <a:pt x="12412" y="133767"/>
                </a:lnTo>
                <a:cubicBezTo>
                  <a:pt x="4822" y="130195"/>
                  <a:pt x="0" y="122605"/>
                  <a:pt x="0" y="114300"/>
                </a:cubicBezTo>
                <a:cubicBezTo>
                  <a:pt x="0" y="105995"/>
                  <a:pt x="4822" y="98316"/>
                  <a:pt x="12412" y="94833"/>
                </a:cubicBezTo>
                <a:lnTo>
                  <a:pt x="207615" y="4643"/>
                </a:lnTo>
                <a:close/>
                <a:moveTo>
                  <a:pt x="42952" y="195024"/>
                </a:moveTo>
                <a:lnTo>
                  <a:pt x="189667" y="262801"/>
                </a:lnTo>
                <a:cubicBezTo>
                  <a:pt x="214402" y="274231"/>
                  <a:pt x="242888" y="274231"/>
                  <a:pt x="267623" y="262801"/>
                </a:cubicBezTo>
                <a:lnTo>
                  <a:pt x="414338" y="195024"/>
                </a:lnTo>
                <a:lnTo>
                  <a:pt x="444788" y="209133"/>
                </a:lnTo>
                <a:cubicBezTo>
                  <a:pt x="452378" y="212616"/>
                  <a:pt x="457200" y="220206"/>
                  <a:pt x="457200" y="228600"/>
                </a:cubicBezTo>
                <a:cubicBezTo>
                  <a:pt x="457200" y="236994"/>
                  <a:pt x="452378" y="244584"/>
                  <a:pt x="444788" y="248067"/>
                </a:cubicBezTo>
                <a:lnTo>
                  <a:pt x="249585" y="338257"/>
                </a:lnTo>
                <a:cubicBezTo>
                  <a:pt x="236280" y="344418"/>
                  <a:pt x="220920" y="344418"/>
                  <a:pt x="207615" y="338257"/>
                </a:cubicBezTo>
                <a:lnTo>
                  <a:pt x="12412" y="248067"/>
                </a:lnTo>
                <a:cubicBezTo>
                  <a:pt x="4822" y="244495"/>
                  <a:pt x="0" y="236905"/>
                  <a:pt x="0" y="228600"/>
                </a:cubicBezTo>
                <a:cubicBezTo>
                  <a:pt x="0" y="220295"/>
                  <a:pt x="4822" y="212616"/>
                  <a:pt x="12412" y="209133"/>
                </a:cubicBezTo>
                <a:lnTo>
                  <a:pt x="42863" y="195024"/>
                </a:lnTo>
                <a:close/>
                <a:moveTo>
                  <a:pt x="12412" y="323433"/>
                </a:moveTo>
                <a:lnTo>
                  <a:pt x="42863" y="309324"/>
                </a:lnTo>
                <a:lnTo>
                  <a:pt x="189577" y="377101"/>
                </a:lnTo>
                <a:cubicBezTo>
                  <a:pt x="214313" y="388531"/>
                  <a:pt x="242798" y="388531"/>
                  <a:pt x="267533" y="377101"/>
                </a:cubicBezTo>
                <a:lnTo>
                  <a:pt x="414248" y="309324"/>
                </a:lnTo>
                <a:lnTo>
                  <a:pt x="444698" y="323433"/>
                </a:lnTo>
                <a:cubicBezTo>
                  <a:pt x="452289" y="326916"/>
                  <a:pt x="457111" y="334506"/>
                  <a:pt x="457111" y="342900"/>
                </a:cubicBezTo>
                <a:cubicBezTo>
                  <a:pt x="457111" y="351294"/>
                  <a:pt x="452289" y="358884"/>
                  <a:pt x="444698" y="362367"/>
                </a:cubicBezTo>
                <a:lnTo>
                  <a:pt x="249495" y="452557"/>
                </a:lnTo>
                <a:cubicBezTo>
                  <a:pt x="236190" y="458718"/>
                  <a:pt x="220831" y="458718"/>
                  <a:pt x="207526" y="452557"/>
                </a:cubicBezTo>
                <a:lnTo>
                  <a:pt x="12412" y="362367"/>
                </a:lnTo>
                <a:cubicBezTo>
                  <a:pt x="4822" y="358795"/>
                  <a:pt x="0" y="351205"/>
                  <a:pt x="0" y="342900"/>
                </a:cubicBezTo>
                <a:cubicBezTo>
                  <a:pt x="0" y="334595"/>
                  <a:pt x="4822" y="326916"/>
                  <a:pt x="12412" y="323433"/>
                </a:cubicBezTo>
                <a:close/>
              </a:path>
            </a:pathLst>
          </a:custGeom>
          <a:solidFill>
            <a:srgbClr val="D97706"/>
          </a:solidFill>
          <a:ln/>
        </p:spPr>
      </p:sp>
      <p:sp>
        <p:nvSpPr>
          <p:cNvPr id="25" name="Text 23"/>
          <p:cNvSpPr/>
          <p:nvPr/>
        </p:nvSpPr>
        <p:spPr>
          <a:xfrm>
            <a:off x="9334500" y="3594100"/>
            <a:ext cx="381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Glassmorphism Design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9334500" y="4000500"/>
            <a:ext cx="590550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Frosted glass cards, subtle backdrop blur, layered depth, and translucent surfaces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762000" y="5270500"/>
            <a:ext cx="14732000" cy="2921000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8" name="Shape 26"/>
          <p:cNvSpPr/>
          <p:nvPr/>
        </p:nvSpPr>
        <p:spPr>
          <a:xfrm>
            <a:off x="7861300" y="6223000"/>
            <a:ext cx="533400" cy="609600"/>
          </a:xfrm>
          <a:custGeom>
            <a:avLst/>
            <a:gdLst/>
            <a:ahLst/>
            <a:cxnLst/>
            <a:rect l="l" t="t" r="r" b="b"/>
            <a:pathLst>
              <a:path w="533400" h="609600">
                <a:moveTo>
                  <a:pt x="76200" y="95250"/>
                </a:moveTo>
                <a:cubicBezTo>
                  <a:pt x="65723" y="95250"/>
                  <a:pt x="57150" y="103823"/>
                  <a:pt x="57150" y="114300"/>
                </a:cubicBezTo>
                <a:lnTo>
                  <a:pt x="57150" y="495300"/>
                </a:lnTo>
                <a:cubicBezTo>
                  <a:pt x="57150" y="505778"/>
                  <a:pt x="65723" y="514350"/>
                  <a:pt x="76200" y="514350"/>
                </a:cubicBezTo>
                <a:lnTo>
                  <a:pt x="457200" y="514350"/>
                </a:lnTo>
                <a:cubicBezTo>
                  <a:pt x="467678" y="514350"/>
                  <a:pt x="476250" y="505778"/>
                  <a:pt x="476250" y="495300"/>
                </a:cubicBezTo>
                <a:lnTo>
                  <a:pt x="476250" y="114300"/>
                </a:lnTo>
                <a:cubicBezTo>
                  <a:pt x="476250" y="103823"/>
                  <a:pt x="467678" y="95250"/>
                  <a:pt x="457200" y="95250"/>
                </a:cubicBezTo>
                <a:lnTo>
                  <a:pt x="76200" y="95250"/>
                </a:lnTo>
                <a:close/>
                <a:moveTo>
                  <a:pt x="0" y="114300"/>
                </a:moveTo>
                <a:cubicBezTo>
                  <a:pt x="0" y="72271"/>
                  <a:pt x="34171" y="38100"/>
                  <a:pt x="76200" y="38100"/>
                </a:cubicBezTo>
                <a:lnTo>
                  <a:pt x="457200" y="38100"/>
                </a:lnTo>
                <a:cubicBezTo>
                  <a:pt x="499229" y="38100"/>
                  <a:pt x="533400" y="72271"/>
                  <a:pt x="533400" y="114300"/>
                </a:cubicBezTo>
                <a:lnTo>
                  <a:pt x="533400" y="495300"/>
                </a:lnTo>
                <a:cubicBezTo>
                  <a:pt x="533400" y="537329"/>
                  <a:pt x="499229" y="571500"/>
                  <a:pt x="457200" y="571500"/>
                </a:cubicBezTo>
                <a:lnTo>
                  <a:pt x="76200" y="571500"/>
                </a:lnTo>
                <a:cubicBezTo>
                  <a:pt x="34171" y="571500"/>
                  <a:pt x="0" y="537329"/>
                  <a:pt x="0" y="495300"/>
                </a:cubicBezTo>
                <a:lnTo>
                  <a:pt x="0" y="114300"/>
                </a:lnTo>
                <a:close/>
                <a:moveTo>
                  <a:pt x="152400" y="152400"/>
                </a:moveTo>
                <a:cubicBezTo>
                  <a:pt x="173428" y="152400"/>
                  <a:pt x="190500" y="169472"/>
                  <a:pt x="190500" y="190500"/>
                </a:cubicBezTo>
                <a:cubicBezTo>
                  <a:pt x="190500" y="211528"/>
                  <a:pt x="173428" y="228600"/>
                  <a:pt x="152400" y="228600"/>
                </a:cubicBezTo>
                <a:cubicBezTo>
                  <a:pt x="131372" y="228600"/>
                  <a:pt x="114300" y="211528"/>
                  <a:pt x="114300" y="190500"/>
                </a:cubicBezTo>
                <a:cubicBezTo>
                  <a:pt x="114300" y="169472"/>
                  <a:pt x="131372" y="152400"/>
                  <a:pt x="152400" y="152400"/>
                </a:cubicBezTo>
                <a:close/>
                <a:moveTo>
                  <a:pt x="314325" y="238125"/>
                </a:moveTo>
                <a:cubicBezTo>
                  <a:pt x="324445" y="238125"/>
                  <a:pt x="333851" y="243483"/>
                  <a:pt x="338971" y="252174"/>
                </a:cubicBezTo>
                <a:lnTo>
                  <a:pt x="434221" y="414099"/>
                </a:lnTo>
                <a:cubicBezTo>
                  <a:pt x="439460" y="422910"/>
                  <a:pt x="439460" y="433864"/>
                  <a:pt x="434340" y="442793"/>
                </a:cubicBezTo>
                <a:cubicBezTo>
                  <a:pt x="429220" y="451723"/>
                  <a:pt x="419814" y="457200"/>
                  <a:pt x="409575" y="457200"/>
                </a:cubicBezTo>
                <a:lnTo>
                  <a:pt x="123825" y="457200"/>
                </a:lnTo>
                <a:cubicBezTo>
                  <a:pt x="113228" y="457200"/>
                  <a:pt x="103346" y="451247"/>
                  <a:pt x="98465" y="441841"/>
                </a:cubicBezTo>
                <a:cubicBezTo>
                  <a:pt x="93583" y="432435"/>
                  <a:pt x="94298" y="421005"/>
                  <a:pt x="100370" y="412313"/>
                </a:cubicBezTo>
                <a:lnTo>
                  <a:pt x="167045" y="317063"/>
                </a:lnTo>
                <a:cubicBezTo>
                  <a:pt x="172403" y="309443"/>
                  <a:pt x="181094" y="304919"/>
                  <a:pt x="190500" y="304919"/>
                </a:cubicBezTo>
                <a:cubicBezTo>
                  <a:pt x="199906" y="304919"/>
                  <a:pt x="208597" y="309443"/>
                  <a:pt x="213955" y="317063"/>
                </a:cubicBezTo>
                <a:lnTo>
                  <a:pt x="234434" y="346353"/>
                </a:lnTo>
                <a:lnTo>
                  <a:pt x="289798" y="252293"/>
                </a:lnTo>
                <a:cubicBezTo>
                  <a:pt x="294918" y="243602"/>
                  <a:pt x="304324" y="238244"/>
                  <a:pt x="314444" y="238244"/>
                </a:cubicBezTo>
                <a:close/>
              </a:path>
            </a:pathLst>
          </a:custGeom>
          <a:solidFill>
            <a:srgbClr val="64748B"/>
          </a:solidFill>
          <a:ln/>
        </p:spPr>
      </p:sp>
      <p:sp>
        <p:nvSpPr>
          <p:cNvPr id="29" name="Text 27"/>
          <p:cNvSpPr/>
          <p:nvPr/>
        </p:nvSpPr>
        <p:spPr>
          <a:xfrm>
            <a:off x="4826000" y="6985000"/>
            <a:ext cx="6604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[Insert Screenshot: Frontend Component Hierarchy / UI Kit Preview]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14986000" y="87630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200" dirty="0">
                <a:solidFill>
                  <a:srgbClr val="64748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25</a:t>
            </a:r>
            <a:endParaRPr lang="en-US" sz="1200" dirty="0"/>
          </a:p>
        </p:txBody>
      </p:sp>
    </p:spTree>
  </p:cSld>
  <p:clrMapOvr>
    <a:masterClrMapping/>
  </p:clrMapOvr>
  <p:transition>
    <p:fade/>
    <p:spd val="med"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AFA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45720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Text 1"/>
          <p:cNvSpPr/>
          <p:nvPr/>
        </p:nvSpPr>
        <p:spPr>
          <a:xfrm>
            <a:off x="0" y="0"/>
            <a:ext cx="27051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spc="100" kern="0" dirty="0">
                <a:solidFill>
                  <a:srgbClr val="F8FAF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INTRODUCTION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2705100" y="0"/>
            <a:ext cx="27051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spc="100" kern="0" dirty="0">
                <a:solidFill>
                  <a:srgbClr val="F8FAF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LITERATURE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10200" y="0"/>
            <a:ext cx="27178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spc="100" kern="0" dirty="0">
                <a:solidFill>
                  <a:srgbClr val="F8FAF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METHODOLOGY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128000" y="0"/>
            <a:ext cx="27051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spc="100" kern="0" dirty="0">
                <a:solidFill>
                  <a:srgbClr val="F8FAF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XAI RESULTS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0833100" y="0"/>
            <a:ext cx="27178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b="1" spc="100" kern="0" dirty="0">
                <a:solidFill>
                  <a:srgbClr val="D9770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IMPLEMENTATION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3550900" y="0"/>
            <a:ext cx="27051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spc="100" kern="0" dirty="0">
                <a:solidFill>
                  <a:srgbClr val="F8FAF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DEMONSTRATION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62000" y="660400"/>
            <a:ext cx="7620000" cy="482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b="1" dirty="0">
                <a:solidFill>
                  <a:srgbClr val="1E293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Tech Stack: Backend</a:t>
            </a:r>
            <a:endParaRPr lang="en-US" sz="2800" dirty="0"/>
          </a:p>
        </p:txBody>
      </p:sp>
      <p:sp>
        <p:nvSpPr>
          <p:cNvPr id="10" name="Shape 8"/>
          <p:cNvSpPr/>
          <p:nvPr/>
        </p:nvSpPr>
        <p:spPr>
          <a:xfrm>
            <a:off x="762000" y="1206500"/>
            <a:ext cx="762000" cy="3810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11" name="Shape 9"/>
          <p:cNvSpPr/>
          <p:nvPr/>
        </p:nvSpPr>
        <p:spPr>
          <a:xfrm>
            <a:off x="762000" y="1524000"/>
            <a:ext cx="7112000" cy="15240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108075" y="1879600"/>
            <a:ext cx="400050" cy="457200"/>
          </a:xfrm>
          <a:custGeom>
            <a:avLst/>
            <a:gdLst/>
            <a:ahLst/>
            <a:cxnLst/>
            <a:rect l="l" t="t" r="r" b="b"/>
            <a:pathLst>
              <a:path w="400050" h="457200">
                <a:moveTo>
                  <a:pt x="302538" y="-8840"/>
                </a:moveTo>
                <a:cubicBezTo>
                  <a:pt x="313164" y="-1161"/>
                  <a:pt x="317093" y="12769"/>
                  <a:pt x="312271" y="24914"/>
                </a:cubicBezTo>
                <a:lnTo>
                  <a:pt x="242262" y="200025"/>
                </a:lnTo>
                <a:lnTo>
                  <a:pt x="371475" y="200025"/>
                </a:lnTo>
                <a:cubicBezTo>
                  <a:pt x="383530" y="200025"/>
                  <a:pt x="394246" y="207526"/>
                  <a:pt x="398353" y="218867"/>
                </a:cubicBezTo>
                <a:cubicBezTo>
                  <a:pt x="402461" y="230207"/>
                  <a:pt x="398978" y="242888"/>
                  <a:pt x="389781" y="250567"/>
                </a:cubicBezTo>
                <a:lnTo>
                  <a:pt x="132606" y="464880"/>
                </a:lnTo>
                <a:cubicBezTo>
                  <a:pt x="122515" y="473273"/>
                  <a:pt x="108139" y="473720"/>
                  <a:pt x="97512" y="466040"/>
                </a:cubicBezTo>
                <a:cubicBezTo>
                  <a:pt x="86886" y="458361"/>
                  <a:pt x="82957" y="444431"/>
                  <a:pt x="87779" y="432286"/>
                </a:cubicBezTo>
                <a:lnTo>
                  <a:pt x="157788" y="257175"/>
                </a:lnTo>
                <a:lnTo>
                  <a:pt x="28575" y="257175"/>
                </a:lnTo>
                <a:cubicBezTo>
                  <a:pt x="16520" y="257175"/>
                  <a:pt x="5804" y="249674"/>
                  <a:pt x="1697" y="238333"/>
                </a:cubicBezTo>
                <a:cubicBezTo>
                  <a:pt x="-2411" y="226993"/>
                  <a:pt x="1072" y="214312"/>
                  <a:pt x="10269" y="206633"/>
                </a:cubicBezTo>
                <a:lnTo>
                  <a:pt x="267444" y="-7680"/>
                </a:lnTo>
                <a:cubicBezTo>
                  <a:pt x="277535" y="-16073"/>
                  <a:pt x="291911" y="-16520"/>
                  <a:pt x="302538" y="-8840"/>
                </a:cubicBezTo>
                <a:close/>
              </a:path>
            </a:pathLst>
          </a:custGeom>
          <a:solidFill>
            <a:srgbClr val="D97706"/>
          </a:solidFill>
          <a:ln/>
        </p:spPr>
      </p:sp>
      <p:sp>
        <p:nvSpPr>
          <p:cNvPr id="13" name="Text 11"/>
          <p:cNvSpPr/>
          <p:nvPr/>
        </p:nvSpPr>
        <p:spPr>
          <a:xfrm>
            <a:off x="1714500" y="1752600"/>
            <a:ext cx="381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FastAPI (Python)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714500" y="2159000"/>
            <a:ext cx="590550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High-performance async API framework with automatic OpenAPI documentation generation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8382000" y="1524000"/>
            <a:ext cx="7112000" cy="15240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728075" y="1879600"/>
            <a:ext cx="400050" cy="457200"/>
          </a:xfrm>
          <a:custGeom>
            <a:avLst/>
            <a:gdLst/>
            <a:ahLst/>
            <a:cxnLst/>
            <a:rect l="l" t="t" r="r" b="b"/>
            <a:pathLst>
              <a:path w="400050" h="457200">
                <a:moveTo>
                  <a:pt x="400050" y="183773"/>
                </a:moveTo>
                <a:cubicBezTo>
                  <a:pt x="386834" y="192524"/>
                  <a:pt x="371654" y="199579"/>
                  <a:pt x="355848" y="205204"/>
                </a:cubicBezTo>
                <a:cubicBezTo>
                  <a:pt x="313879" y="220206"/>
                  <a:pt x="258782" y="228600"/>
                  <a:pt x="200025" y="228600"/>
                </a:cubicBezTo>
                <a:cubicBezTo>
                  <a:pt x="141268" y="228600"/>
                  <a:pt x="86082" y="220117"/>
                  <a:pt x="44202" y="205204"/>
                </a:cubicBezTo>
                <a:cubicBezTo>
                  <a:pt x="28486" y="199579"/>
                  <a:pt x="13216" y="192524"/>
                  <a:pt x="0" y="183773"/>
                </a:cubicBezTo>
                <a:lnTo>
                  <a:pt x="0" y="257175"/>
                </a:lnTo>
                <a:cubicBezTo>
                  <a:pt x="0" y="296644"/>
                  <a:pt x="89565" y="328613"/>
                  <a:pt x="200025" y="328613"/>
                </a:cubicBezTo>
                <a:cubicBezTo>
                  <a:pt x="310485" y="328613"/>
                  <a:pt x="400050" y="296644"/>
                  <a:pt x="400050" y="257175"/>
                </a:cubicBezTo>
                <a:lnTo>
                  <a:pt x="400050" y="183773"/>
                </a:lnTo>
                <a:close/>
                <a:moveTo>
                  <a:pt x="400050" y="114300"/>
                </a:moveTo>
                <a:lnTo>
                  <a:pt x="400050" y="71438"/>
                </a:lnTo>
                <a:cubicBezTo>
                  <a:pt x="400050" y="31968"/>
                  <a:pt x="310485" y="0"/>
                  <a:pt x="200025" y="0"/>
                </a:cubicBezTo>
                <a:cubicBezTo>
                  <a:pt x="89565" y="0"/>
                  <a:pt x="0" y="31968"/>
                  <a:pt x="0" y="71438"/>
                </a:cubicBezTo>
                <a:lnTo>
                  <a:pt x="0" y="114300"/>
                </a:lnTo>
                <a:cubicBezTo>
                  <a:pt x="0" y="153769"/>
                  <a:pt x="89565" y="185738"/>
                  <a:pt x="200025" y="185738"/>
                </a:cubicBezTo>
                <a:cubicBezTo>
                  <a:pt x="310485" y="185738"/>
                  <a:pt x="400050" y="153769"/>
                  <a:pt x="400050" y="114300"/>
                </a:cubicBezTo>
                <a:close/>
                <a:moveTo>
                  <a:pt x="355848" y="348079"/>
                </a:moveTo>
                <a:cubicBezTo>
                  <a:pt x="313968" y="362992"/>
                  <a:pt x="258872" y="371475"/>
                  <a:pt x="200025" y="371475"/>
                </a:cubicBezTo>
                <a:cubicBezTo>
                  <a:pt x="141178" y="371475"/>
                  <a:pt x="86082" y="362992"/>
                  <a:pt x="44202" y="348079"/>
                </a:cubicBezTo>
                <a:cubicBezTo>
                  <a:pt x="28486" y="342454"/>
                  <a:pt x="13216" y="335399"/>
                  <a:pt x="0" y="326648"/>
                </a:cubicBezTo>
                <a:lnTo>
                  <a:pt x="0" y="385763"/>
                </a:lnTo>
                <a:cubicBezTo>
                  <a:pt x="0" y="425232"/>
                  <a:pt x="89565" y="457200"/>
                  <a:pt x="200025" y="457200"/>
                </a:cubicBezTo>
                <a:cubicBezTo>
                  <a:pt x="310485" y="457200"/>
                  <a:pt x="400050" y="425232"/>
                  <a:pt x="400050" y="385763"/>
                </a:cubicBezTo>
                <a:lnTo>
                  <a:pt x="400050" y="326648"/>
                </a:lnTo>
                <a:cubicBezTo>
                  <a:pt x="386834" y="335399"/>
                  <a:pt x="371654" y="342454"/>
                  <a:pt x="355848" y="348079"/>
                </a:cubicBezTo>
                <a:close/>
              </a:path>
            </a:pathLst>
          </a:custGeom>
          <a:solidFill>
            <a:srgbClr val="16A34A"/>
          </a:solidFill>
          <a:ln/>
        </p:spPr>
      </p:sp>
      <p:sp>
        <p:nvSpPr>
          <p:cNvPr id="17" name="Text 15"/>
          <p:cNvSpPr/>
          <p:nvPr/>
        </p:nvSpPr>
        <p:spPr>
          <a:xfrm>
            <a:off x="9334500" y="1752600"/>
            <a:ext cx="381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MongoDB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9334500" y="2159000"/>
            <a:ext cx="590550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Flexible document storage for student profiles, roadmaps, chat history, and session data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762000" y="3365500"/>
            <a:ext cx="7112000" cy="15240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136650" y="3721100"/>
            <a:ext cx="342900" cy="457200"/>
          </a:xfrm>
          <a:custGeom>
            <a:avLst/>
            <a:gdLst/>
            <a:ahLst/>
            <a:cxnLst/>
            <a:rect l="l" t="t" r="r" b="b"/>
            <a:pathLst>
              <a:path w="342900" h="457200">
                <a:moveTo>
                  <a:pt x="171450" y="0"/>
                </a:moveTo>
                <a:cubicBezTo>
                  <a:pt x="124123" y="0"/>
                  <a:pt x="85725" y="38398"/>
                  <a:pt x="85725" y="85725"/>
                </a:cubicBezTo>
                <a:lnTo>
                  <a:pt x="85725" y="200025"/>
                </a:lnTo>
                <a:cubicBezTo>
                  <a:pt x="85725" y="247352"/>
                  <a:pt x="124123" y="285750"/>
                  <a:pt x="171450" y="285750"/>
                </a:cubicBezTo>
                <a:cubicBezTo>
                  <a:pt x="218777" y="285750"/>
                  <a:pt x="257175" y="247352"/>
                  <a:pt x="257175" y="200025"/>
                </a:cubicBezTo>
                <a:lnTo>
                  <a:pt x="257175" y="85725"/>
                </a:lnTo>
                <a:cubicBezTo>
                  <a:pt x="257175" y="38398"/>
                  <a:pt x="218777" y="0"/>
                  <a:pt x="171450" y="0"/>
                </a:cubicBezTo>
                <a:close/>
                <a:moveTo>
                  <a:pt x="42863" y="164306"/>
                </a:moveTo>
                <a:cubicBezTo>
                  <a:pt x="42863" y="152430"/>
                  <a:pt x="33308" y="142875"/>
                  <a:pt x="21431" y="142875"/>
                </a:cubicBezTo>
                <a:cubicBezTo>
                  <a:pt x="9555" y="142875"/>
                  <a:pt x="0" y="152430"/>
                  <a:pt x="0" y="164306"/>
                </a:cubicBezTo>
                <a:lnTo>
                  <a:pt x="0" y="200025"/>
                </a:lnTo>
                <a:cubicBezTo>
                  <a:pt x="0" y="287447"/>
                  <a:pt x="65455" y="359599"/>
                  <a:pt x="150019" y="370136"/>
                </a:cubicBezTo>
                <a:lnTo>
                  <a:pt x="150019" y="414338"/>
                </a:lnTo>
                <a:lnTo>
                  <a:pt x="107156" y="414338"/>
                </a:lnTo>
                <a:cubicBezTo>
                  <a:pt x="95280" y="414338"/>
                  <a:pt x="85725" y="423892"/>
                  <a:pt x="85725" y="435769"/>
                </a:cubicBezTo>
                <a:cubicBezTo>
                  <a:pt x="85725" y="447645"/>
                  <a:pt x="95280" y="457200"/>
                  <a:pt x="107156" y="457200"/>
                </a:cubicBezTo>
                <a:lnTo>
                  <a:pt x="235744" y="457200"/>
                </a:lnTo>
                <a:cubicBezTo>
                  <a:pt x="247620" y="457200"/>
                  <a:pt x="257175" y="447645"/>
                  <a:pt x="257175" y="435769"/>
                </a:cubicBezTo>
                <a:cubicBezTo>
                  <a:pt x="257175" y="423892"/>
                  <a:pt x="247620" y="414338"/>
                  <a:pt x="235744" y="414338"/>
                </a:cubicBezTo>
                <a:lnTo>
                  <a:pt x="192881" y="414338"/>
                </a:lnTo>
                <a:lnTo>
                  <a:pt x="192881" y="370136"/>
                </a:lnTo>
                <a:cubicBezTo>
                  <a:pt x="277445" y="359599"/>
                  <a:pt x="342900" y="287447"/>
                  <a:pt x="342900" y="200025"/>
                </a:cubicBezTo>
                <a:lnTo>
                  <a:pt x="342900" y="164306"/>
                </a:lnTo>
                <a:cubicBezTo>
                  <a:pt x="342900" y="152430"/>
                  <a:pt x="333345" y="142875"/>
                  <a:pt x="321469" y="142875"/>
                </a:cubicBezTo>
                <a:cubicBezTo>
                  <a:pt x="309592" y="142875"/>
                  <a:pt x="300038" y="152430"/>
                  <a:pt x="300038" y="164306"/>
                </a:cubicBezTo>
                <a:lnTo>
                  <a:pt x="300038" y="200025"/>
                </a:lnTo>
                <a:cubicBezTo>
                  <a:pt x="300038" y="271016"/>
                  <a:pt x="242441" y="328613"/>
                  <a:pt x="171450" y="328613"/>
                </a:cubicBezTo>
                <a:cubicBezTo>
                  <a:pt x="100459" y="328613"/>
                  <a:pt x="42863" y="271016"/>
                  <a:pt x="42863" y="200025"/>
                </a:cubicBezTo>
                <a:lnTo>
                  <a:pt x="42863" y="164306"/>
                </a:lnTo>
                <a:close/>
              </a:path>
            </a:pathLst>
          </a:custGeom>
          <a:solidFill>
            <a:srgbClr val="9333EA"/>
          </a:solidFill>
          <a:ln/>
        </p:spPr>
      </p:sp>
      <p:sp>
        <p:nvSpPr>
          <p:cNvPr id="21" name="Text 19"/>
          <p:cNvSpPr/>
          <p:nvPr/>
        </p:nvSpPr>
        <p:spPr>
          <a:xfrm>
            <a:off x="1714500" y="3594100"/>
            <a:ext cx="381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Groq Whisper API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714500" y="4000500"/>
            <a:ext cx="590550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Speech-to-Text (STT) for real-time voice transcription in the Live Class AI Tutor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8382000" y="3365500"/>
            <a:ext cx="7112000" cy="15240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670925" y="3721100"/>
            <a:ext cx="514350" cy="457200"/>
          </a:xfrm>
          <a:custGeom>
            <a:avLst/>
            <a:gdLst/>
            <a:ahLst/>
            <a:cxnLst/>
            <a:rect l="l" t="t" r="r" b="b"/>
            <a:pathLst>
              <a:path w="514350" h="457200">
                <a:moveTo>
                  <a:pt x="257175" y="28575"/>
                </a:moveTo>
                <a:cubicBezTo>
                  <a:pt x="185023" y="28575"/>
                  <a:pt x="127248" y="61436"/>
                  <a:pt x="85189" y="100548"/>
                </a:cubicBezTo>
                <a:cubicBezTo>
                  <a:pt x="43398" y="139392"/>
                  <a:pt x="15448" y="185738"/>
                  <a:pt x="2143" y="217616"/>
                </a:cubicBezTo>
                <a:cubicBezTo>
                  <a:pt x="-804" y="224671"/>
                  <a:pt x="-804" y="232529"/>
                  <a:pt x="2143" y="239584"/>
                </a:cubicBezTo>
                <a:cubicBezTo>
                  <a:pt x="15448" y="271463"/>
                  <a:pt x="43398" y="317897"/>
                  <a:pt x="85189" y="356652"/>
                </a:cubicBezTo>
                <a:cubicBezTo>
                  <a:pt x="127248" y="395674"/>
                  <a:pt x="185023" y="428625"/>
                  <a:pt x="257175" y="428625"/>
                </a:cubicBezTo>
                <a:cubicBezTo>
                  <a:pt x="329327" y="428625"/>
                  <a:pt x="387102" y="395764"/>
                  <a:pt x="429161" y="356652"/>
                </a:cubicBezTo>
                <a:cubicBezTo>
                  <a:pt x="470952" y="317808"/>
                  <a:pt x="498902" y="271463"/>
                  <a:pt x="512207" y="239584"/>
                </a:cubicBezTo>
                <a:cubicBezTo>
                  <a:pt x="515154" y="232529"/>
                  <a:pt x="515154" y="224671"/>
                  <a:pt x="512207" y="217616"/>
                </a:cubicBezTo>
                <a:cubicBezTo>
                  <a:pt x="498902" y="185737"/>
                  <a:pt x="470952" y="139303"/>
                  <a:pt x="429161" y="100548"/>
                </a:cubicBezTo>
                <a:cubicBezTo>
                  <a:pt x="387102" y="61526"/>
                  <a:pt x="329327" y="28575"/>
                  <a:pt x="257175" y="28575"/>
                </a:cubicBezTo>
                <a:close/>
                <a:moveTo>
                  <a:pt x="128588" y="228600"/>
                </a:moveTo>
                <a:cubicBezTo>
                  <a:pt x="128588" y="157631"/>
                  <a:pt x="186206" y="100013"/>
                  <a:pt x="257175" y="100013"/>
                </a:cubicBezTo>
                <a:cubicBezTo>
                  <a:pt x="328144" y="100013"/>
                  <a:pt x="385763" y="157631"/>
                  <a:pt x="385763" y="228600"/>
                </a:cubicBezTo>
                <a:cubicBezTo>
                  <a:pt x="385763" y="299569"/>
                  <a:pt x="328144" y="357188"/>
                  <a:pt x="257175" y="357188"/>
                </a:cubicBezTo>
                <a:cubicBezTo>
                  <a:pt x="186206" y="357188"/>
                  <a:pt x="128588" y="299569"/>
                  <a:pt x="128588" y="228600"/>
                </a:cubicBezTo>
                <a:close/>
                <a:moveTo>
                  <a:pt x="257175" y="171450"/>
                </a:moveTo>
                <a:cubicBezTo>
                  <a:pt x="257175" y="202972"/>
                  <a:pt x="231547" y="228600"/>
                  <a:pt x="200025" y="228600"/>
                </a:cubicBezTo>
                <a:cubicBezTo>
                  <a:pt x="189756" y="228600"/>
                  <a:pt x="180112" y="225921"/>
                  <a:pt x="171718" y="221099"/>
                </a:cubicBezTo>
                <a:cubicBezTo>
                  <a:pt x="170825" y="230832"/>
                  <a:pt x="171629" y="240834"/>
                  <a:pt x="174308" y="250746"/>
                </a:cubicBezTo>
                <a:cubicBezTo>
                  <a:pt x="186541" y="296466"/>
                  <a:pt x="233601" y="323612"/>
                  <a:pt x="279321" y="311378"/>
                </a:cubicBezTo>
                <a:cubicBezTo>
                  <a:pt x="325041" y="299145"/>
                  <a:pt x="352187" y="252085"/>
                  <a:pt x="339953" y="206365"/>
                </a:cubicBezTo>
                <a:cubicBezTo>
                  <a:pt x="329059" y="165556"/>
                  <a:pt x="290393" y="139571"/>
                  <a:pt x="249674" y="143143"/>
                </a:cubicBezTo>
                <a:cubicBezTo>
                  <a:pt x="254407" y="151448"/>
                  <a:pt x="257175" y="161092"/>
                  <a:pt x="257175" y="171450"/>
                </a:cubicBezTo>
                <a:close/>
              </a:path>
            </a:pathLst>
          </a:custGeom>
          <a:solidFill>
            <a:srgbClr val="DC2626"/>
          </a:solidFill>
          <a:ln/>
        </p:spPr>
      </p:sp>
      <p:sp>
        <p:nvSpPr>
          <p:cNvPr id="25" name="Text 23"/>
          <p:cNvSpPr/>
          <p:nvPr/>
        </p:nvSpPr>
        <p:spPr>
          <a:xfrm>
            <a:off x="9334500" y="3594100"/>
            <a:ext cx="381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MediaPipe (CV)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9334500" y="4000500"/>
            <a:ext cx="590550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Face detection, gaze tracking, and fatigue analysis for engagement monitoring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762000" y="5270500"/>
            <a:ext cx="14732000" cy="2921000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8" name="Shape 26"/>
          <p:cNvSpPr/>
          <p:nvPr/>
        </p:nvSpPr>
        <p:spPr>
          <a:xfrm>
            <a:off x="7861300" y="6223000"/>
            <a:ext cx="533400" cy="609600"/>
          </a:xfrm>
          <a:custGeom>
            <a:avLst/>
            <a:gdLst/>
            <a:ahLst/>
            <a:cxnLst/>
            <a:rect l="l" t="t" r="r" b="b"/>
            <a:pathLst>
              <a:path w="533400" h="609600">
                <a:moveTo>
                  <a:pt x="76200" y="95250"/>
                </a:moveTo>
                <a:cubicBezTo>
                  <a:pt x="65723" y="95250"/>
                  <a:pt x="57150" y="103823"/>
                  <a:pt x="57150" y="114300"/>
                </a:cubicBezTo>
                <a:lnTo>
                  <a:pt x="57150" y="495300"/>
                </a:lnTo>
                <a:cubicBezTo>
                  <a:pt x="57150" y="505778"/>
                  <a:pt x="65723" y="514350"/>
                  <a:pt x="76200" y="514350"/>
                </a:cubicBezTo>
                <a:lnTo>
                  <a:pt x="457200" y="514350"/>
                </a:lnTo>
                <a:cubicBezTo>
                  <a:pt x="467678" y="514350"/>
                  <a:pt x="476250" y="505778"/>
                  <a:pt x="476250" y="495300"/>
                </a:cubicBezTo>
                <a:lnTo>
                  <a:pt x="476250" y="114300"/>
                </a:lnTo>
                <a:cubicBezTo>
                  <a:pt x="476250" y="103823"/>
                  <a:pt x="467678" y="95250"/>
                  <a:pt x="457200" y="95250"/>
                </a:cubicBezTo>
                <a:lnTo>
                  <a:pt x="76200" y="95250"/>
                </a:lnTo>
                <a:close/>
                <a:moveTo>
                  <a:pt x="0" y="114300"/>
                </a:moveTo>
                <a:cubicBezTo>
                  <a:pt x="0" y="72271"/>
                  <a:pt x="34171" y="38100"/>
                  <a:pt x="76200" y="38100"/>
                </a:cubicBezTo>
                <a:lnTo>
                  <a:pt x="457200" y="38100"/>
                </a:lnTo>
                <a:cubicBezTo>
                  <a:pt x="499229" y="38100"/>
                  <a:pt x="533400" y="72271"/>
                  <a:pt x="533400" y="114300"/>
                </a:cubicBezTo>
                <a:lnTo>
                  <a:pt x="533400" y="495300"/>
                </a:lnTo>
                <a:cubicBezTo>
                  <a:pt x="533400" y="537329"/>
                  <a:pt x="499229" y="571500"/>
                  <a:pt x="457200" y="571500"/>
                </a:cubicBezTo>
                <a:lnTo>
                  <a:pt x="76200" y="571500"/>
                </a:lnTo>
                <a:cubicBezTo>
                  <a:pt x="34171" y="571500"/>
                  <a:pt x="0" y="537329"/>
                  <a:pt x="0" y="495300"/>
                </a:cubicBezTo>
                <a:lnTo>
                  <a:pt x="0" y="114300"/>
                </a:lnTo>
                <a:close/>
                <a:moveTo>
                  <a:pt x="152400" y="152400"/>
                </a:moveTo>
                <a:cubicBezTo>
                  <a:pt x="173428" y="152400"/>
                  <a:pt x="190500" y="169472"/>
                  <a:pt x="190500" y="190500"/>
                </a:cubicBezTo>
                <a:cubicBezTo>
                  <a:pt x="190500" y="211528"/>
                  <a:pt x="173428" y="228600"/>
                  <a:pt x="152400" y="228600"/>
                </a:cubicBezTo>
                <a:cubicBezTo>
                  <a:pt x="131372" y="228600"/>
                  <a:pt x="114300" y="211528"/>
                  <a:pt x="114300" y="190500"/>
                </a:cubicBezTo>
                <a:cubicBezTo>
                  <a:pt x="114300" y="169472"/>
                  <a:pt x="131372" y="152400"/>
                  <a:pt x="152400" y="152400"/>
                </a:cubicBezTo>
                <a:close/>
                <a:moveTo>
                  <a:pt x="314325" y="238125"/>
                </a:moveTo>
                <a:cubicBezTo>
                  <a:pt x="324445" y="238125"/>
                  <a:pt x="333851" y="243483"/>
                  <a:pt x="338971" y="252174"/>
                </a:cubicBezTo>
                <a:lnTo>
                  <a:pt x="434221" y="414099"/>
                </a:lnTo>
                <a:cubicBezTo>
                  <a:pt x="439460" y="422910"/>
                  <a:pt x="439460" y="433864"/>
                  <a:pt x="434340" y="442793"/>
                </a:cubicBezTo>
                <a:cubicBezTo>
                  <a:pt x="429220" y="451723"/>
                  <a:pt x="419814" y="457200"/>
                  <a:pt x="409575" y="457200"/>
                </a:cubicBezTo>
                <a:lnTo>
                  <a:pt x="123825" y="457200"/>
                </a:lnTo>
                <a:cubicBezTo>
                  <a:pt x="113228" y="457200"/>
                  <a:pt x="103346" y="451247"/>
                  <a:pt x="98465" y="441841"/>
                </a:cubicBezTo>
                <a:cubicBezTo>
                  <a:pt x="93583" y="432435"/>
                  <a:pt x="94298" y="421005"/>
                  <a:pt x="100370" y="412313"/>
                </a:cubicBezTo>
                <a:lnTo>
                  <a:pt x="167045" y="317063"/>
                </a:lnTo>
                <a:cubicBezTo>
                  <a:pt x="172403" y="309443"/>
                  <a:pt x="181094" y="304919"/>
                  <a:pt x="190500" y="304919"/>
                </a:cubicBezTo>
                <a:cubicBezTo>
                  <a:pt x="199906" y="304919"/>
                  <a:pt x="208597" y="309443"/>
                  <a:pt x="213955" y="317063"/>
                </a:cubicBezTo>
                <a:lnTo>
                  <a:pt x="234434" y="346353"/>
                </a:lnTo>
                <a:lnTo>
                  <a:pt x="289798" y="252293"/>
                </a:lnTo>
                <a:cubicBezTo>
                  <a:pt x="294918" y="243602"/>
                  <a:pt x="304324" y="238244"/>
                  <a:pt x="314444" y="238244"/>
                </a:cubicBezTo>
                <a:close/>
              </a:path>
            </a:pathLst>
          </a:custGeom>
          <a:solidFill>
            <a:srgbClr val="64748B"/>
          </a:solidFill>
          <a:ln/>
        </p:spPr>
      </p:sp>
      <p:sp>
        <p:nvSpPr>
          <p:cNvPr id="29" name="Text 27"/>
          <p:cNvSpPr/>
          <p:nvPr/>
        </p:nvSpPr>
        <p:spPr>
          <a:xfrm>
            <a:off x="4826000" y="6985000"/>
            <a:ext cx="6604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[Insert Diagram: Backend Service Architecture / API Endpoint Map]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14986000" y="87630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200" dirty="0">
                <a:solidFill>
                  <a:srgbClr val="64748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26</a:t>
            </a:r>
            <a:endParaRPr lang="en-US" sz="1200" dirty="0"/>
          </a:p>
        </p:txBody>
      </p:sp>
    </p:spTree>
  </p:cSld>
  <p:clrMapOvr>
    <a:masterClrMapping/>
  </p:clrMapOvr>
  <p:transition>
    <p:fade/>
    <p:spd val="med"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AFA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45720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Text 1"/>
          <p:cNvSpPr/>
          <p:nvPr/>
        </p:nvSpPr>
        <p:spPr>
          <a:xfrm>
            <a:off x="0" y="0"/>
            <a:ext cx="27051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spc="100" kern="0" dirty="0">
                <a:solidFill>
                  <a:srgbClr val="F8FAF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INTRODUCTION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2705100" y="0"/>
            <a:ext cx="27051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spc="100" kern="0" dirty="0">
                <a:solidFill>
                  <a:srgbClr val="F8FAF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LITERATURE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10200" y="0"/>
            <a:ext cx="27178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spc="100" kern="0" dirty="0">
                <a:solidFill>
                  <a:srgbClr val="F8FAF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METHODOLOGY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128000" y="0"/>
            <a:ext cx="27051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spc="100" kern="0" dirty="0">
                <a:solidFill>
                  <a:srgbClr val="F8FAF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XAI RESULTS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0833100" y="0"/>
            <a:ext cx="27178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b="1" spc="100" kern="0" dirty="0">
                <a:solidFill>
                  <a:srgbClr val="D9770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IMPLEMENTATION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3550900" y="0"/>
            <a:ext cx="27051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spc="100" kern="0" dirty="0">
                <a:solidFill>
                  <a:srgbClr val="F8FAF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DEMONSTRATION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62000" y="660400"/>
            <a:ext cx="8890000" cy="482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b="1" dirty="0">
                <a:solidFill>
                  <a:srgbClr val="1E293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Security: JWT &amp; OTP Authentication</a:t>
            </a:r>
            <a:endParaRPr lang="en-US" sz="2800" dirty="0"/>
          </a:p>
        </p:txBody>
      </p:sp>
      <p:sp>
        <p:nvSpPr>
          <p:cNvPr id="10" name="Shape 8"/>
          <p:cNvSpPr/>
          <p:nvPr/>
        </p:nvSpPr>
        <p:spPr>
          <a:xfrm>
            <a:off x="762000" y="1206500"/>
            <a:ext cx="762000" cy="3810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11" name="Shape 9"/>
          <p:cNvSpPr/>
          <p:nvPr/>
        </p:nvSpPr>
        <p:spPr>
          <a:xfrm>
            <a:off x="762000" y="1524000"/>
            <a:ext cx="7112000" cy="20955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62000" y="1524000"/>
            <a:ext cx="76200" cy="209550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13" name="Shape 11"/>
          <p:cNvSpPr/>
          <p:nvPr/>
        </p:nvSpPr>
        <p:spPr>
          <a:xfrm>
            <a:off x="1079500" y="17780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266700" y="279400"/>
                </a:moveTo>
                <a:cubicBezTo>
                  <a:pt x="343853" y="279400"/>
                  <a:pt x="406400" y="216853"/>
                  <a:pt x="406400" y="139700"/>
                </a:cubicBezTo>
                <a:cubicBezTo>
                  <a:pt x="406400" y="62548"/>
                  <a:pt x="343853" y="0"/>
                  <a:pt x="266700" y="0"/>
                </a:cubicBezTo>
                <a:cubicBezTo>
                  <a:pt x="189548" y="0"/>
                  <a:pt x="127000" y="62547"/>
                  <a:pt x="127000" y="139700"/>
                </a:cubicBezTo>
                <a:cubicBezTo>
                  <a:pt x="127000" y="154543"/>
                  <a:pt x="129302" y="168910"/>
                  <a:pt x="133588" y="182324"/>
                </a:cubicBezTo>
                <a:lnTo>
                  <a:pt x="5556" y="310356"/>
                </a:lnTo>
                <a:cubicBezTo>
                  <a:pt x="1984" y="313928"/>
                  <a:pt x="0" y="318770"/>
                  <a:pt x="0" y="323850"/>
                </a:cubicBezTo>
                <a:lnTo>
                  <a:pt x="0" y="387350"/>
                </a:lnTo>
                <a:cubicBezTo>
                  <a:pt x="0" y="397907"/>
                  <a:pt x="8493" y="406400"/>
                  <a:pt x="19050" y="406400"/>
                </a:cubicBezTo>
                <a:lnTo>
                  <a:pt x="82550" y="406400"/>
                </a:lnTo>
                <a:cubicBezTo>
                  <a:pt x="93107" y="406400"/>
                  <a:pt x="101600" y="397907"/>
                  <a:pt x="101600" y="387350"/>
                </a:cubicBezTo>
                <a:lnTo>
                  <a:pt x="101600" y="355600"/>
                </a:lnTo>
                <a:lnTo>
                  <a:pt x="133350" y="355600"/>
                </a:lnTo>
                <a:cubicBezTo>
                  <a:pt x="143907" y="355600"/>
                  <a:pt x="152400" y="347107"/>
                  <a:pt x="152400" y="336550"/>
                </a:cubicBezTo>
                <a:lnTo>
                  <a:pt x="152400" y="304800"/>
                </a:lnTo>
                <a:lnTo>
                  <a:pt x="184150" y="304800"/>
                </a:lnTo>
                <a:cubicBezTo>
                  <a:pt x="189230" y="304800"/>
                  <a:pt x="194072" y="302816"/>
                  <a:pt x="197644" y="299244"/>
                </a:cubicBezTo>
                <a:lnTo>
                  <a:pt x="224076" y="272812"/>
                </a:lnTo>
                <a:cubicBezTo>
                  <a:pt x="237490" y="277098"/>
                  <a:pt x="251857" y="279400"/>
                  <a:pt x="266700" y="279400"/>
                </a:cubicBezTo>
                <a:close/>
                <a:moveTo>
                  <a:pt x="298450" y="76200"/>
                </a:moveTo>
                <a:cubicBezTo>
                  <a:pt x="315973" y="76200"/>
                  <a:pt x="330200" y="90427"/>
                  <a:pt x="330200" y="107950"/>
                </a:cubicBezTo>
                <a:cubicBezTo>
                  <a:pt x="330200" y="125473"/>
                  <a:pt x="315973" y="139700"/>
                  <a:pt x="298450" y="139700"/>
                </a:cubicBezTo>
                <a:cubicBezTo>
                  <a:pt x="280927" y="139700"/>
                  <a:pt x="266700" y="125473"/>
                  <a:pt x="266700" y="107950"/>
                </a:cubicBezTo>
                <a:cubicBezTo>
                  <a:pt x="266700" y="90427"/>
                  <a:pt x="280927" y="76200"/>
                  <a:pt x="298450" y="76200"/>
                </a:cubicBezTo>
                <a:close/>
              </a:path>
            </a:pathLst>
          </a:custGeom>
          <a:solidFill>
            <a:srgbClr val="D97706"/>
          </a:solidFill>
          <a:ln/>
        </p:spPr>
      </p:sp>
      <p:sp>
        <p:nvSpPr>
          <p:cNvPr id="14" name="Text 12"/>
          <p:cNvSpPr/>
          <p:nvPr/>
        </p:nvSpPr>
        <p:spPr>
          <a:xfrm>
            <a:off x="1651000" y="1752600"/>
            <a:ext cx="508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JWT Session Management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079500" y="2260600"/>
            <a:ext cx="6477000" cy="1206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JSON Web Tokens for stateless, secure authentication. Tokens are signed, have expiration, and carry user claims for efficient session validation without server-side storage.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8382000" y="1524000"/>
            <a:ext cx="7112000" cy="20955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382000" y="1524000"/>
            <a:ext cx="76200" cy="209550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18" name="Shape 16"/>
          <p:cNvSpPr/>
          <p:nvPr/>
        </p:nvSpPr>
        <p:spPr>
          <a:xfrm>
            <a:off x="8699500" y="17780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203200" y="0"/>
                </a:moveTo>
                <a:cubicBezTo>
                  <a:pt x="206851" y="0"/>
                  <a:pt x="210503" y="794"/>
                  <a:pt x="213836" y="2302"/>
                </a:cubicBezTo>
                <a:lnTo>
                  <a:pt x="363379" y="65723"/>
                </a:lnTo>
                <a:cubicBezTo>
                  <a:pt x="380841" y="73104"/>
                  <a:pt x="393859" y="90329"/>
                  <a:pt x="393779" y="111125"/>
                </a:cubicBezTo>
                <a:cubicBezTo>
                  <a:pt x="393383" y="189865"/>
                  <a:pt x="360998" y="333931"/>
                  <a:pt x="224234" y="399415"/>
                </a:cubicBezTo>
                <a:cubicBezTo>
                  <a:pt x="210979" y="405765"/>
                  <a:pt x="195580" y="405765"/>
                  <a:pt x="182324" y="399415"/>
                </a:cubicBezTo>
                <a:cubicBezTo>
                  <a:pt x="45482" y="333931"/>
                  <a:pt x="13176" y="189865"/>
                  <a:pt x="12779" y="111125"/>
                </a:cubicBezTo>
                <a:cubicBezTo>
                  <a:pt x="12700" y="90329"/>
                  <a:pt x="25717" y="73104"/>
                  <a:pt x="43180" y="65723"/>
                </a:cubicBezTo>
                <a:lnTo>
                  <a:pt x="192643" y="2302"/>
                </a:lnTo>
                <a:cubicBezTo>
                  <a:pt x="195977" y="794"/>
                  <a:pt x="199549" y="0"/>
                  <a:pt x="203200" y="0"/>
                </a:cubicBezTo>
                <a:close/>
                <a:moveTo>
                  <a:pt x="203200" y="53022"/>
                </a:moveTo>
                <a:lnTo>
                  <a:pt x="203200" y="353139"/>
                </a:lnTo>
                <a:cubicBezTo>
                  <a:pt x="312738" y="300117"/>
                  <a:pt x="342186" y="182642"/>
                  <a:pt x="342900" y="112316"/>
                </a:cubicBezTo>
                <a:lnTo>
                  <a:pt x="203200" y="53102"/>
                </a:lnTo>
                <a:lnTo>
                  <a:pt x="203200" y="53102"/>
                </a:lnTo>
                <a:close/>
              </a:path>
            </a:pathLst>
          </a:custGeom>
          <a:solidFill>
            <a:srgbClr val="D97706"/>
          </a:solidFill>
          <a:ln/>
        </p:spPr>
      </p:sp>
      <p:sp>
        <p:nvSpPr>
          <p:cNvPr id="19" name="Text 17"/>
          <p:cNvSpPr/>
          <p:nvPr/>
        </p:nvSpPr>
        <p:spPr>
          <a:xfrm>
            <a:off x="9271000" y="1752600"/>
            <a:ext cx="508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OTP Email Verification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8699500" y="2260600"/>
            <a:ext cx="6477000" cy="1206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One-Time Password sent via email for multi-factor verification on signup. Prevents unauthorized account creation and ensures email ownership validation.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762000" y="3873500"/>
            <a:ext cx="7112000" cy="20955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62000" y="3873500"/>
            <a:ext cx="76200" cy="209550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3" name="Shape 21"/>
          <p:cNvSpPr/>
          <p:nvPr/>
        </p:nvSpPr>
        <p:spPr>
          <a:xfrm>
            <a:off x="1054100" y="4000500"/>
            <a:ext cx="457200" cy="406400"/>
          </a:xfrm>
          <a:custGeom>
            <a:avLst/>
            <a:gdLst/>
            <a:ahLst/>
            <a:cxnLst/>
            <a:rect l="l" t="t" r="r" b="b"/>
            <a:pathLst>
              <a:path w="457200" h="406400">
                <a:moveTo>
                  <a:pt x="177800" y="196850"/>
                </a:moveTo>
                <a:cubicBezTo>
                  <a:pt x="230370" y="196850"/>
                  <a:pt x="273050" y="154170"/>
                  <a:pt x="273050" y="101600"/>
                </a:cubicBezTo>
                <a:cubicBezTo>
                  <a:pt x="273050" y="49030"/>
                  <a:pt x="230370" y="6350"/>
                  <a:pt x="177800" y="6350"/>
                </a:cubicBezTo>
                <a:cubicBezTo>
                  <a:pt x="125230" y="6350"/>
                  <a:pt x="82550" y="49030"/>
                  <a:pt x="82550" y="101600"/>
                </a:cubicBezTo>
                <a:cubicBezTo>
                  <a:pt x="82550" y="154170"/>
                  <a:pt x="125230" y="196850"/>
                  <a:pt x="177800" y="196850"/>
                </a:cubicBezTo>
                <a:close/>
                <a:moveTo>
                  <a:pt x="154226" y="241300"/>
                </a:moveTo>
                <a:cubicBezTo>
                  <a:pt x="76041" y="241300"/>
                  <a:pt x="12700" y="304641"/>
                  <a:pt x="12700" y="382826"/>
                </a:cubicBezTo>
                <a:cubicBezTo>
                  <a:pt x="12700" y="395843"/>
                  <a:pt x="23257" y="406400"/>
                  <a:pt x="36274" y="406400"/>
                </a:cubicBezTo>
                <a:lnTo>
                  <a:pt x="235902" y="406400"/>
                </a:lnTo>
                <a:cubicBezTo>
                  <a:pt x="207169" y="372586"/>
                  <a:pt x="190500" y="329009"/>
                  <a:pt x="190500" y="282892"/>
                </a:cubicBezTo>
                <a:lnTo>
                  <a:pt x="190500" y="258207"/>
                </a:lnTo>
                <a:cubicBezTo>
                  <a:pt x="190500" y="252412"/>
                  <a:pt x="191294" y="246698"/>
                  <a:pt x="192802" y="241300"/>
                </a:cubicBezTo>
                <a:lnTo>
                  <a:pt x="154226" y="241300"/>
                </a:lnTo>
                <a:close/>
                <a:moveTo>
                  <a:pt x="353457" y="387747"/>
                </a:moveTo>
                <a:lnTo>
                  <a:pt x="342900" y="392748"/>
                </a:lnTo>
                <a:lnTo>
                  <a:pt x="342900" y="243443"/>
                </a:lnTo>
                <a:lnTo>
                  <a:pt x="419100" y="268843"/>
                </a:lnTo>
                <a:lnTo>
                  <a:pt x="419100" y="284401"/>
                </a:lnTo>
                <a:cubicBezTo>
                  <a:pt x="419100" y="328692"/>
                  <a:pt x="393541" y="368935"/>
                  <a:pt x="353457" y="387826"/>
                </a:cubicBezTo>
                <a:close/>
                <a:moveTo>
                  <a:pt x="334883" y="205978"/>
                </a:moveTo>
                <a:lnTo>
                  <a:pt x="245983" y="235585"/>
                </a:lnTo>
                <a:cubicBezTo>
                  <a:pt x="235585" y="239078"/>
                  <a:pt x="228600" y="248761"/>
                  <a:pt x="228600" y="259715"/>
                </a:cubicBezTo>
                <a:lnTo>
                  <a:pt x="228600" y="284401"/>
                </a:lnTo>
                <a:cubicBezTo>
                  <a:pt x="228600" y="343456"/>
                  <a:pt x="262731" y="397192"/>
                  <a:pt x="316071" y="422275"/>
                </a:cubicBezTo>
                <a:lnTo>
                  <a:pt x="330756" y="429181"/>
                </a:lnTo>
                <a:cubicBezTo>
                  <a:pt x="334566" y="430927"/>
                  <a:pt x="338693" y="431879"/>
                  <a:pt x="342821" y="431879"/>
                </a:cubicBezTo>
                <a:cubicBezTo>
                  <a:pt x="346948" y="431879"/>
                  <a:pt x="351155" y="430927"/>
                  <a:pt x="354886" y="429181"/>
                </a:cubicBezTo>
                <a:lnTo>
                  <a:pt x="369570" y="422275"/>
                </a:lnTo>
                <a:cubicBezTo>
                  <a:pt x="423069" y="397113"/>
                  <a:pt x="457200" y="343376"/>
                  <a:pt x="457200" y="284321"/>
                </a:cubicBezTo>
                <a:lnTo>
                  <a:pt x="457200" y="259636"/>
                </a:lnTo>
                <a:cubicBezTo>
                  <a:pt x="457200" y="248682"/>
                  <a:pt x="450215" y="238998"/>
                  <a:pt x="439817" y="235506"/>
                </a:cubicBezTo>
                <a:lnTo>
                  <a:pt x="350917" y="205899"/>
                </a:lnTo>
                <a:cubicBezTo>
                  <a:pt x="345678" y="204152"/>
                  <a:pt x="340043" y="204152"/>
                  <a:pt x="334883" y="205899"/>
                </a:cubicBezTo>
                <a:close/>
              </a:path>
            </a:pathLst>
          </a:custGeom>
          <a:solidFill>
            <a:srgbClr val="1E293B"/>
          </a:solidFill>
          <a:ln/>
        </p:spPr>
      </p:sp>
      <p:sp>
        <p:nvSpPr>
          <p:cNvPr id="24" name="Text 22"/>
          <p:cNvSpPr/>
          <p:nvPr/>
        </p:nvSpPr>
        <p:spPr>
          <a:xfrm>
            <a:off x="1651000" y="3975100"/>
            <a:ext cx="508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Role-Based Access Control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1079500" y="4610100"/>
            <a:ext cx="6477000" cy="1206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Student vs. Admin privilege separation ensures users can only access resources appropriate to their role. Middleware enforces route-level authorization.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8382000" y="3873500"/>
            <a:ext cx="7112000" cy="20955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382000" y="3873500"/>
            <a:ext cx="76200" cy="209550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8" name="Shape 26"/>
          <p:cNvSpPr/>
          <p:nvPr/>
        </p:nvSpPr>
        <p:spPr>
          <a:xfrm>
            <a:off x="8750300" y="4000500"/>
            <a:ext cx="304800" cy="406400"/>
          </a:xfrm>
          <a:custGeom>
            <a:avLst/>
            <a:gdLst/>
            <a:ahLst/>
            <a:cxnLst/>
            <a:rect l="l" t="t" r="r" b="b"/>
            <a:pathLst>
              <a:path w="304800" h="406400">
                <a:moveTo>
                  <a:pt x="101600" y="76200"/>
                </a:moveTo>
                <a:lnTo>
                  <a:pt x="101600" y="127000"/>
                </a:lnTo>
                <a:lnTo>
                  <a:pt x="203200" y="127000"/>
                </a:lnTo>
                <a:lnTo>
                  <a:pt x="203200" y="76200"/>
                </a:lnTo>
                <a:cubicBezTo>
                  <a:pt x="203200" y="48181"/>
                  <a:pt x="180419" y="25400"/>
                  <a:pt x="152400" y="25400"/>
                </a:cubicBezTo>
                <a:cubicBezTo>
                  <a:pt x="124381" y="25400"/>
                  <a:pt x="101600" y="48181"/>
                  <a:pt x="101600" y="76200"/>
                </a:cubicBezTo>
                <a:close/>
                <a:moveTo>
                  <a:pt x="50800" y="127000"/>
                </a:moveTo>
                <a:lnTo>
                  <a:pt x="50800" y="76200"/>
                </a:lnTo>
                <a:cubicBezTo>
                  <a:pt x="50800" y="20082"/>
                  <a:pt x="96282" y="-25400"/>
                  <a:pt x="152400" y="-25400"/>
                </a:cubicBezTo>
                <a:cubicBezTo>
                  <a:pt x="208518" y="-25400"/>
                  <a:pt x="254000" y="20082"/>
                  <a:pt x="254000" y="76200"/>
                </a:cubicBezTo>
                <a:lnTo>
                  <a:pt x="254000" y="127000"/>
                </a:lnTo>
                <a:cubicBezTo>
                  <a:pt x="282019" y="127000"/>
                  <a:pt x="304800" y="149781"/>
                  <a:pt x="304800" y="177800"/>
                </a:cubicBezTo>
                <a:lnTo>
                  <a:pt x="304800" y="355600"/>
                </a:lnTo>
                <a:cubicBezTo>
                  <a:pt x="304800" y="383619"/>
                  <a:pt x="282019" y="406400"/>
                  <a:pt x="254000" y="406400"/>
                </a:cubicBezTo>
                <a:lnTo>
                  <a:pt x="50800" y="406400"/>
                </a:lnTo>
                <a:cubicBezTo>
                  <a:pt x="22781" y="406400"/>
                  <a:pt x="0" y="383619"/>
                  <a:pt x="0" y="355600"/>
                </a:cubicBezTo>
                <a:lnTo>
                  <a:pt x="0" y="177800"/>
                </a:lnTo>
                <a:cubicBezTo>
                  <a:pt x="0" y="149781"/>
                  <a:pt x="22781" y="127000"/>
                  <a:pt x="50800" y="127000"/>
                </a:cubicBezTo>
                <a:close/>
              </a:path>
            </a:pathLst>
          </a:custGeom>
          <a:solidFill>
            <a:srgbClr val="1E293B"/>
          </a:solidFill>
          <a:ln/>
        </p:spPr>
      </p:sp>
      <p:sp>
        <p:nvSpPr>
          <p:cNvPr id="29" name="Text 27"/>
          <p:cNvSpPr/>
          <p:nvPr/>
        </p:nvSpPr>
        <p:spPr>
          <a:xfrm>
            <a:off x="9271000" y="3975100"/>
            <a:ext cx="508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Encrypted Transmission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8699500" y="4610100"/>
            <a:ext cx="6477000" cy="1206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HTTPS for all data transmission and bcrypt-hashed password storage. Defense-in-depth approach with input validation and SQL/NoSQL injection protection.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762000" y="6223000"/>
            <a:ext cx="14732000" cy="2159000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2" name="Shape 30"/>
          <p:cNvSpPr/>
          <p:nvPr/>
        </p:nvSpPr>
        <p:spPr>
          <a:xfrm>
            <a:off x="7854950" y="6858000"/>
            <a:ext cx="444500" cy="508000"/>
          </a:xfrm>
          <a:custGeom>
            <a:avLst/>
            <a:gdLst/>
            <a:ahLst/>
            <a:cxnLst/>
            <a:rect l="l" t="t" r="r" b="b"/>
            <a:pathLst>
              <a:path w="444500" h="508000">
                <a:moveTo>
                  <a:pt x="63500" y="79375"/>
                </a:moveTo>
                <a:cubicBezTo>
                  <a:pt x="54769" y="79375"/>
                  <a:pt x="47625" y="86519"/>
                  <a:pt x="47625" y="95250"/>
                </a:cubicBezTo>
                <a:lnTo>
                  <a:pt x="47625" y="412750"/>
                </a:lnTo>
                <a:cubicBezTo>
                  <a:pt x="47625" y="421481"/>
                  <a:pt x="54769" y="428625"/>
                  <a:pt x="63500" y="428625"/>
                </a:cubicBezTo>
                <a:lnTo>
                  <a:pt x="381000" y="428625"/>
                </a:lnTo>
                <a:cubicBezTo>
                  <a:pt x="389731" y="428625"/>
                  <a:pt x="396875" y="421481"/>
                  <a:pt x="396875" y="412750"/>
                </a:cubicBezTo>
                <a:lnTo>
                  <a:pt x="396875" y="95250"/>
                </a:lnTo>
                <a:cubicBezTo>
                  <a:pt x="396875" y="86519"/>
                  <a:pt x="389731" y="79375"/>
                  <a:pt x="381000" y="79375"/>
                </a:cubicBezTo>
                <a:lnTo>
                  <a:pt x="63500" y="79375"/>
                </a:lnTo>
                <a:close/>
                <a:moveTo>
                  <a:pt x="0" y="95250"/>
                </a:moveTo>
                <a:cubicBezTo>
                  <a:pt x="0" y="60226"/>
                  <a:pt x="28476" y="31750"/>
                  <a:pt x="63500" y="31750"/>
                </a:cubicBezTo>
                <a:lnTo>
                  <a:pt x="381000" y="31750"/>
                </a:lnTo>
                <a:cubicBezTo>
                  <a:pt x="416024" y="31750"/>
                  <a:pt x="444500" y="60226"/>
                  <a:pt x="444500" y="95250"/>
                </a:cubicBezTo>
                <a:lnTo>
                  <a:pt x="444500" y="412750"/>
                </a:lnTo>
                <a:cubicBezTo>
                  <a:pt x="444500" y="447774"/>
                  <a:pt x="416024" y="476250"/>
                  <a:pt x="381000" y="476250"/>
                </a:cubicBezTo>
                <a:lnTo>
                  <a:pt x="63500" y="476250"/>
                </a:lnTo>
                <a:cubicBezTo>
                  <a:pt x="28476" y="476250"/>
                  <a:pt x="0" y="447774"/>
                  <a:pt x="0" y="412750"/>
                </a:cubicBezTo>
                <a:lnTo>
                  <a:pt x="0" y="95250"/>
                </a:lnTo>
                <a:close/>
                <a:moveTo>
                  <a:pt x="127000" y="127000"/>
                </a:moveTo>
                <a:cubicBezTo>
                  <a:pt x="144523" y="127000"/>
                  <a:pt x="158750" y="141227"/>
                  <a:pt x="158750" y="158750"/>
                </a:cubicBezTo>
                <a:cubicBezTo>
                  <a:pt x="158750" y="176273"/>
                  <a:pt x="144523" y="190500"/>
                  <a:pt x="127000" y="190500"/>
                </a:cubicBezTo>
                <a:cubicBezTo>
                  <a:pt x="109477" y="190500"/>
                  <a:pt x="95250" y="176273"/>
                  <a:pt x="95250" y="158750"/>
                </a:cubicBezTo>
                <a:cubicBezTo>
                  <a:pt x="95250" y="141227"/>
                  <a:pt x="109477" y="127000"/>
                  <a:pt x="127000" y="127000"/>
                </a:cubicBezTo>
                <a:close/>
                <a:moveTo>
                  <a:pt x="261937" y="198438"/>
                </a:moveTo>
                <a:cubicBezTo>
                  <a:pt x="270371" y="198438"/>
                  <a:pt x="278209" y="202902"/>
                  <a:pt x="282476" y="210145"/>
                </a:cubicBezTo>
                <a:lnTo>
                  <a:pt x="361851" y="345083"/>
                </a:lnTo>
                <a:cubicBezTo>
                  <a:pt x="366216" y="352425"/>
                  <a:pt x="366216" y="361553"/>
                  <a:pt x="361950" y="368995"/>
                </a:cubicBezTo>
                <a:cubicBezTo>
                  <a:pt x="357684" y="376436"/>
                  <a:pt x="349845" y="381000"/>
                  <a:pt x="341313" y="381000"/>
                </a:cubicBezTo>
                <a:lnTo>
                  <a:pt x="103188" y="381000"/>
                </a:lnTo>
                <a:cubicBezTo>
                  <a:pt x="94357" y="381000"/>
                  <a:pt x="86122" y="376039"/>
                  <a:pt x="82054" y="368201"/>
                </a:cubicBezTo>
                <a:cubicBezTo>
                  <a:pt x="77986" y="360363"/>
                  <a:pt x="78581" y="350838"/>
                  <a:pt x="83641" y="343595"/>
                </a:cubicBezTo>
                <a:lnTo>
                  <a:pt x="139204" y="264220"/>
                </a:lnTo>
                <a:cubicBezTo>
                  <a:pt x="143669" y="257870"/>
                  <a:pt x="150912" y="254099"/>
                  <a:pt x="158750" y="254099"/>
                </a:cubicBezTo>
                <a:cubicBezTo>
                  <a:pt x="166588" y="254099"/>
                  <a:pt x="173831" y="257870"/>
                  <a:pt x="178296" y="264220"/>
                </a:cubicBezTo>
                <a:lnTo>
                  <a:pt x="195362" y="288627"/>
                </a:lnTo>
                <a:lnTo>
                  <a:pt x="241498" y="210245"/>
                </a:lnTo>
                <a:cubicBezTo>
                  <a:pt x="245765" y="203002"/>
                  <a:pt x="253603" y="198537"/>
                  <a:pt x="262037" y="198537"/>
                </a:cubicBezTo>
                <a:close/>
              </a:path>
            </a:pathLst>
          </a:custGeom>
          <a:solidFill>
            <a:srgbClr val="64748B"/>
          </a:solidFill>
          <a:ln/>
        </p:spPr>
      </p:sp>
      <p:sp>
        <p:nvSpPr>
          <p:cNvPr id="33" name="Text 31"/>
          <p:cNvSpPr/>
          <p:nvPr/>
        </p:nvSpPr>
        <p:spPr>
          <a:xfrm>
            <a:off x="4826000" y="7493000"/>
            <a:ext cx="6604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[Insert Diagram: Authentication Flow Sequence Diagram]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14986000" y="87630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200" dirty="0">
                <a:solidFill>
                  <a:srgbClr val="64748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27</a:t>
            </a:r>
            <a:endParaRPr lang="en-US" sz="1200" dirty="0"/>
          </a:p>
        </p:txBody>
      </p:sp>
    </p:spTree>
  </p:cSld>
  <p:clrMapOvr>
    <a:masterClrMapping/>
  </p:clrMapOvr>
  <p:transition>
    <p:fade/>
    <p:spd val="med"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AFA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45720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Text 1"/>
          <p:cNvSpPr/>
          <p:nvPr/>
        </p:nvSpPr>
        <p:spPr>
          <a:xfrm>
            <a:off x="0" y="0"/>
            <a:ext cx="27051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spc="100" kern="0" dirty="0">
                <a:solidFill>
                  <a:srgbClr val="F8FAF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INTRODUCTION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2705100" y="0"/>
            <a:ext cx="27051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spc="100" kern="0" dirty="0">
                <a:solidFill>
                  <a:srgbClr val="F8FAF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LITERATURE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10200" y="0"/>
            <a:ext cx="27178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spc="100" kern="0" dirty="0">
                <a:solidFill>
                  <a:srgbClr val="F8FAF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METHODOLOGY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128000" y="0"/>
            <a:ext cx="27051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spc="100" kern="0" dirty="0">
                <a:solidFill>
                  <a:srgbClr val="F8FAF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XAI RESULTS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0833100" y="0"/>
            <a:ext cx="27178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b="1" spc="100" kern="0" dirty="0">
                <a:solidFill>
                  <a:srgbClr val="D9770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IMPLEMENTATION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3550900" y="0"/>
            <a:ext cx="27051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spc="100" kern="0" dirty="0">
                <a:solidFill>
                  <a:srgbClr val="F8FAF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DEMONSTRATION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62000" y="660400"/>
            <a:ext cx="10160000" cy="482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b="1" dirty="0">
                <a:solidFill>
                  <a:srgbClr val="1E293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Core Feature: Agentic Onboarding</a:t>
            </a:r>
            <a:endParaRPr lang="en-US" sz="2800" dirty="0"/>
          </a:p>
        </p:txBody>
      </p:sp>
      <p:sp>
        <p:nvSpPr>
          <p:cNvPr id="10" name="Shape 8"/>
          <p:cNvSpPr/>
          <p:nvPr/>
        </p:nvSpPr>
        <p:spPr>
          <a:xfrm>
            <a:off x="762000" y="1206500"/>
            <a:ext cx="762000" cy="3810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11" name="Text 9"/>
          <p:cNvSpPr/>
          <p:nvPr/>
        </p:nvSpPr>
        <p:spPr>
          <a:xfrm>
            <a:off x="762000" y="1460500"/>
            <a:ext cx="7366000" cy="292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800" dirty="0">
                <a:solidFill>
                  <a:srgbClr val="D9770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■</a:t>
            </a:r>
            <a:pPr>
              <a:lnSpc>
                <a:spcPct val="150000"/>
              </a:lnSpc>
            </a:pPr>
            <a:r>
              <a:rPr lang="en-US" sz="1800" dirty="0">
                <a:solidFill>
                  <a:srgbClr val="0F172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</a:t>
            </a:r>
            <a:pPr>
              <a:lnSpc>
                <a:spcPct val="150000"/>
              </a:lnSpc>
            </a:pPr>
            <a:r>
              <a:rPr lang="en-US" sz="1800" b="1" dirty="0">
                <a:solidFill>
                  <a:srgbClr val="0F172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Multi-step conversational profiling:</a:t>
            </a:r>
            <a:pPr>
              <a:lnSpc>
                <a:spcPct val="150000"/>
              </a:lnSpc>
            </a:pPr>
            <a:r>
              <a:rPr lang="en-US" sz="1800" dirty="0">
                <a:solidFill>
                  <a:srgbClr val="0F172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academic background, skills assessment, interests</a:t>
            </a:r>
            <a:endParaRPr lang="en-US" sz="1800" dirty="0"/>
          </a:p>
          <a:p>
            <a:pPr>
              <a:lnSpc>
                <a:spcPct val="150000"/>
              </a:lnSpc>
              <a:spcBef>
                <a:spcPts val="1000"/>
              </a:spcBef>
            </a:pPr>
            <a:r>
              <a:rPr lang="en-US" sz="1800" dirty="0">
                <a:solidFill>
                  <a:srgbClr val="D9770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■</a:t>
            </a:r>
            <a:pPr>
              <a:lnSpc>
                <a:spcPct val="150000"/>
              </a:lnSpc>
              <a:spcBef>
                <a:spcPts val="1000"/>
              </a:spcBef>
            </a:pPr>
            <a:r>
              <a:rPr lang="en-US" sz="1800" dirty="0">
                <a:solidFill>
                  <a:srgbClr val="0F172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</a:t>
            </a:r>
            <a:pPr>
              <a:lnSpc>
                <a:spcPct val="150000"/>
              </a:lnSpc>
              <a:spcBef>
                <a:spcPts val="1000"/>
              </a:spcBef>
            </a:pPr>
            <a:r>
              <a:rPr lang="en-US" sz="1800" b="1" dirty="0">
                <a:solidFill>
                  <a:srgbClr val="0F172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Progressive disclosure:</a:t>
            </a:r>
            <a:pPr>
              <a:lnSpc>
                <a:spcPct val="150000"/>
              </a:lnSpc>
              <a:spcBef>
                <a:spcPts val="1000"/>
              </a:spcBef>
            </a:pPr>
            <a:r>
              <a:rPr lang="en-US" sz="1800" dirty="0">
                <a:solidFill>
                  <a:srgbClr val="0F172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each step builds the student profile incrementally</a:t>
            </a:r>
            <a:endParaRPr lang="en-US" sz="1800" dirty="0"/>
          </a:p>
          <a:p>
            <a:pPr>
              <a:lnSpc>
                <a:spcPct val="150000"/>
              </a:lnSpc>
              <a:spcBef>
                <a:spcPts val="1000"/>
              </a:spcBef>
            </a:pPr>
            <a:r>
              <a:rPr lang="en-US" sz="1800" dirty="0">
                <a:solidFill>
                  <a:srgbClr val="D9770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■</a:t>
            </a:r>
            <a:pPr>
              <a:lnSpc>
                <a:spcPct val="150000"/>
              </a:lnSpc>
              <a:spcBef>
                <a:spcPts val="1000"/>
              </a:spcBef>
            </a:pPr>
            <a:r>
              <a:rPr lang="en-US" sz="1800" dirty="0">
                <a:solidFill>
                  <a:srgbClr val="0F172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Real-time validation and smart defaults based on prior responses</a:t>
            </a:r>
            <a:endParaRPr lang="en-US" sz="1800" dirty="0"/>
          </a:p>
          <a:p>
            <a:pPr>
              <a:lnSpc>
                <a:spcPct val="150000"/>
              </a:lnSpc>
              <a:spcBef>
                <a:spcPts val="1000"/>
              </a:spcBef>
            </a:pPr>
            <a:r>
              <a:rPr lang="en-US" sz="1800" dirty="0">
                <a:solidFill>
                  <a:srgbClr val="D9770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■</a:t>
            </a:r>
            <a:pPr>
              <a:lnSpc>
                <a:spcPct val="150000"/>
              </a:lnSpc>
              <a:spcBef>
                <a:spcPts val="1000"/>
              </a:spcBef>
            </a:pPr>
            <a:r>
              <a:rPr lang="en-US" sz="1800" dirty="0">
                <a:solidFill>
                  <a:srgbClr val="0F172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Profile completion stored to MongoDB for persistent personalization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762000" y="4699000"/>
            <a:ext cx="3048000" cy="88900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/>
        </p:spPr>
      </p:sp>
      <p:sp>
        <p:nvSpPr>
          <p:cNvPr id="13" name="Text 11"/>
          <p:cNvSpPr/>
          <p:nvPr/>
        </p:nvSpPr>
        <p:spPr>
          <a:xfrm>
            <a:off x="889000" y="4800600"/>
            <a:ext cx="2794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1300" b="1" dirty="0">
                <a:solidFill>
                  <a:srgbClr val="F8FAF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STEP 1</a:t>
            </a:r>
            <a:endParaRPr lang="en-US" sz="1600" dirty="0"/>
          </a:p>
          <a:p>
            <a:pPr algn="ctr">
              <a:lnSpc>
                <a:spcPct val="140000"/>
              </a:lnSpc>
            </a:pPr>
            <a:r>
              <a:rPr lang="en-US" sz="1300" dirty="0">
                <a:solidFill>
                  <a:srgbClr val="F8FAF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Academic Background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3810000" y="5080000"/>
            <a:ext cx="381000" cy="0"/>
          </a:xfrm>
          <a:prstGeom prst="straightConnector1">
            <a:avLst/>
          </a:prstGeom>
          <a:noFill/>
          <a:ln w="25400">
            <a:solidFill>
              <a:srgbClr val="D97706"/>
            </a:solidFill>
            <a:prstDash val="solid"/>
            <a:headEnd type="none"/>
            <a:tailEnd type="arrow"/>
          </a:ln>
        </p:spPr>
      </p:sp>
      <p:sp>
        <p:nvSpPr>
          <p:cNvPr id="15" name="Shape 13"/>
          <p:cNvSpPr/>
          <p:nvPr/>
        </p:nvSpPr>
        <p:spPr>
          <a:xfrm>
            <a:off x="4191000" y="4699000"/>
            <a:ext cx="3048000" cy="88900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/>
        </p:spPr>
      </p:sp>
      <p:sp>
        <p:nvSpPr>
          <p:cNvPr id="16" name="Text 14"/>
          <p:cNvSpPr/>
          <p:nvPr/>
        </p:nvSpPr>
        <p:spPr>
          <a:xfrm>
            <a:off x="4318000" y="4800600"/>
            <a:ext cx="2794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1300" b="1" dirty="0">
                <a:solidFill>
                  <a:srgbClr val="F8FAF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STEP 2</a:t>
            </a:r>
            <a:endParaRPr lang="en-US" sz="1600" dirty="0"/>
          </a:p>
          <a:p>
            <a:pPr algn="ctr">
              <a:lnSpc>
                <a:spcPct val="140000"/>
              </a:lnSpc>
            </a:pPr>
            <a:r>
              <a:rPr lang="en-US" sz="1300" dirty="0">
                <a:solidFill>
                  <a:srgbClr val="F8FAF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Skills Assessment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7239000" y="5080000"/>
            <a:ext cx="381000" cy="0"/>
          </a:xfrm>
          <a:prstGeom prst="straightConnector1">
            <a:avLst/>
          </a:prstGeom>
          <a:noFill/>
          <a:ln w="25400">
            <a:solidFill>
              <a:srgbClr val="D97706"/>
            </a:solidFill>
            <a:prstDash val="solid"/>
            <a:headEnd type="none"/>
            <a:tailEnd type="arrow"/>
          </a:ln>
        </p:spPr>
      </p:sp>
      <p:sp>
        <p:nvSpPr>
          <p:cNvPr id="18" name="Shape 16"/>
          <p:cNvSpPr/>
          <p:nvPr/>
        </p:nvSpPr>
        <p:spPr>
          <a:xfrm>
            <a:off x="7620000" y="4699000"/>
            <a:ext cx="3048000" cy="88900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/>
        </p:spPr>
      </p:sp>
      <p:sp>
        <p:nvSpPr>
          <p:cNvPr id="19" name="Text 17"/>
          <p:cNvSpPr/>
          <p:nvPr/>
        </p:nvSpPr>
        <p:spPr>
          <a:xfrm>
            <a:off x="7747000" y="4800600"/>
            <a:ext cx="2794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1300" b="1" dirty="0">
                <a:solidFill>
                  <a:srgbClr val="F8FAF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STEP 3</a:t>
            </a:r>
            <a:endParaRPr lang="en-US" sz="1600" dirty="0"/>
          </a:p>
          <a:p>
            <a:pPr algn="ctr">
              <a:lnSpc>
                <a:spcPct val="140000"/>
              </a:lnSpc>
            </a:pPr>
            <a:r>
              <a:rPr lang="en-US" sz="1300" dirty="0">
                <a:solidFill>
                  <a:srgbClr val="F8FAF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Domain Interests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10668000" y="5080000"/>
            <a:ext cx="381000" cy="0"/>
          </a:xfrm>
          <a:prstGeom prst="straightConnector1">
            <a:avLst/>
          </a:prstGeom>
          <a:noFill/>
          <a:ln w="25400">
            <a:solidFill>
              <a:srgbClr val="D97706"/>
            </a:solidFill>
            <a:prstDash val="solid"/>
            <a:headEnd type="none"/>
            <a:tailEnd type="arrow"/>
          </a:ln>
        </p:spPr>
      </p:sp>
      <p:sp>
        <p:nvSpPr>
          <p:cNvPr id="21" name="Shape 19"/>
          <p:cNvSpPr/>
          <p:nvPr/>
        </p:nvSpPr>
        <p:spPr>
          <a:xfrm>
            <a:off x="11049000" y="4699000"/>
            <a:ext cx="3048000" cy="889000"/>
          </a:xfrm>
          <a:prstGeom prst="roundRect">
            <a:avLst>
              <a:gd name="adj" fmla="val 8000"/>
            </a:avLst>
          </a:prstGeom>
          <a:solidFill>
            <a:srgbClr val="D97706"/>
          </a:solidFill>
          <a:ln/>
        </p:spPr>
      </p:sp>
      <p:sp>
        <p:nvSpPr>
          <p:cNvPr id="22" name="Text 20"/>
          <p:cNvSpPr/>
          <p:nvPr/>
        </p:nvSpPr>
        <p:spPr>
          <a:xfrm>
            <a:off x="11176000" y="4800600"/>
            <a:ext cx="2794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1300" b="1" dirty="0">
                <a:solidFill>
                  <a:srgbClr val="F8FAF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STEP 4</a:t>
            </a:r>
            <a:endParaRPr lang="en-US" sz="1600" dirty="0"/>
          </a:p>
          <a:p>
            <a:pPr algn="ctr">
              <a:lnSpc>
                <a:spcPct val="140000"/>
              </a:lnSpc>
            </a:pPr>
            <a:r>
              <a:rPr lang="en-US" sz="1300" dirty="0">
                <a:solidFill>
                  <a:srgbClr val="F8FAF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Profile Complete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762000" y="5905500"/>
            <a:ext cx="14732000" cy="2413000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4" name="Shape 22"/>
          <p:cNvSpPr/>
          <p:nvPr/>
        </p:nvSpPr>
        <p:spPr>
          <a:xfrm>
            <a:off x="7854950" y="6667500"/>
            <a:ext cx="444500" cy="508000"/>
          </a:xfrm>
          <a:custGeom>
            <a:avLst/>
            <a:gdLst/>
            <a:ahLst/>
            <a:cxnLst/>
            <a:rect l="l" t="t" r="r" b="b"/>
            <a:pathLst>
              <a:path w="444500" h="508000">
                <a:moveTo>
                  <a:pt x="63500" y="79375"/>
                </a:moveTo>
                <a:cubicBezTo>
                  <a:pt x="54769" y="79375"/>
                  <a:pt x="47625" y="86519"/>
                  <a:pt x="47625" y="95250"/>
                </a:cubicBezTo>
                <a:lnTo>
                  <a:pt x="47625" y="412750"/>
                </a:lnTo>
                <a:cubicBezTo>
                  <a:pt x="47625" y="421481"/>
                  <a:pt x="54769" y="428625"/>
                  <a:pt x="63500" y="428625"/>
                </a:cubicBezTo>
                <a:lnTo>
                  <a:pt x="381000" y="428625"/>
                </a:lnTo>
                <a:cubicBezTo>
                  <a:pt x="389731" y="428625"/>
                  <a:pt x="396875" y="421481"/>
                  <a:pt x="396875" y="412750"/>
                </a:cubicBezTo>
                <a:lnTo>
                  <a:pt x="396875" y="95250"/>
                </a:lnTo>
                <a:cubicBezTo>
                  <a:pt x="396875" y="86519"/>
                  <a:pt x="389731" y="79375"/>
                  <a:pt x="381000" y="79375"/>
                </a:cubicBezTo>
                <a:lnTo>
                  <a:pt x="63500" y="79375"/>
                </a:lnTo>
                <a:close/>
                <a:moveTo>
                  <a:pt x="0" y="95250"/>
                </a:moveTo>
                <a:cubicBezTo>
                  <a:pt x="0" y="60226"/>
                  <a:pt x="28476" y="31750"/>
                  <a:pt x="63500" y="31750"/>
                </a:cubicBezTo>
                <a:lnTo>
                  <a:pt x="381000" y="31750"/>
                </a:lnTo>
                <a:cubicBezTo>
                  <a:pt x="416024" y="31750"/>
                  <a:pt x="444500" y="60226"/>
                  <a:pt x="444500" y="95250"/>
                </a:cubicBezTo>
                <a:lnTo>
                  <a:pt x="444500" y="412750"/>
                </a:lnTo>
                <a:cubicBezTo>
                  <a:pt x="444500" y="447774"/>
                  <a:pt x="416024" y="476250"/>
                  <a:pt x="381000" y="476250"/>
                </a:cubicBezTo>
                <a:lnTo>
                  <a:pt x="63500" y="476250"/>
                </a:lnTo>
                <a:cubicBezTo>
                  <a:pt x="28476" y="476250"/>
                  <a:pt x="0" y="447774"/>
                  <a:pt x="0" y="412750"/>
                </a:cubicBezTo>
                <a:lnTo>
                  <a:pt x="0" y="95250"/>
                </a:lnTo>
                <a:close/>
                <a:moveTo>
                  <a:pt x="127000" y="127000"/>
                </a:moveTo>
                <a:cubicBezTo>
                  <a:pt x="144523" y="127000"/>
                  <a:pt x="158750" y="141227"/>
                  <a:pt x="158750" y="158750"/>
                </a:cubicBezTo>
                <a:cubicBezTo>
                  <a:pt x="158750" y="176273"/>
                  <a:pt x="144523" y="190500"/>
                  <a:pt x="127000" y="190500"/>
                </a:cubicBezTo>
                <a:cubicBezTo>
                  <a:pt x="109477" y="190500"/>
                  <a:pt x="95250" y="176273"/>
                  <a:pt x="95250" y="158750"/>
                </a:cubicBezTo>
                <a:cubicBezTo>
                  <a:pt x="95250" y="141227"/>
                  <a:pt x="109477" y="127000"/>
                  <a:pt x="127000" y="127000"/>
                </a:cubicBezTo>
                <a:close/>
                <a:moveTo>
                  <a:pt x="261937" y="198438"/>
                </a:moveTo>
                <a:cubicBezTo>
                  <a:pt x="270371" y="198438"/>
                  <a:pt x="278209" y="202902"/>
                  <a:pt x="282476" y="210145"/>
                </a:cubicBezTo>
                <a:lnTo>
                  <a:pt x="361851" y="345083"/>
                </a:lnTo>
                <a:cubicBezTo>
                  <a:pt x="366216" y="352425"/>
                  <a:pt x="366216" y="361553"/>
                  <a:pt x="361950" y="368995"/>
                </a:cubicBezTo>
                <a:cubicBezTo>
                  <a:pt x="357684" y="376436"/>
                  <a:pt x="349845" y="381000"/>
                  <a:pt x="341313" y="381000"/>
                </a:cubicBezTo>
                <a:lnTo>
                  <a:pt x="103188" y="381000"/>
                </a:lnTo>
                <a:cubicBezTo>
                  <a:pt x="94357" y="381000"/>
                  <a:pt x="86122" y="376039"/>
                  <a:pt x="82054" y="368201"/>
                </a:cubicBezTo>
                <a:cubicBezTo>
                  <a:pt x="77986" y="360363"/>
                  <a:pt x="78581" y="350838"/>
                  <a:pt x="83641" y="343595"/>
                </a:cubicBezTo>
                <a:lnTo>
                  <a:pt x="139204" y="264220"/>
                </a:lnTo>
                <a:cubicBezTo>
                  <a:pt x="143669" y="257870"/>
                  <a:pt x="150912" y="254099"/>
                  <a:pt x="158750" y="254099"/>
                </a:cubicBezTo>
                <a:cubicBezTo>
                  <a:pt x="166588" y="254099"/>
                  <a:pt x="173831" y="257870"/>
                  <a:pt x="178296" y="264220"/>
                </a:cubicBezTo>
                <a:lnTo>
                  <a:pt x="195362" y="288627"/>
                </a:lnTo>
                <a:lnTo>
                  <a:pt x="241498" y="210245"/>
                </a:lnTo>
                <a:cubicBezTo>
                  <a:pt x="245765" y="203002"/>
                  <a:pt x="253603" y="198537"/>
                  <a:pt x="262037" y="198537"/>
                </a:cubicBezTo>
                <a:close/>
              </a:path>
            </a:pathLst>
          </a:custGeom>
          <a:solidFill>
            <a:srgbClr val="64748B"/>
          </a:solidFill>
          <a:ln/>
        </p:spPr>
      </p:sp>
      <p:sp>
        <p:nvSpPr>
          <p:cNvPr id="25" name="Text 23"/>
          <p:cNvSpPr/>
          <p:nvPr/>
        </p:nvSpPr>
        <p:spPr>
          <a:xfrm>
            <a:off x="4572000" y="7302500"/>
            <a:ext cx="7112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[Insert Screenshot: Onboarding Flow UI Screenshots — Steps 1-4]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14986000" y="87630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200" dirty="0">
                <a:solidFill>
                  <a:srgbClr val="64748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28</a:t>
            </a:r>
            <a:endParaRPr lang="en-US" sz="1200" dirty="0"/>
          </a:p>
        </p:txBody>
      </p:sp>
    </p:spTree>
  </p:cSld>
  <p:clrMapOvr>
    <a:masterClrMapping/>
  </p:clrMapOvr>
  <p:transition>
    <p:fade/>
    <p:spd val="med"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AFA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45720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Text 1"/>
          <p:cNvSpPr/>
          <p:nvPr/>
        </p:nvSpPr>
        <p:spPr>
          <a:xfrm>
            <a:off x="0" y="0"/>
            <a:ext cx="27051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spc="100" kern="0" dirty="0">
                <a:solidFill>
                  <a:srgbClr val="F8FAF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INTRODUCTION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2705100" y="0"/>
            <a:ext cx="27051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spc="100" kern="0" dirty="0">
                <a:solidFill>
                  <a:srgbClr val="F8FAF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LITERATURE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10200" y="0"/>
            <a:ext cx="27178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spc="100" kern="0" dirty="0">
                <a:solidFill>
                  <a:srgbClr val="F8FAF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METHODOLOGY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128000" y="0"/>
            <a:ext cx="27051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spc="100" kern="0" dirty="0">
                <a:solidFill>
                  <a:srgbClr val="F8FAF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XAI RESULTS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0833100" y="0"/>
            <a:ext cx="27178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b="1" spc="100" kern="0" dirty="0">
                <a:solidFill>
                  <a:srgbClr val="D9770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IMPLEMENTATION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3550900" y="0"/>
            <a:ext cx="27051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spc="100" kern="0" dirty="0">
                <a:solidFill>
                  <a:srgbClr val="F8FAF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DEMONSTRATION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62000" y="660400"/>
            <a:ext cx="11430000" cy="482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b="1" dirty="0">
                <a:solidFill>
                  <a:srgbClr val="1E293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Core Feature: Dashboard &amp; XAI Visualization</a:t>
            </a:r>
            <a:endParaRPr lang="en-US" sz="2800" dirty="0"/>
          </a:p>
        </p:txBody>
      </p:sp>
      <p:sp>
        <p:nvSpPr>
          <p:cNvPr id="10" name="Shape 8"/>
          <p:cNvSpPr/>
          <p:nvPr/>
        </p:nvSpPr>
        <p:spPr>
          <a:xfrm>
            <a:off x="762000" y="1206500"/>
            <a:ext cx="762000" cy="3810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11" name="Text 9"/>
          <p:cNvSpPr/>
          <p:nvPr/>
        </p:nvSpPr>
        <p:spPr>
          <a:xfrm>
            <a:off x="762000" y="1460500"/>
            <a:ext cx="7366000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70000"/>
              </a:lnSpc>
            </a:pPr>
            <a:r>
              <a:rPr lang="en-US" sz="1800" dirty="0">
                <a:solidFill>
                  <a:srgbClr val="D9770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■</a:t>
            </a:r>
            <a:pPr>
              <a:lnSpc>
                <a:spcPct val="170000"/>
              </a:lnSpc>
            </a:pPr>
            <a:r>
              <a:rPr lang="en-US" sz="1800" dirty="0">
                <a:solidFill>
                  <a:srgbClr val="0F172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Career prediction displayed with </a:t>
            </a:r>
            <a:pPr>
              <a:lnSpc>
                <a:spcPct val="170000"/>
              </a:lnSpc>
            </a:pPr>
            <a:r>
              <a:rPr lang="en-US" sz="1800" b="1" dirty="0">
                <a:solidFill>
                  <a:srgbClr val="0F172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confidence score</a:t>
            </a:r>
            <a:pPr>
              <a:lnSpc>
                <a:spcPct val="170000"/>
              </a:lnSpc>
            </a:pPr>
            <a:r>
              <a:rPr lang="en-US" sz="1800" dirty="0">
                <a:solidFill>
                  <a:srgbClr val="0F172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and top-matched careers</a:t>
            </a:r>
            <a:endParaRPr lang="en-US" sz="1800" dirty="0"/>
          </a:p>
          <a:p>
            <a:pPr>
              <a:lnSpc>
                <a:spcPct val="170000"/>
              </a:lnSpc>
              <a:spcBef>
                <a:spcPts val="1000"/>
              </a:spcBef>
            </a:pPr>
            <a:r>
              <a:rPr lang="en-US" sz="1800" dirty="0">
                <a:solidFill>
                  <a:srgbClr val="D9770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■</a:t>
            </a:r>
            <a:pPr>
              <a:lnSpc>
                <a:spcPct val="170000"/>
              </a:lnSpc>
              <a:spcBef>
                <a:spcPts val="1000"/>
              </a:spcBef>
            </a:pPr>
            <a:r>
              <a:rPr lang="en-US" sz="1800" dirty="0">
                <a:solidFill>
                  <a:srgbClr val="0F172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</a:t>
            </a:r>
            <a:pPr>
              <a:lnSpc>
                <a:spcPct val="170000"/>
              </a:lnSpc>
              <a:spcBef>
                <a:spcPts val="1000"/>
              </a:spcBef>
            </a:pPr>
            <a:r>
              <a:rPr lang="en-US" sz="1800" b="1" dirty="0">
                <a:solidFill>
                  <a:srgbClr val="0F172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Real-time SHAP visualizations:</a:t>
            </a:r>
            <a:pPr>
              <a:lnSpc>
                <a:spcPct val="170000"/>
              </a:lnSpc>
              <a:spcBef>
                <a:spcPts val="1000"/>
              </a:spcBef>
            </a:pPr>
            <a:r>
              <a:rPr lang="en-US" sz="1800" dirty="0">
                <a:solidFill>
                  <a:srgbClr val="0F172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interactive bar charts showing drivers/inhibitors</a:t>
            </a:r>
            <a:endParaRPr lang="en-US" sz="1800" dirty="0"/>
          </a:p>
          <a:p>
            <a:pPr>
              <a:lnSpc>
                <a:spcPct val="170000"/>
              </a:lnSpc>
              <a:spcBef>
                <a:spcPts val="1000"/>
              </a:spcBef>
            </a:pPr>
            <a:r>
              <a:rPr lang="en-US" sz="1800" dirty="0">
                <a:solidFill>
                  <a:srgbClr val="D9770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■</a:t>
            </a:r>
            <a:pPr>
              <a:lnSpc>
                <a:spcPct val="170000"/>
              </a:lnSpc>
              <a:spcBef>
                <a:spcPts val="1000"/>
              </a:spcBef>
            </a:pPr>
            <a:r>
              <a:rPr lang="en-US" sz="1800" dirty="0">
                <a:solidFill>
                  <a:srgbClr val="0F172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Students can toggle between career predictions to </a:t>
            </a:r>
            <a:pPr>
              <a:lnSpc>
                <a:spcPct val="170000"/>
              </a:lnSpc>
              <a:spcBef>
                <a:spcPts val="1000"/>
              </a:spcBef>
            </a:pPr>
            <a:r>
              <a:rPr lang="en-US" sz="1800" b="1" dirty="0">
                <a:solidFill>
                  <a:srgbClr val="0F172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compare skill gaps</a:t>
            </a:r>
            <a:endParaRPr lang="en-US" sz="1800" dirty="0"/>
          </a:p>
          <a:p>
            <a:pPr>
              <a:lnSpc>
                <a:spcPct val="170000"/>
              </a:lnSpc>
              <a:spcBef>
                <a:spcPts val="1000"/>
              </a:spcBef>
            </a:pPr>
            <a:r>
              <a:rPr lang="en-US" sz="1800" dirty="0">
                <a:solidFill>
                  <a:srgbClr val="D9770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■</a:t>
            </a:r>
            <a:pPr>
              <a:lnSpc>
                <a:spcPct val="170000"/>
              </a:lnSpc>
              <a:spcBef>
                <a:spcPts val="1000"/>
              </a:spcBef>
            </a:pPr>
            <a:r>
              <a:rPr lang="en-US" sz="1800" dirty="0">
                <a:solidFill>
                  <a:srgbClr val="0F172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</a:t>
            </a:r>
            <a:pPr>
              <a:lnSpc>
                <a:spcPct val="170000"/>
              </a:lnSpc>
              <a:spcBef>
                <a:spcPts val="1000"/>
              </a:spcBef>
            </a:pPr>
            <a:r>
              <a:rPr lang="en-US" sz="1800" b="1" dirty="0">
                <a:solidFill>
                  <a:srgbClr val="0F172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Transparency-first design:</a:t>
            </a:r>
            <a:pPr>
              <a:lnSpc>
                <a:spcPct val="170000"/>
              </a:lnSpc>
              <a:spcBef>
                <a:spcPts val="1000"/>
              </a:spcBef>
            </a:pPr>
            <a:r>
              <a:rPr lang="en-US" sz="1800" dirty="0">
                <a:solidFill>
                  <a:srgbClr val="0F172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every recommendation is explainable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762000" y="5016500"/>
            <a:ext cx="7366000" cy="165100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/>
        </p:spPr>
      </p:sp>
      <p:sp>
        <p:nvSpPr>
          <p:cNvPr id="13" name="Text 11"/>
          <p:cNvSpPr/>
          <p:nvPr/>
        </p:nvSpPr>
        <p:spPr>
          <a:xfrm>
            <a:off x="1079500" y="5207000"/>
            <a:ext cx="6731000" cy="139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b="1" dirty="0">
                <a:solidFill>
                  <a:srgbClr val="F8FAF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XAI Panel Features: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D9770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■</a:t>
            </a:r>
            <a:pPr>
              <a:lnSpc>
                <a:spcPct val="140000"/>
              </a:lnSpc>
            </a:pPr>
            <a:r>
              <a:rPr lang="en-US" sz="1600" dirty="0">
                <a:solidFill>
                  <a:srgbClr val="F8FAF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Interactive SHAP bar chart (drivers in green, inhibitors in red)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D9770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■</a:t>
            </a:r>
            <a:pPr>
              <a:lnSpc>
                <a:spcPct val="140000"/>
              </a:lnSpc>
            </a:pPr>
            <a:r>
              <a:rPr lang="en-US" sz="1600" dirty="0">
                <a:solidFill>
                  <a:srgbClr val="F8FAF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Feature value tooltip on hover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D9770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■</a:t>
            </a:r>
            <a:pPr>
              <a:lnSpc>
                <a:spcPct val="140000"/>
              </a:lnSpc>
            </a:pPr>
            <a:r>
              <a:rPr lang="en-US" sz="1600" dirty="0">
                <a:solidFill>
                  <a:srgbClr val="F8FAF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Career comparison mode for side-by-side analysis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8636000" y="1460500"/>
            <a:ext cx="6858000" cy="46355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5" name="Shape 13"/>
          <p:cNvSpPr/>
          <p:nvPr/>
        </p:nvSpPr>
        <p:spPr>
          <a:xfrm>
            <a:off x="11671300" y="3302000"/>
            <a:ext cx="533400" cy="609600"/>
          </a:xfrm>
          <a:custGeom>
            <a:avLst/>
            <a:gdLst/>
            <a:ahLst/>
            <a:cxnLst/>
            <a:rect l="l" t="t" r="r" b="b"/>
            <a:pathLst>
              <a:path w="533400" h="609600">
                <a:moveTo>
                  <a:pt x="76200" y="95250"/>
                </a:moveTo>
                <a:cubicBezTo>
                  <a:pt x="65723" y="95250"/>
                  <a:pt x="57150" y="103823"/>
                  <a:pt x="57150" y="114300"/>
                </a:cubicBezTo>
                <a:lnTo>
                  <a:pt x="57150" y="495300"/>
                </a:lnTo>
                <a:cubicBezTo>
                  <a:pt x="57150" y="505778"/>
                  <a:pt x="65723" y="514350"/>
                  <a:pt x="76200" y="514350"/>
                </a:cubicBezTo>
                <a:lnTo>
                  <a:pt x="457200" y="514350"/>
                </a:lnTo>
                <a:cubicBezTo>
                  <a:pt x="467678" y="514350"/>
                  <a:pt x="476250" y="505778"/>
                  <a:pt x="476250" y="495300"/>
                </a:cubicBezTo>
                <a:lnTo>
                  <a:pt x="476250" y="114300"/>
                </a:lnTo>
                <a:cubicBezTo>
                  <a:pt x="476250" y="103823"/>
                  <a:pt x="467678" y="95250"/>
                  <a:pt x="457200" y="95250"/>
                </a:cubicBezTo>
                <a:lnTo>
                  <a:pt x="76200" y="95250"/>
                </a:lnTo>
                <a:close/>
                <a:moveTo>
                  <a:pt x="0" y="114300"/>
                </a:moveTo>
                <a:cubicBezTo>
                  <a:pt x="0" y="72271"/>
                  <a:pt x="34171" y="38100"/>
                  <a:pt x="76200" y="38100"/>
                </a:cubicBezTo>
                <a:lnTo>
                  <a:pt x="457200" y="38100"/>
                </a:lnTo>
                <a:cubicBezTo>
                  <a:pt x="499229" y="38100"/>
                  <a:pt x="533400" y="72271"/>
                  <a:pt x="533400" y="114300"/>
                </a:cubicBezTo>
                <a:lnTo>
                  <a:pt x="533400" y="495300"/>
                </a:lnTo>
                <a:cubicBezTo>
                  <a:pt x="533400" y="537329"/>
                  <a:pt x="499229" y="571500"/>
                  <a:pt x="457200" y="571500"/>
                </a:cubicBezTo>
                <a:lnTo>
                  <a:pt x="76200" y="571500"/>
                </a:lnTo>
                <a:cubicBezTo>
                  <a:pt x="34171" y="571500"/>
                  <a:pt x="0" y="537329"/>
                  <a:pt x="0" y="495300"/>
                </a:cubicBezTo>
                <a:lnTo>
                  <a:pt x="0" y="114300"/>
                </a:lnTo>
                <a:close/>
                <a:moveTo>
                  <a:pt x="152400" y="152400"/>
                </a:moveTo>
                <a:cubicBezTo>
                  <a:pt x="173428" y="152400"/>
                  <a:pt x="190500" y="169472"/>
                  <a:pt x="190500" y="190500"/>
                </a:cubicBezTo>
                <a:cubicBezTo>
                  <a:pt x="190500" y="211528"/>
                  <a:pt x="173428" y="228600"/>
                  <a:pt x="152400" y="228600"/>
                </a:cubicBezTo>
                <a:cubicBezTo>
                  <a:pt x="131372" y="228600"/>
                  <a:pt x="114300" y="211528"/>
                  <a:pt x="114300" y="190500"/>
                </a:cubicBezTo>
                <a:cubicBezTo>
                  <a:pt x="114300" y="169472"/>
                  <a:pt x="131372" y="152400"/>
                  <a:pt x="152400" y="152400"/>
                </a:cubicBezTo>
                <a:close/>
                <a:moveTo>
                  <a:pt x="314325" y="238125"/>
                </a:moveTo>
                <a:cubicBezTo>
                  <a:pt x="324445" y="238125"/>
                  <a:pt x="333851" y="243483"/>
                  <a:pt x="338971" y="252174"/>
                </a:cubicBezTo>
                <a:lnTo>
                  <a:pt x="434221" y="414099"/>
                </a:lnTo>
                <a:cubicBezTo>
                  <a:pt x="439460" y="422910"/>
                  <a:pt x="439460" y="433864"/>
                  <a:pt x="434340" y="442793"/>
                </a:cubicBezTo>
                <a:cubicBezTo>
                  <a:pt x="429220" y="451723"/>
                  <a:pt x="419814" y="457200"/>
                  <a:pt x="409575" y="457200"/>
                </a:cubicBezTo>
                <a:lnTo>
                  <a:pt x="123825" y="457200"/>
                </a:lnTo>
                <a:cubicBezTo>
                  <a:pt x="113228" y="457200"/>
                  <a:pt x="103346" y="451247"/>
                  <a:pt x="98465" y="441841"/>
                </a:cubicBezTo>
                <a:cubicBezTo>
                  <a:pt x="93583" y="432435"/>
                  <a:pt x="94298" y="421005"/>
                  <a:pt x="100370" y="412313"/>
                </a:cubicBezTo>
                <a:lnTo>
                  <a:pt x="167045" y="317063"/>
                </a:lnTo>
                <a:cubicBezTo>
                  <a:pt x="172403" y="309443"/>
                  <a:pt x="181094" y="304919"/>
                  <a:pt x="190500" y="304919"/>
                </a:cubicBezTo>
                <a:cubicBezTo>
                  <a:pt x="199906" y="304919"/>
                  <a:pt x="208597" y="309443"/>
                  <a:pt x="213955" y="317063"/>
                </a:cubicBezTo>
                <a:lnTo>
                  <a:pt x="234434" y="346353"/>
                </a:lnTo>
                <a:lnTo>
                  <a:pt x="289798" y="252293"/>
                </a:lnTo>
                <a:cubicBezTo>
                  <a:pt x="294918" y="243602"/>
                  <a:pt x="304324" y="238244"/>
                  <a:pt x="314444" y="238244"/>
                </a:cubicBezTo>
                <a:close/>
              </a:path>
            </a:pathLst>
          </a:custGeom>
          <a:solidFill>
            <a:srgbClr val="64748B"/>
          </a:solidFill>
          <a:ln/>
        </p:spPr>
      </p:sp>
      <p:sp>
        <p:nvSpPr>
          <p:cNvPr id="16" name="Text 14"/>
          <p:cNvSpPr/>
          <p:nvPr/>
        </p:nvSpPr>
        <p:spPr>
          <a:xfrm>
            <a:off x="8890000" y="4064000"/>
            <a:ext cx="6350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50000"/>
              </a:lnSpc>
            </a:pPr>
            <a:r>
              <a:rPr lang="en-US" sz="14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[Insert Screenshot: Dashboard UI with</a:t>
            </a:r>
            <a:endParaRPr lang="en-US" sz="1600" dirty="0"/>
          </a:p>
          <a:p>
            <a:pPr algn="ctr">
              <a:lnSpc>
                <a:spcPct val="150000"/>
              </a:lnSpc>
            </a:pPr>
            <a:r>
              <a:rPr lang="en-US" sz="14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SHAP Visualization Panel]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4986000" y="87630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200" dirty="0">
                <a:solidFill>
                  <a:srgbClr val="64748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29</a:t>
            </a:r>
            <a:endParaRPr lang="en-US" sz="1200" dirty="0"/>
          </a:p>
        </p:txBody>
      </p:sp>
    </p:spTree>
  </p:cSld>
  <p:clrMapOvr>
    <a:masterClrMapping/>
  </p:clrMapOvr>
  <p:transition>
    <p:fade/>
    <p:spd val="med"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AFA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45720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Text 1"/>
          <p:cNvSpPr/>
          <p:nvPr/>
        </p:nvSpPr>
        <p:spPr>
          <a:xfrm>
            <a:off x="0" y="0"/>
            <a:ext cx="27051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spc="100" kern="0" dirty="0">
                <a:solidFill>
                  <a:srgbClr val="F8FAF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INTRODUCTION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2705100" y="0"/>
            <a:ext cx="27051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spc="100" kern="0" dirty="0">
                <a:solidFill>
                  <a:srgbClr val="F8FAF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LITERATURE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10200" y="0"/>
            <a:ext cx="27178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spc="100" kern="0" dirty="0">
                <a:solidFill>
                  <a:srgbClr val="F8FAF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METHODOLOGY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128000" y="0"/>
            <a:ext cx="27051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spc="100" kern="0" dirty="0">
                <a:solidFill>
                  <a:srgbClr val="F8FAF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XAI RESULTS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0833100" y="0"/>
            <a:ext cx="27178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b="1" spc="100" kern="0" dirty="0">
                <a:solidFill>
                  <a:srgbClr val="D9770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IMPLEMENTATION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3550900" y="0"/>
            <a:ext cx="27051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spc="100" kern="0" dirty="0">
                <a:solidFill>
                  <a:srgbClr val="F8FAF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DEMONSTRATION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62000" y="660400"/>
            <a:ext cx="10160000" cy="482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b="1" dirty="0">
                <a:solidFill>
                  <a:srgbClr val="1E293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Core Feature: Dynamic Roadmap</a:t>
            </a:r>
            <a:endParaRPr lang="en-US" sz="2800" dirty="0"/>
          </a:p>
        </p:txBody>
      </p:sp>
      <p:sp>
        <p:nvSpPr>
          <p:cNvPr id="10" name="Shape 8"/>
          <p:cNvSpPr/>
          <p:nvPr/>
        </p:nvSpPr>
        <p:spPr>
          <a:xfrm>
            <a:off x="762000" y="1206500"/>
            <a:ext cx="762000" cy="3810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11" name="Text 9"/>
          <p:cNvSpPr/>
          <p:nvPr/>
        </p:nvSpPr>
        <p:spPr>
          <a:xfrm>
            <a:off x="762000" y="1460500"/>
            <a:ext cx="147320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70000"/>
              </a:lnSpc>
            </a:pPr>
            <a:r>
              <a:rPr lang="en-US" sz="1800" dirty="0">
                <a:solidFill>
                  <a:srgbClr val="D9770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■</a:t>
            </a:r>
            <a:pPr>
              <a:lnSpc>
                <a:spcPct val="170000"/>
              </a:lnSpc>
            </a:pPr>
            <a:r>
              <a:rPr lang="en-US" sz="1800" dirty="0">
                <a:solidFill>
                  <a:srgbClr val="0F172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</a:t>
            </a:r>
            <a:pPr>
              <a:lnSpc>
                <a:spcPct val="170000"/>
              </a:lnSpc>
            </a:pPr>
            <a:r>
              <a:rPr lang="en-US" sz="1800" b="1" dirty="0">
                <a:solidFill>
                  <a:srgbClr val="0F172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3-phase personalized learning paths:</a:t>
            </a:r>
            <a:pPr>
              <a:lnSpc>
                <a:spcPct val="170000"/>
              </a:lnSpc>
            </a:pPr>
            <a:r>
              <a:rPr lang="en-US" sz="1800" dirty="0">
                <a:solidFill>
                  <a:srgbClr val="0F172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Beginner → Intermediate → Advanced, auto-generated based on predicted career and current skill gaps</a:t>
            </a:r>
            <a:endParaRPr lang="en-US" sz="1800" dirty="0"/>
          </a:p>
          <a:p>
            <a:pPr>
              <a:lnSpc>
                <a:spcPct val="170000"/>
              </a:lnSpc>
              <a:spcBef>
                <a:spcPts val="800"/>
              </a:spcBef>
            </a:pPr>
            <a:r>
              <a:rPr lang="en-US" sz="1800" dirty="0">
                <a:solidFill>
                  <a:srgbClr val="D9770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■</a:t>
            </a:r>
            <a:pPr>
              <a:lnSpc>
                <a:spcPct val="170000"/>
              </a:lnSpc>
              <a:spcBef>
                <a:spcPts val="800"/>
              </a:spcBef>
            </a:pPr>
            <a:r>
              <a:rPr lang="en-US" sz="1800" dirty="0">
                <a:solidFill>
                  <a:srgbClr val="0F172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Each phase contains </a:t>
            </a:r>
            <a:pPr>
              <a:lnSpc>
                <a:spcPct val="170000"/>
              </a:lnSpc>
              <a:spcBef>
                <a:spcPts val="800"/>
              </a:spcBef>
            </a:pPr>
            <a:r>
              <a:rPr lang="en-US" sz="1800" b="1" dirty="0">
                <a:solidFill>
                  <a:srgbClr val="0F172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curated resources, projects, and milestone assessments</a:t>
            </a:r>
            <a:pPr>
              <a:lnSpc>
                <a:spcPct val="170000"/>
              </a:lnSpc>
              <a:spcBef>
                <a:spcPts val="800"/>
              </a:spcBef>
            </a:pPr>
            <a:r>
              <a:rPr lang="en-US" sz="1800" dirty="0">
                <a:solidFill>
                  <a:srgbClr val="0F172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with progress tracking and visual completion indicators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762000" y="3048000"/>
            <a:ext cx="4699000" cy="26670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016000" y="3238500"/>
            <a:ext cx="1524000" cy="355600"/>
          </a:xfrm>
          <a:prstGeom prst="roundRect">
            <a:avLst>
              <a:gd name="adj" fmla="val 14000"/>
            </a:avLst>
          </a:prstGeom>
          <a:solidFill>
            <a:srgbClr val="16A34A"/>
          </a:solidFill>
          <a:ln/>
        </p:spPr>
      </p:sp>
      <p:sp>
        <p:nvSpPr>
          <p:cNvPr id="14" name="Text 12"/>
          <p:cNvSpPr/>
          <p:nvPr/>
        </p:nvSpPr>
        <p:spPr>
          <a:xfrm>
            <a:off x="1016000" y="3238500"/>
            <a:ext cx="1524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b="1" dirty="0">
                <a:solidFill>
                  <a:srgbClr val="F8FAF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PHASE 1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016000" y="3708400"/>
            <a:ext cx="4191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Beginner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016000" y="4127500"/>
            <a:ext cx="4191000" cy="1397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500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Foundation courses, introductory programming exercises, basic concept mastery, and guided tutorials for core skills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5778500" y="3048000"/>
            <a:ext cx="4699000" cy="26670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032500" y="3238500"/>
            <a:ext cx="1524000" cy="355600"/>
          </a:xfrm>
          <a:prstGeom prst="roundRect">
            <a:avLst>
              <a:gd name="adj" fmla="val 14000"/>
            </a:avLst>
          </a:prstGeom>
          <a:solidFill>
            <a:srgbClr val="D97706"/>
          </a:solidFill>
          <a:ln/>
        </p:spPr>
      </p:sp>
      <p:sp>
        <p:nvSpPr>
          <p:cNvPr id="19" name="Text 17"/>
          <p:cNvSpPr/>
          <p:nvPr/>
        </p:nvSpPr>
        <p:spPr>
          <a:xfrm>
            <a:off x="6032500" y="3238500"/>
            <a:ext cx="1524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b="1" dirty="0">
                <a:solidFill>
                  <a:srgbClr val="F8FAF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PHASE 2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032500" y="3708400"/>
            <a:ext cx="4191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Intermediate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032500" y="4127500"/>
            <a:ext cx="4191000" cy="1397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500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Applied projects, portfolio building, intermediate frameworks, and domain-specific skill development with peer review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10795000" y="3048000"/>
            <a:ext cx="4699000" cy="26670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1049000" y="3238500"/>
            <a:ext cx="1524000" cy="355600"/>
          </a:xfrm>
          <a:prstGeom prst="roundRect">
            <a:avLst>
              <a:gd name="adj" fmla="val 14000"/>
            </a:avLst>
          </a:prstGeom>
          <a:solidFill>
            <a:srgbClr val="1E293B"/>
          </a:solidFill>
          <a:ln/>
        </p:spPr>
      </p:sp>
      <p:sp>
        <p:nvSpPr>
          <p:cNvPr id="24" name="Text 22"/>
          <p:cNvSpPr/>
          <p:nvPr/>
        </p:nvSpPr>
        <p:spPr>
          <a:xfrm>
            <a:off x="11049000" y="3238500"/>
            <a:ext cx="1524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b="1" dirty="0">
                <a:solidFill>
                  <a:srgbClr val="F8FAF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PHASE 3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11049000" y="3708400"/>
            <a:ext cx="4191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Advanced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11049000" y="4127500"/>
            <a:ext cx="4191000" cy="1397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500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Industry-level projects, advanced specializations, certification prep, and internship/career readiness preparation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762000" y="6096000"/>
            <a:ext cx="14732000" cy="2032000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8" name="Shape 26"/>
          <p:cNvSpPr/>
          <p:nvPr/>
        </p:nvSpPr>
        <p:spPr>
          <a:xfrm>
            <a:off x="7854950" y="6667500"/>
            <a:ext cx="444500" cy="508000"/>
          </a:xfrm>
          <a:custGeom>
            <a:avLst/>
            <a:gdLst/>
            <a:ahLst/>
            <a:cxnLst/>
            <a:rect l="l" t="t" r="r" b="b"/>
            <a:pathLst>
              <a:path w="444500" h="508000">
                <a:moveTo>
                  <a:pt x="63500" y="79375"/>
                </a:moveTo>
                <a:cubicBezTo>
                  <a:pt x="54769" y="79375"/>
                  <a:pt x="47625" y="86519"/>
                  <a:pt x="47625" y="95250"/>
                </a:cubicBezTo>
                <a:lnTo>
                  <a:pt x="47625" y="412750"/>
                </a:lnTo>
                <a:cubicBezTo>
                  <a:pt x="47625" y="421481"/>
                  <a:pt x="54769" y="428625"/>
                  <a:pt x="63500" y="428625"/>
                </a:cubicBezTo>
                <a:lnTo>
                  <a:pt x="381000" y="428625"/>
                </a:lnTo>
                <a:cubicBezTo>
                  <a:pt x="389731" y="428625"/>
                  <a:pt x="396875" y="421481"/>
                  <a:pt x="396875" y="412750"/>
                </a:cubicBezTo>
                <a:lnTo>
                  <a:pt x="396875" y="95250"/>
                </a:lnTo>
                <a:cubicBezTo>
                  <a:pt x="396875" y="86519"/>
                  <a:pt x="389731" y="79375"/>
                  <a:pt x="381000" y="79375"/>
                </a:cubicBezTo>
                <a:lnTo>
                  <a:pt x="63500" y="79375"/>
                </a:lnTo>
                <a:close/>
                <a:moveTo>
                  <a:pt x="0" y="95250"/>
                </a:moveTo>
                <a:cubicBezTo>
                  <a:pt x="0" y="60226"/>
                  <a:pt x="28476" y="31750"/>
                  <a:pt x="63500" y="31750"/>
                </a:cubicBezTo>
                <a:lnTo>
                  <a:pt x="381000" y="31750"/>
                </a:lnTo>
                <a:cubicBezTo>
                  <a:pt x="416024" y="31750"/>
                  <a:pt x="444500" y="60226"/>
                  <a:pt x="444500" y="95250"/>
                </a:cubicBezTo>
                <a:lnTo>
                  <a:pt x="444500" y="412750"/>
                </a:lnTo>
                <a:cubicBezTo>
                  <a:pt x="444500" y="447774"/>
                  <a:pt x="416024" y="476250"/>
                  <a:pt x="381000" y="476250"/>
                </a:cubicBezTo>
                <a:lnTo>
                  <a:pt x="63500" y="476250"/>
                </a:lnTo>
                <a:cubicBezTo>
                  <a:pt x="28476" y="476250"/>
                  <a:pt x="0" y="447774"/>
                  <a:pt x="0" y="412750"/>
                </a:cubicBezTo>
                <a:lnTo>
                  <a:pt x="0" y="95250"/>
                </a:lnTo>
                <a:close/>
                <a:moveTo>
                  <a:pt x="127000" y="127000"/>
                </a:moveTo>
                <a:cubicBezTo>
                  <a:pt x="144523" y="127000"/>
                  <a:pt x="158750" y="141227"/>
                  <a:pt x="158750" y="158750"/>
                </a:cubicBezTo>
                <a:cubicBezTo>
                  <a:pt x="158750" y="176273"/>
                  <a:pt x="144523" y="190500"/>
                  <a:pt x="127000" y="190500"/>
                </a:cubicBezTo>
                <a:cubicBezTo>
                  <a:pt x="109477" y="190500"/>
                  <a:pt x="95250" y="176273"/>
                  <a:pt x="95250" y="158750"/>
                </a:cubicBezTo>
                <a:cubicBezTo>
                  <a:pt x="95250" y="141227"/>
                  <a:pt x="109477" y="127000"/>
                  <a:pt x="127000" y="127000"/>
                </a:cubicBezTo>
                <a:close/>
                <a:moveTo>
                  <a:pt x="261937" y="198438"/>
                </a:moveTo>
                <a:cubicBezTo>
                  <a:pt x="270371" y="198438"/>
                  <a:pt x="278209" y="202902"/>
                  <a:pt x="282476" y="210145"/>
                </a:cubicBezTo>
                <a:lnTo>
                  <a:pt x="361851" y="345083"/>
                </a:lnTo>
                <a:cubicBezTo>
                  <a:pt x="366216" y="352425"/>
                  <a:pt x="366216" y="361553"/>
                  <a:pt x="361950" y="368995"/>
                </a:cubicBezTo>
                <a:cubicBezTo>
                  <a:pt x="357684" y="376436"/>
                  <a:pt x="349845" y="381000"/>
                  <a:pt x="341313" y="381000"/>
                </a:cubicBezTo>
                <a:lnTo>
                  <a:pt x="103188" y="381000"/>
                </a:lnTo>
                <a:cubicBezTo>
                  <a:pt x="94357" y="381000"/>
                  <a:pt x="86122" y="376039"/>
                  <a:pt x="82054" y="368201"/>
                </a:cubicBezTo>
                <a:cubicBezTo>
                  <a:pt x="77986" y="360363"/>
                  <a:pt x="78581" y="350838"/>
                  <a:pt x="83641" y="343595"/>
                </a:cubicBezTo>
                <a:lnTo>
                  <a:pt x="139204" y="264220"/>
                </a:lnTo>
                <a:cubicBezTo>
                  <a:pt x="143669" y="257870"/>
                  <a:pt x="150912" y="254099"/>
                  <a:pt x="158750" y="254099"/>
                </a:cubicBezTo>
                <a:cubicBezTo>
                  <a:pt x="166588" y="254099"/>
                  <a:pt x="173831" y="257870"/>
                  <a:pt x="178296" y="264220"/>
                </a:cubicBezTo>
                <a:lnTo>
                  <a:pt x="195362" y="288627"/>
                </a:lnTo>
                <a:lnTo>
                  <a:pt x="241498" y="210245"/>
                </a:lnTo>
                <a:cubicBezTo>
                  <a:pt x="245765" y="203002"/>
                  <a:pt x="253603" y="198537"/>
                  <a:pt x="262037" y="198537"/>
                </a:cubicBezTo>
                <a:close/>
              </a:path>
            </a:pathLst>
          </a:custGeom>
          <a:solidFill>
            <a:srgbClr val="64748B"/>
          </a:solidFill>
          <a:ln/>
        </p:spPr>
      </p:sp>
      <p:sp>
        <p:nvSpPr>
          <p:cNvPr id="29" name="Text 27"/>
          <p:cNvSpPr/>
          <p:nvPr/>
        </p:nvSpPr>
        <p:spPr>
          <a:xfrm>
            <a:off x="4826000" y="7302500"/>
            <a:ext cx="6604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[Insert Screenshot: Roadmap UI — 3-Phase Learning Path]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14986000" y="87630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200" dirty="0">
                <a:solidFill>
                  <a:srgbClr val="64748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30</a:t>
            </a:r>
            <a:endParaRPr lang="en-US" sz="1200" dirty="0"/>
          </a:p>
        </p:txBody>
      </p:sp>
    </p:spTree>
  </p:cSld>
  <p:clrMapOvr>
    <a:masterClrMapping/>
  </p:clrMapOvr>
  <p:transition>
    <p:fade/>
    <p:spd val="med"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AFA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45720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Text 1"/>
          <p:cNvSpPr/>
          <p:nvPr/>
        </p:nvSpPr>
        <p:spPr>
          <a:xfrm>
            <a:off x="0" y="0"/>
            <a:ext cx="27051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spc="100" kern="0" dirty="0">
                <a:solidFill>
                  <a:srgbClr val="F8FAF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INTRODUCTION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2705100" y="0"/>
            <a:ext cx="27051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spc="100" kern="0" dirty="0">
                <a:solidFill>
                  <a:srgbClr val="F8FAF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LITERATURE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10200" y="0"/>
            <a:ext cx="27178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spc="100" kern="0" dirty="0">
                <a:solidFill>
                  <a:srgbClr val="F8FAF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METHODOLOGY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128000" y="0"/>
            <a:ext cx="27051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spc="100" kern="0" dirty="0">
                <a:solidFill>
                  <a:srgbClr val="F8FAF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XAI RESULTS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0833100" y="0"/>
            <a:ext cx="27178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b="1" spc="100" kern="0" dirty="0">
                <a:solidFill>
                  <a:srgbClr val="D9770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IMPLEMENTATION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3550900" y="0"/>
            <a:ext cx="27051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spc="100" kern="0" dirty="0">
                <a:solidFill>
                  <a:srgbClr val="F8FAF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DEMONSTRATION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62000" y="660400"/>
            <a:ext cx="10160000" cy="482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b="1" dirty="0">
                <a:solidFill>
                  <a:srgbClr val="1E293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Core Feature: Live Class AI Tutor</a:t>
            </a:r>
            <a:endParaRPr lang="en-US" sz="2800" dirty="0"/>
          </a:p>
        </p:txBody>
      </p:sp>
      <p:sp>
        <p:nvSpPr>
          <p:cNvPr id="10" name="Shape 8"/>
          <p:cNvSpPr/>
          <p:nvPr/>
        </p:nvSpPr>
        <p:spPr>
          <a:xfrm>
            <a:off x="762000" y="1206500"/>
            <a:ext cx="762000" cy="3810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11" name="Text 9"/>
          <p:cNvSpPr/>
          <p:nvPr/>
        </p:nvSpPr>
        <p:spPr>
          <a:xfrm>
            <a:off x="762000" y="1460500"/>
            <a:ext cx="7366000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70000"/>
              </a:lnSpc>
            </a:pPr>
            <a:r>
              <a:rPr lang="en-US" sz="1800" dirty="0">
                <a:solidFill>
                  <a:srgbClr val="D9770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■</a:t>
            </a:r>
            <a:pPr>
              <a:lnSpc>
                <a:spcPct val="170000"/>
              </a:lnSpc>
            </a:pPr>
            <a:r>
              <a:rPr lang="en-US" sz="1800" dirty="0">
                <a:solidFill>
                  <a:srgbClr val="0F172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</a:t>
            </a:r>
            <a:pPr>
              <a:lnSpc>
                <a:spcPct val="170000"/>
              </a:lnSpc>
            </a:pPr>
            <a:r>
              <a:rPr lang="en-US" sz="1800" b="1" dirty="0">
                <a:solidFill>
                  <a:srgbClr val="0F172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Real-time voice interaction:</a:t>
            </a:r>
            <a:pPr>
              <a:lnSpc>
                <a:spcPct val="170000"/>
              </a:lnSpc>
            </a:pPr>
            <a:r>
              <a:rPr lang="en-US" sz="1800" dirty="0">
                <a:solidFill>
                  <a:srgbClr val="0F172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Groq Whisper STT + TTS for natural dialogue</a:t>
            </a:r>
            <a:endParaRPr lang="en-US" sz="1800" dirty="0"/>
          </a:p>
          <a:p>
            <a:pPr>
              <a:lnSpc>
                <a:spcPct val="170000"/>
              </a:lnSpc>
              <a:spcBef>
                <a:spcPts val="1000"/>
              </a:spcBef>
            </a:pPr>
            <a:r>
              <a:rPr lang="en-US" sz="1800" dirty="0">
                <a:solidFill>
                  <a:srgbClr val="D9770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■</a:t>
            </a:r>
            <a:pPr>
              <a:lnSpc>
                <a:spcPct val="170000"/>
              </a:lnSpc>
              <a:spcBef>
                <a:spcPts val="1000"/>
              </a:spcBef>
            </a:pPr>
            <a:r>
              <a:rPr lang="en-US" sz="1800" dirty="0">
                <a:solidFill>
                  <a:srgbClr val="0F172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</a:t>
            </a:r>
            <a:pPr>
              <a:lnSpc>
                <a:spcPct val="170000"/>
              </a:lnSpc>
              <a:spcBef>
                <a:spcPts val="1000"/>
              </a:spcBef>
            </a:pPr>
            <a:r>
              <a:rPr lang="en-US" sz="1800" b="1" dirty="0">
                <a:solidFill>
                  <a:srgbClr val="0F172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Face and gaze tracking</a:t>
            </a:r>
            <a:pPr>
              <a:lnSpc>
                <a:spcPct val="170000"/>
              </a:lnSpc>
              <a:spcBef>
                <a:spcPts val="1000"/>
              </a:spcBef>
            </a:pPr>
            <a:r>
              <a:rPr lang="en-US" sz="1800" dirty="0">
                <a:solidFill>
                  <a:srgbClr val="0F172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via MediaPipe for engagement monitoring</a:t>
            </a:r>
            <a:endParaRPr lang="en-US" sz="1800" dirty="0"/>
          </a:p>
          <a:p>
            <a:pPr>
              <a:lnSpc>
                <a:spcPct val="170000"/>
              </a:lnSpc>
              <a:spcBef>
                <a:spcPts val="1000"/>
              </a:spcBef>
            </a:pPr>
            <a:r>
              <a:rPr lang="en-US" sz="1800" dirty="0">
                <a:solidFill>
                  <a:srgbClr val="D9770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■</a:t>
            </a:r>
            <a:pPr>
              <a:lnSpc>
                <a:spcPct val="170000"/>
              </a:lnSpc>
              <a:spcBef>
                <a:spcPts val="1000"/>
              </a:spcBef>
            </a:pPr>
            <a:r>
              <a:rPr lang="en-US" sz="1800" dirty="0">
                <a:solidFill>
                  <a:srgbClr val="0F172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</a:t>
            </a:r>
            <a:pPr>
              <a:lnSpc>
                <a:spcPct val="170000"/>
              </a:lnSpc>
              <a:spcBef>
                <a:spcPts val="1000"/>
              </a:spcBef>
            </a:pPr>
            <a:r>
              <a:rPr lang="en-US" sz="1800" b="1" dirty="0">
                <a:solidFill>
                  <a:srgbClr val="0F172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Fatigue detection:</a:t>
            </a:r>
            <a:pPr>
              <a:lnSpc>
                <a:spcPct val="170000"/>
              </a:lnSpc>
              <a:spcBef>
                <a:spcPts val="1000"/>
              </a:spcBef>
            </a:pPr>
            <a:r>
              <a:rPr lang="en-US" sz="1800" dirty="0">
                <a:solidFill>
                  <a:srgbClr val="0F172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alerts when student attention drops below threshold</a:t>
            </a:r>
            <a:endParaRPr lang="en-US" sz="1800" dirty="0"/>
          </a:p>
          <a:p>
            <a:pPr>
              <a:lnSpc>
                <a:spcPct val="170000"/>
              </a:lnSpc>
              <a:spcBef>
                <a:spcPts val="1000"/>
              </a:spcBef>
            </a:pPr>
            <a:r>
              <a:rPr lang="en-US" sz="1800" dirty="0">
                <a:solidFill>
                  <a:srgbClr val="D9770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■</a:t>
            </a:r>
            <a:pPr>
              <a:lnSpc>
                <a:spcPct val="170000"/>
              </a:lnSpc>
              <a:spcBef>
                <a:spcPts val="1000"/>
              </a:spcBef>
            </a:pPr>
            <a:r>
              <a:rPr lang="en-US" sz="1800" dirty="0">
                <a:solidFill>
                  <a:srgbClr val="0F172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</a:t>
            </a:r>
            <a:pPr>
              <a:lnSpc>
                <a:spcPct val="170000"/>
              </a:lnSpc>
              <a:spcBef>
                <a:spcPts val="1000"/>
              </a:spcBef>
            </a:pPr>
            <a:r>
              <a:rPr lang="en-US" sz="1800" b="1" dirty="0">
                <a:solidFill>
                  <a:srgbClr val="0F172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Adaptive tutoring:</a:t>
            </a:r>
            <a:pPr>
              <a:lnSpc>
                <a:spcPct val="170000"/>
              </a:lnSpc>
              <a:spcBef>
                <a:spcPts val="1000"/>
              </a:spcBef>
            </a:pPr>
            <a:r>
              <a:rPr lang="en-US" sz="1800" dirty="0">
                <a:solidFill>
                  <a:srgbClr val="0F172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adjusts explanation pace based on engagement signals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762000" y="5397500"/>
            <a:ext cx="7366000" cy="13970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79500" y="4953000"/>
            <a:ext cx="3810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b="1" spc="100" kern="0" dirty="0">
                <a:solidFill>
                  <a:srgbClr val="D9770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TUTOR COMPONENTS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079500" y="5524500"/>
            <a:ext cx="6731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500" dirty="0">
                <a:solidFill>
                  <a:srgbClr val="D9770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■</a:t>
            </a:r>
            <a:pPr>
              <a:lnSpc>
                <a:spcPct val="160000"/>
              </a:lnSpc>
            </a:pPr>
            <a:r>
              <a:rPr lang="en-US" sz="1500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Voice Chat: Real-time STT → LLM → TTS pipeline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500" dirty="0">
                <a:solidFill>
                  <a:srgbClr val="D9770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■</a:t>
            </a:r>
            <a:pPr>
              <a:lnSpc>
                <a:spcPct val="160000"/>
              </a:lnSpc>
            </a:pPr>
            <a:r>
              <a:rPr lang="en-US" sz="1500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Engagement Meter: Visual attention score (0-100%)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500" dirty="0">
                <a:solidFill>
                  <a:srgbClr val="D9770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■</a:t>
            </a:r>
            <a:pPr>
              <a:lnSpc>
                <a:spcPct val="160000"/>
              </a:lnSpc>
            </a:pPr>
            <a:r>
              <a:rPr lang="en-US" sz="1500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Fatigue Alert: Automatic break suggestions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8636000" y="1460500"/>
            <a:ext cx="6858000" cy="47625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6" name="Shape 14"/>
          <p:cNvSpPr/>
          <p:nvPr/>
        </p:nvSpPr>
        <p:spPr>
          <a:xfrm>
            <a:off x="11671300" y="3429000"/>
            <a:ext cx="533400" cy="609600"/>
          </a:xfrm>
          <a:custGeom>
            <a:avLst/>
            <a:gdLst/>
            <a:ahLst/>
            <a:cxnLst/>
            <a:rect l="l" t="t" r="r" b="b"/>
            <a:pathLst>
              <a:path w="533400" h="609600">
                <a:moveTo>
                  <a:pt x="76200" y="95250"/>
                </a:moveTo>
                <a:cubicBezTo>
                  <a:pt x="65723" y="95250"/>
                  <a:pt x="57150" y="103823"/>
                  <a:pt x="57150" y="114300"/>
                </a:cubicBezTo>
                <a:lnTo>
                  <a:pt x="57150" y="495300"/>
                </a:lnTo>
                <a:cubicBezTo>
                  <a:pt x="57150" y="505778"/>
                  <a:pt x="65723" y="514350"/>
                  <a:pt x="76200" y="514350"/>
                </a:cubicBezTo>
                <a:lnTo>
                  <a:pt x="457200" y="514350"/>
                </a:lnTo>
                <a:cubicBezTo>
                  <a:pt x="467678" y="514350"/>
                  <a:pt x="476250" y="505778"/>
                  <a:pt x="476250" y="495300"/>
                </a:cubicBezTo>
                <a:lnTo>
                  <a:pt x="476250" y="114300"/>
                </a:lnTo>
                <a:cubicBezTo>
                  <a:pt x="476250" y="103823"/>
                  <a:pt x="467678" y="95250"/>
                  <a:pt x="457200" y="95250"/>
                </a:cubicBezTo>
                <a:lnTo>
                  <a:pt x="76200" y="95250"/>
                </a:lnTo>
                <a:close/>
                <a:moveTo>
                  <a:pt x="0" y="114300"/>
                </a:moveTo>
                <a:cubicBezTo>
                  <a:pt x="0" y="72271"/>
                  <a:pt x="34171" y="38100"/>
                  <a:pt x="76200" y="38100"/>
                </a:cubicBezTo>
                <a:lnTo>
                  <a:pt x="457200" y="38100"/>
                </a:lnTo>
                <a:cubicBezTo>
                  <a:pt x="499229" y="38100"/>
                  <a:pt x="533400" y="72271"/>
                  <a:pt x="533400" y="114300"/>
                </a:cubicBezTo>
                <a:lnTo>
                  <a:pt x="533400" y="495300"/>
                </a:lnTo>
                <a:cubicBezTo>
                  <a:pt x="533400" y="537329"/>
                  <a:pt x="499229" y="571500"/>
                  <a:pt x="457200" y="571500"/>
                </a:cubicBezTo>
                <a:lnTo>
                  <a:pt x="76200" y="571500"/>
                </a:lnTo>
                <a:cubicBezTo>
                  <a:pt x="34171" y="571500"/>
                  <a:pt x="0" y="537329"/>
                  <a:pt x="0" y="495300"/>
                </a:cubicBezTo>
                <a:lnTo>
                  <a:pt x="0" y="114300"/>
                </a:lnTo>
                <a:close/>
                <a:moveTo>
                  <a:pt x="152400" y="152400"/>
                </a:moveTo>
                <a:cubicBezTo>
                  <a:pt x="173428" y="152400"/>
                  <a:pt x="190500" y="169472"/>
                  <a:pt x="190500" y="190500"/>
                </a:cubicBezTo>
                <a:cubicBezTo>
                  <a:pt x="190500" y="211528"/>
                  <a:pt x="173428" y="228600"/>
                  <a:pt x="152400" y="228600"/>
                </a:cubicBezTo>
                <a:cubicBezTo>
                  <a:pt x="131372" y="228600"/>
                  <a:pt x="114300" y="211528"/>
                  <a:pt x="114300" y="190500"/>
                </a:cubicBezTo>
                <a:cubicBezTo>
                  <a:pt x="114300" y="169472"/>
                  <a:pt x="131372" y="152400"/>
                  <a:pt x="152400" y="152400"/>
                </a:cubicBezTo>
                <a:close/>
                <a:moveTo>
                  <a:pt x="314325" y="238125"/>
                </a:moveTo>
                <a:cubicBezTo>
                  <a:pt x="324445" y="238125"/>
                  <a:pt x="333851" y="243483"/>
                  <a:pt x="338971" y="252174"/>
                </a:cubicBezTo>
                <a:lnTo>
                  <a:pt x="434221" y="414099"/>
                </a:lnTo>
                <a:cubicBezTo>
                  <a:pt x="439460" y="422910"/>
                  <a:pt x="439460" y="433864"/>
                  <a:pt x="434340" y="442793"/>
                </a:cubicBezTo>
                <a:cubicBezTo>
                  <a:pt x="429220" y="451723"/>
                  <a:pt x="419814" y="457200"/>
                  <a:pt x="409575" y="457200"/>
                </a:cubicBezTo>
                <a:lnTo>
                  <a:pt x="123825" y="457200"/>
                </a:lnTo>
                <a:cubicBezTo>
                  <a:pt x="113228" y="457200"/>
                  <a:pt x="103346" y="451247"/>
                  <a:pt x="98465" y="441841"/>
                </a:cubicBezTo>
                <a:cubicBezTo>
                  <a:pt x="93583" y="432435"/>
                  <a:pt x="94298" y="421005"/>
                  <a:pt x="100370" y="412313"/>
                </a:cubicBezTo>
                <a:lnTo>
                  <a:pt x="167045" y="317063"/>
                </a:lnTo>
                <a:cubicBezTo>
                  <a:pt x="172403" y="309443"/>
                  <a:pt x="181094" y="304919"/>
                  <a:pt x="190500" y="304919"/>
                </a:cubicBezTo>
                <a:cubicBezTo>
                  <a:pt x="199906" y="304919"/>
                  <a:pt x="208597" y="309443"/>
                  <a:pt x="213955" y="317063"/>
                </a:cubicBezTo>
                <a:lnTo>
                  <a:pt x="234434" y="346353"/>
                </a:lnTo>
                <a:lnTo>
                  <a:pt x="289798" y="252293"/>
                </a:lnTo>
                <a:cubicBezTo>
                  <a:pt x="294918" y="243602"/>
                  <a:pt x="304324" y="238244"/>
                  <a:pt x="314444" y="238244"/>
                </a:cubicBezTo>
                <a:close/>
              </a:path>
            </a:pathLst>
          </a:custGeom>
          <a:solidFill>
            <a:srgbClr val="64748B"/>
          </a:solidFill>
          <a:ln/>
        </p:spPr>
      </p:sp>
      <p:sp>
        <p:nvSpPr>
          <p:cNvPr id="17" name="Text 15"/>
          <p:cNvSpPr/>
          <p:nvPr/>
        </p:nvSpPr>
        <p:spPr>
          <a:xfrm>
            <a:off x="8890000" y="4191000"/>
            <a:ext cx="6350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50000"/>
              </a:lnSpc>
            </a:pPr>
            <a:r>
              <a:rPr lang="en-US" sz="14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[Insert Screenshot: Live Class UI — Video Feed</a:t>
            </a:r>
            <a:endParaRPr lang="en-US" sz="1600" dirty="0"/>
          </a:p>
          <a:p>
            <a:pPr algn="ctr">
              <a:lnSpc>
                <a:spcPct val="150000"/>
              </a:lnSpc>
            </a:pPr>
            <a:r>
              <a:rPr lang="en-US" sz="14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+ Chat + Engagement Meter]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4986000" y="87630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200" dirty="0">
                <a:solidFill>
                  <a:srgbClr val="64748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31</a:t>
            </a:r>
            <a:endParaRPr lang="en-US" sz="1200" dirty="0"/>
          </a:p>
        </p:txBody>
      </p:sp>
    </p:spTree>
  </p:cSld>
  <p:clrMapOvr>
    <a:masterClrMapping/>
  </p:clrMapOvr>
  <p:transition>
    <p:fade/>
    <p:spd val="med"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AFA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45720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Text 1"/>
          <p:cNvSpPr/>
          <p:nvPr/>
        </p:nvSpPr>
        <p:spPr>
          <a:xfrm>
            <a:off x="0" y="0"/>
            <a:ext cx="27051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spc="100" kern="0" dirty="0">
                <a:solidFill>
                  <a:srgbClr val="F8FAF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INTRODUCTION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2705100" y="0"/>
            <a:ext cx="27051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spc="100" kern="0" dirty="0">
                <a:solidFill>
                  <a:srgbClr val="F8FAF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LITERATURE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10200" y="0"/>
            <a:ext cx="27178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spc="100" kern="0" dirty="0">
                <a:solidFill>
                  <a:srgbClr val="F8FAF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METHODOLOGY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128000" y="0"/>
            <a:ext cx="27051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spc="100" kern="0" dirty="0">
                <a:solidFill>
                  <a:srgbClr val="F8FAF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XAI RESULTS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0833100" y="0"/>
            <a:ext cx="27178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b="1" spc="100" kern="0" dirty="0">
                <a:solidFill>
                  <a:srgbClr val="D9770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IMPLEMENTATION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3550900" y="0"/>
            <a:ext cx="27051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spc="100" kern="0" dirty="0">
                <a:solidFill>
                  <a:srgbClr val="F8FAF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DEMONSTRATION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62000" y="660400"/>
            <a:ext cx="10160000" cy="482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b="1" dirty="0">
                <a:solidFill>
                  <a:srgbClr val="1E293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Core Feature: RAG Resource Hub</a:t>
            </a:r>
            <a:endParaRPr lang="en-US" sz="2800" dirty="0"/>
          </a:p>
        </p:txBody>
      </p:sp>
      <p:sp>
        <p:nvSpPr>
          <p:cNvPr id="10" name="Shape 8"/>
          <p:cNvSpPr/>
          <p:nvPr/>
        </p:nvSpPr>
        <p:spPr>
          <a:xfrm>
            <a:off x="762000" y="1206500"/>
            <a:ext cx="762000" cy="3810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11" name="Text 9"/>
          <p:cNvSpPr/>
          <p:nvPr/>
        </p:nvSpPr>
        <p:spPr>
          <a:xfrm>
            <a:off x="762000" y="1460500"/>
            <a:ext cx="7366000" cy="279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70000"/>
              </a:lnSpc>
            </a:pPr>
            <a:r>
              <a:rPr lang="en-US" sz="1800" dirty="0">
                <a:solidFill>
                  <a:srgbClr val="D9770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■</a:t>
            </a:r>
            <a:pPr>
              <a:lnSpc>
                <a:spcPct val="170000"/>
              </a:lnSpc>
            </a:pPr>
            <a:r>
              <a:rPr lang="en-US" sz="1800" dirty="0">
                <a:solidFill>
                  <a:srgbClr val="0F172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</a:t>
            </a:r>
            <a:pPr>
              <a:lnSpc>
                <a:spcPct val="170000"/>
              </a:lnSpc>
            </a:pPr>
            <a:r>
              <a:rPr lang="en-US" sz="1800" b="1" dirty="0">
                <a:solidFill>
                  <a:srgbClr val="0F172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Retrieval-Augmented Generation (RAG)</a:t>
            </a:r>
            <a:pPr>
              <a:lnSpc>
                <a:spcPct val="170000"/>
              </a:lnSpc>
            </a:pPr>
            <a:r>
              <a:rPr lang="en-US" sz="1800" dirty="0">
                <a:solidFill>
                  <a:srgbClr val="0F172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for document-based Q&amp;A</a:t>
            </a:r>
            <a:endParaRPr lang="en-US" sz="1800" dirty="0"/>
          </a:p>
          <a:p>
            <a:pPr>
              <a:lnSpc>
                <a:spcPct val="170000"/>
              </a:lnSpc>
              <a:spcBef>
                <a:spcPts val="1000"/>
              </a:spcBef>
            </a:pPr>
            <a:r>
              <a:rPr lang="en-US" sz="1800" dirty="0">
                <a:solidFill>
                  <a:srgbClr val="D9770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■</a:t>
            </a:r>
            <a:pPr>
              <a:lnSpc>
                <a:spcPct val="170000"/>
              </a:lnSpc>
              <a:spcBef>
                <a:spcPts val="1000"/>
              </a:spcBef>
            </a:pPr>
            <a:r>
              <a:rPr lang="en-US" sz="1800" dirty="0">
                <a:solidFill>
                  <a:srgbClr val="0F172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Students upload academic materials </a:t>
            </a:r>
            <a:pPr>
              <a:lnSpc>
                <a:spcPct val="170000"/>
              </a:lnSpc>
              <a:spcBef>
                <a:spcPts val="1000"/>
              </a:spcBef>
            </a:pPr>
            <a:r>
              <a:rPr lang="en-US" sz="1800" b="1" dirty="0">
                <a:solidFill>
                  <a:srgbClr val="0F172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(PDFs, notes)</a:t>
            </a:r>
            <a:pPr>
              <a:lnSpc>
                <a:spcPct val="170000"/>
              </a:lnSpc>
              <a:spcBef>
                <a:spcPts val="1000"/>
              </a:spcBef>
            </a:pPr>
            <a:r>
              <a:rPr lang="en-US" sz="1800" dirty="0">
                <a:solidFill>
                  <a:srgbClr val="0F172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for intelligent querying</a:t>
            </a:r>
            <a:endParaRPr lang="en-US" sz="1800" dirty="0"/>
          </a:p>
          <a:p>
            <a:pPr>
              <a:lnSpc>
                <a:spcPct val="170000"/>
              </a:lnSpc>
              <a:spcBef>
                <a:spcPts val="1000"/>
              </a:spcBef>
            </a:pPr>
            <a:r>
              <a:rPr lang="en-US" sz="1800" dirty="0">
                <a:solidFill>
                  <a:srgbClr val="D9770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■</a:t>
            </a:r>
            <a:pPr>
              <a:lnSpc>
                <a:spcPct val="170000"/>
              </a:lnSpc>
              <a:spcBef>
                <a:spcPts val="1000"/>
              </a:spcBef>
            </a:pPr>
            <a:r>
              <a:rPr lang="en-US" sz="1800" dirty="0">
                <a:solidFill>
                  <a:srgbClr val="0F172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</a:t>
            </a:r>
            <a:pPr>
              <a:lnSpc>
                <a:spcPct val="170000"/>
              </a:lnSpc>
              <a:spcBef>
                <a:spcPts val="1000"/>
              </a:spcBef>
            </a:pPr>
            <a:r>
              <a:rPr lang="en-US" sz="1800" b="1" dirty="0">
                <a:solidFill>
                  <a:srgbClr val="0F172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Vector embeddings + semantic search</a:t>
            </a:r>
            <a:pPr>
              <a:lnSpc>
                <a:spcPct val="170000"/>
              </a:lnSpc>
              <a:spcBef>
                <a:spcPts val="1000"/>
              </a:spcBef>
            </a:pPr>
            <a:r>
              <a:rPr lang="en-US" sz="1800" dirty="0">
                <a:solidFill>
                  <a:srgbClr val="0F172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for accurate context retrieval</a:t>
            </a:r>
            <a:endParaRPr lang="en-US" sz="1800" dirty="0"/>
          </a:p>
          <a:p>
            <a:pPr>
              <a:lnSpc>
                <a:spcPct val="170000"/>
              </a:lnSpc>
              <a:spcBef>
                <a:spcPts val="1000"/>
              </a:spcBef>
            </a:pPr>
            <a:r>
              <a:rPr lang="en-US" sz="1800" dirty="0">
                <a:solidFill>
                  <a:srgbClr val="D9770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■</a:t>
            </a:r>
            <a:pPr>
              <a:lnSpc>
                <a:spcPct val="170000"/>
              </a:lnSpc>
              <a:spcBef>
                <a:spcPts val="1000"/>
              </a:spcBef>
            </a:pPr>
            <a:r>
              <a:rPr lang="en-US" sz="1800" dirty="0">
                <a:solidFill>
                  <a:srgbClr val="0F172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</a:t>
            </a:r>
            <a:pPr>
              <a:lnSpc>
                <a:spcPct val="170000"/>
              </a:lnSpc>
              <a:spcBef>
                <a:spcPts val="1000"/>
              </a:spcBef>
            </a:pPr>
            <a:r>
              <a:rPr lang="en-US" sz="1800" b="1" dirty="0">
                <a:solidFill>
                  <a:srgbClr val="0F172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Cited answers</a:t>
            </a:r>
            <a:pPr>
              <a:lnSpc>
                <a:spcPct val="170000"/>
              </a:lnSpc>
              <a:spcBef>
                <a:spcPts val="1000"/>
              </a:spcBef>
            </a:pPr>
            <a:r>
              <a:rPr lang="en-US" sz="1800" dirty="0">
                <a:solidFill>
                  <a:srgbClr val="0F172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with source references back to uploaded documents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762000" y="4572000"/>
            <a:ext cx="3302000" cy="88900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/>
        </p:spPr>
      </p:sp>
      <p:sp>
        <p:nvSpPr>
          <p:cNvPr id="13" name="Text 11"/>
          <p:cNvSpPr/>
          <p:nvPr/>
        </p:nvSpPr>
        <p:spPr>
          <a:xfrm>
            <a:off x="889000" y="4673600"/>
            <a:ext cx="3048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1300" b="1" dirty="0">
                <a:solidFill>
                  <a:srgbClr val="F8FAF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UPLOAD</a:t>
            </a:r>
            <a:endParaRPr lang="en-US" sz="1600" dirty="0"/>
          </a:p>
          <a:p>
            <a:pPr algn="ctr">
              <a:lnSpc>
                <a:spcPct val="140000"/>
              </a:lnSpc>
            </a:pPr>
            <a:r>
              <a:rPr lang="en-US" sz="1300" dirty="0">
                <a:solidFill>
                  <a:srgbClr val="F8FAF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PDFs, Notes, Docs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4064000" y="4953000"/>
            <a:ext cx="381000" cy="0"/>
          </a:xfrm>
          <a:prstGeom prst="straightConnector1">
            <a:avLst/>
          </a:prstGeom>
          <a:noFill/>
          <a:ln w="25400">
            <a:solidFill>
              <a:srgbClr val="D97706"/>
            </a:solidFill>
            <a:prstDash val="solid"/>
            <a:headEnd type="none"/>
            <a:tailEnd type="arrow"/>
          </a:ln>
        </p:spPr>
      </p:sp>
      <p:sp>
        <p:nvSpPr>
          <p:cNvPr id="15" name="Shape 13"/>
          <p:cNvSpPr/>
          <p:nvPr/>
        </p:nvSpPr>
        <p:spPr>
          <a:xfrm>
            <a:off x="4445000" y="4572000"/>
            <a:ext cx="3302000" cy="88900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/>
        </p:spPr>
      </p:sp>
      <p:sp>
        <p:nvSpPr>
          <p:cNvPr id="16" name="Text 14"/>
          <p:cNvSpPr/>
          <p:nvPr/>
        </p:nvSpPr>
        <p:spPr>
          <a:xfrm>
            <a:off x="4572000" y="4673600"/>
            <a:ext cx="3048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1300" b="1" dirty="0">
                <a:solidFill>
                  <a:srgbClr val="F8FAF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EMBED</a:t>
            </a:r>
            <a:endParaRPr lang="en-US" sz="1600" dirty="0"/>
          </a:p>
          <a:p>
            <a:pPr algn="ctr">
              <a:lnSpc>
                <a:spcPct val="140000"/>
              </a:lnSpc>
            </a:pPr>
            <a:r>
              <a:rPr lang="en-US" sz="1300" dirty="0">
                <a:solidFill>
                  <a:srgbClr val="F8FAF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Vector Store (Chunks)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7747000" y="4953000"/>
            <a:ext cx="381000" cy="0"/>
          </a:xfrm>
          <a:prstGeom prst="straightConnector1">
            <a:avLst/>
          </a:prstGeom>
          <a:noFill/>
          <a:ln w="25400">
            <a:solidFill>
              <a:srgbClr val="D97706"/>
            </a:solidFill>
            <a:prstDash val="solid"/>
            <a:headEnd type="none"/>
            <a:tailEnd type="arrow"/>
          </a:ln>
        </p:spPr>
      </p:sp>
      <p:sp>
        <p:nvSpPr>
          <p:cNvPr id="18" name="Shape 16"/>
          <p:cNvSpPr/>
          <p:nvPr/>
        </p:nvSpPr>
        <p:spPr>
          <a:xfrm>
            <a:off x="8128000" y="4572000"/>
            <a:ext cx="3302000" cy="88900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/>
        </p:spPr>
      </p:sp>
      <p:sp>
        <p:nvSpPr>
          <p:cNvPr id="19" name="Text 17"/>
          <p:cNvSpPr/>
          <p:nvPr/>
        </p:nvSpPr>
        <p:spPr>
          <a:xfrm>
            <a:off x="8255000" y="4673600"/>
            <a:ext cx="3048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1300" b="1" dirty="0">
                <a:solidFill>
                  <a:srgbClr val="F8FAF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QUERY</a:t>
            </a:r>
            <a:endParaRPr lang="en-US" sz="1600" dirty="0"/>
          </a:p>
          <a:p>
            <a:pPr algn="ctr">
              <a:lnSpc>
                <a:spcPct val="140000"/>
              </a:lnSpc>
            </a:pPr>
            <a:r>
              <a:rPr lang="en-US" sz="1300" dirty="0">
                <a:solidFill>
                  <a:srgbClr val="F8FAF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Semantic Search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11430000" y="4953000"/>
            <a:ext cx="381000" cy="0"/>
          </a:xfrm>
          <a:prstGeom prst="straightConnector1">
            <a:avLst/>
          </a:prstGeom>
          <a:noFill/>
          <a:ln w="25400">
            <a:solidFill>
              <a:srgbClr val="D97706"/>
            </a:solidFill>
            <a:prstDash val="solid"/>
            <a:headEnd type="none"/>
            <a:tailEnd type="arrow"/>
          </a:ln>
        </p:spPr>
      </p:sp>
      <p:sp>
        <p:nvSpPr>
          <p:cNvPr id="21" name="Shape 19"/>
          <p:cNvSpPr/>
          <p:nvPr/>
        </p:nvSpPr>
        <p:spPr>
          <a:xfrm>
            <a:off x="11811000" y="4572000"/>
            <a:ext cx="3302000" cy="889000"/>
          </a:xfrm>
          <a:prstGeom prst="roundRect">
            <a:avLst>
              <a:gd name="adj" fmla="val 8000"/>
            </a:avLst>
          </a:prstGeom>
          <a:solidFill>
            <a:srgbClr val="D97706"/>
          </a:solidFill>
          <a:ln/>
        </p:spPr>
      </p:sp>
      <p:sp>
        <p:nvSpPr>
          <p:cNvPr id="22" name="Text 20"/>
          <p:cNvSpPr/>
          <p:nvPr/>
        </p:nvSpPr>
        <p:spPr>
          <a:xfrm>
            <a:off x="11938000" y="4673600"/>
            <a:ext cx="3048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1300" b="1" dirty="0">
                <a:solidFill>
                  <a:srgbClr val="F8FAF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ANSWER</a:t>
            </a:r>
            <a:endParaRPr lang="en-US" sz="1600" dirty="0"/>
          </a:p>
          <a:p>
            <a:pPr algn="ctr">
              <a:lnSpc>
                <a:spcPct val="140000"/>
              </a:lnSpc>
            </a:pPr>
            <a:r>
              <a:rPr lang="en-US" sz="1300" dirty="0">
                <a:solidFill>
                  <a:srgbClr val="F8FAF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Cited RAG Response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762000" y="5905500"/>
            <a:ext cx="14732000" cy="2222500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4" name="Shape 22"/>
          <p:cNvSpPr/>
          <p:nvPr/>
        </p:nvSpPr>
        <p:spPr>
          <a:xfrm>
            <a:off x="7854950" y="6604000"/>
            <a:ext cx="444500" cy="508000"/>
          </a:xfrm>
          <a:custGeom>
            <a:avLst/>
            <a:gdLst/>
            <a:ahLst/>
            <a:cxnLst/>
            <a:rect l="l" t="t" r="r" b="b"/>
            <a:pathLst>
              <a:path w="444500" h="508000">
                <a:moveTo>
                  <a:pt x="63500" y="79375"/>
                </a:moveTo>
                <a:cubicBezTo>
                  <a:pt x="54769" y="79375"/>
                  <a:pt x="47625" y="86519"/>
                  <a:pt x="47625" y="95250"/>
                </a:cubicBezTo>
                <a:lnTo>
                  <a:pt x="47625" y="412750"/>
                </a:lnTo>
                <a:cubicBezTo>
                  <a:pt x="47625" y="421481"/>
                  <a:pt x="54769" y="428625"/>
                  <a:pt x="63500" y="428625"/>
                </a:cubicBezTo>
                <a:lnTo>
                  <a:pt x="381000" y="428625"/>
                </a:lnTo>
                <a:cubicBezTo>
                  <a:pt x="389731" y="428625"/>
                  <a:pt x="396875" y="421481"/>
                  <a:pt x="396875" y="412750"/>
                </a:cubicBezTo>
                <a:lnTo>
                  <a:pt x="396875" y="95250"/>
                </a:lnTo>
                <a:cubicBezTo>
                  <a:pt x="396875" y="86519"/>
                  <a:pt x="389731" y="79375"/>
                  <a:pt x="381000" y="79375"/>
                </a:cubicBezTo>
                <a:lnTo>
                  <a:pt x="63500" y="79375"/>
                </a:lnTo>
                <a:close/>
                <a:moveTo>
                  <a:pt x="0" y="95250"/>
                </a:moveTo>
                <a:cubicBezTo>
                  <a:pt x="0" y="60226"/>
                  <a:pt x="28476" y="31750"/>
                  <a:pt x="63500" y="31750"/>
                </a:cubicBezTo>
                <a:lnTo>
                  <a:pt x="381000" y="31750"/>
                </a:lnTo>
                <a:cubicBezTo>
                  <a:pt x="416024" y="31750"/>
                  <a:pt x="444500" y="60226"/>
                  <a:pt x="444500" y="95250"/>
                </a:cubicBezTo>
                <a:lnTo>
                  <a:pt x="444500" y="412750"/>
                </a:lnTo>
                <a:cubicBezTo>
                  <a:pt x="444500" y="447774"/>
                  <a:pt x="416024" y="476250"/>
                  <a:pt x="381000" y="476250"/>
                </a:cubicBezTo>
                <a:lnTo>
                  <a:pt x="63500" y="476250"/>
                </a:lnTo>
                <a:cubicBezTo>
                  <a:pt x="28476" y="476250"/>
                  <a:pt x="0" y="447774"/>
                  <a:pt x="0" y="412750"/>
                </a:cubicBezTo>
                <a:lnTo>
                  <a:pt x="0" y="95250"/>
                </a:lnTo>
                <a:close/>
                <a:moveTo>
                  <a:pt x="127000" y="127000"/>
                </a:moveTo>
                <a:cubicBezTo>
                  <a:pt x="144523" y="127000"/>
                  <a:pt x="158750" y="141227"/>
                  <a:pt x="158750" y="158750"/>
                </a:cubicBezTo>
                <a:cubicBezTo>
                  <a:pt x="158750" y="176273"/>
                  <a:pt x="144523" y="190500"/>
                  <a:pt x="127000" y="190500"/>
                </a:cubicBezTo>
                <a:cubicBezTo>
                  <a:pt x="109477" y="190500"/>
                  <a:pt x="95250" y="176273"/>
                  <a:pt x="95250" y="158750"/>
                </a:cubicBezTo>
                <a:cubicBezTo>
                  <a:pt x="95250" y="141227"/>
                  <a:pt x="109477" y="127000"/>
                  <a:pt x="127000" y="127000"/>
                </a:cubicBezTo>
                <a:close/>
                <a:moveTo>
                  <a:pt x="261937" y="198438"/>
                </a:moveTo>
                <a:cubicBezTo>
                  <a:pt x="270371" y="198438"/>
                  <a:pt x="278209" y="202902"/>
                  <a:pt x="282476" y="210145"/>
                </a:cubicBezTo>
                <a:lnTo>
                  <a:pt x="361851" y="345083"/>
                </a:lnTo>
                <a:cubicBezTo>
                  <a:pt x="366216" y="352425"/>
                  <a:pt x="366216" y="361553"/>
                  <a:pt x="361950" y="368995"/>
                </a:cubicBezTo>
                <a:cubicBezTo>
                  <a:pt x="357684" y="376436"/>
                  <a:pt x="349845" y="381000"/>
                  <a:pt x="341313" y="381000"/>
                </a:cubicBezTo>
                <a:lnTo>
                  <a:pt x="103188" y="381000"/>
                </a:lnTo>
                <a:cubicBezTo>
                  <a:pt x="94357" y="381000"/>
                  <a:pt x="86122" y="376039"/>
                  <a:pt x="82054" y="368201"/>
                </a:cubicBezTo>
                <a:cubicBezTo>
                  <a:pt x="77986" y="360363"/>
                  <a:pt x="78581" y="350838"/>
                  <a:pt x="83641" y="343595"/>
                </a:cubicBezTo>
                <a:lnTo>
                  <a:pt x="139204" y="264220"/>
                </a:lnTo>
                <a:cubicBezTo>
                  <a:pt x="143669" y="257870"/>
                  <a:pt x="150912" y="254099"/>
                  <a:pt x="158750" y="254099"/>
                </a:cubicBezTo>
                <a:cubicBezTo>
                  <a:pt x="166588" y="254099"/>
                  <a:pt x="173831" y="257870"/>
                  <a:pt x="178296" y="264220"/>
                </a:cubicBezTo>
                <a:lnTo>
                  <a:pt x="195362" y="288627"/>
                </a:lnTo>
                <a:lnTo>
                  <a:pt x="241498" y="210245"/>
                </a:lnTo>
                <a:cubicBezTo>
                  <a:pt x="245765" y="203002"/>
                  <a:pt x="253603" y="198537"/>
                  <a:pt x="262037" y="198537"/>
                </a:cubicBezTo>
                <a:close/>
              </a:path>
            </a:pathLst>
          </a:custGeom>
          <a:solidFill>
            <a:srgbClr val="64748B"/>
          </a:solidFill>
          <a:ln/>
        </p:spPr>
      </p:sp>
      <p:sp>
        <p:nvSpPr>
          <p:cNvPr id="25" name="Text 23"/>
          <p:cNvSpPr/>
          <p:nvPr/>
        </p:nvSpPr>
        <p:spPr>
          <a:xfrm>
            <a:off x="4572000" y="7239000"/>
            <a:ext cx="7112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[Insert Screenshot: RAG Hub UI — Document Upload + Q&amp;A Interface]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14986000" y="87630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200" dirty="0">
                <a:solidFill>
                  <a:srgbClr val="64748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32</a:t>
            </a:r>
            <a:endParaRPr lang="en-US" sz="1200" dirty="0"/>
          </a:p>
        </p:txBody>
      </p:sp>
    </p:spTree>
  </p:cSld>
  <p:clrMapOvr>
    <a:masterClrMapping/>
  </p:clrMapOvr>
  <p:transition>
    <p:fade/>
    <p:spd val="med"/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2286000"/>
            <a:ext cx="2540000" cy="1143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7200" b="1" dirty="0">
                <a:solidFill>
                  <a:srgbClr val="D9770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06</a:t>
            </a:r>
            <a:endParaRPr lang="en-US" sz="1600" dirty="0"/>
          </a:p>
        </p:txBody>
      </p:sp>
      <p:sp>
        <p:nvSpPr>
          <p:cNvPr id="3" name="Shape 1"/>
          <p:cNvSpPr/>
          <p:nvPr/>
        </p:nvSpPr>
        <p:spPr>
          <a:xfrm>
            <a:off x="762000" y="3619500"/>
            <a:ext cx="1270000" cy="3810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4" name="Text 2"/>
          <p:cNvSpPr/>
          <p:nvPr/>
        </p:nvSpPr>
        <p:spPr>
          <a:xfrm>
            <a:off x="762000" y="3873500"/>
            <a:ext cx="1143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600" b="1" spc="200" kern="0" dirty="0">
                <a:solidFill>
                  <a:srgbClr val="F8FAF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DEMONSTRATION &amp; FUTURE WORK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62000" y="4699000"/>
            <a:ext cx="889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Dual-end demo and system scalability roadmap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AFA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45720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Text 1"/>
          <p:cNvSpPr/>
          <p:nvPr/>
        </p:nvSpPr>
        <p:spPr>
          <a:xfrm>
            <a:off x="0" y="0"/>
            <a:ext cx="27051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spc="100" kern="0" dirty="0">
                <a:solidFill>
                  <a:srgbClr val="F8FAF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INTRODUCTION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2705100" y="0"/>
            <a:ext cx="27051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spc="100" kern="0" dirty="0">
                <a:solidFill>
                  <a:srgbClr val="F8FAF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LITERATURE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10200" y="0"/>
            <a:ext cx="27178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spc="100" kern="0" dirty="0">
                <a:solidFill>
                  <a:srgbClr val="F8FAF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METHODOLOGY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128000" y="0"/>
            <a:ext cx="27051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spc="100" kern="0" dirty="0">
                <a:solidFill>
                  <a:srgbClr val="F8FAF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XAI RESULTS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0833100" y="0"/>
            <a:ext cx="27178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spc="100" kern="0" dirty="0">
                <a:solidFill>
                  <a:srgbClr val="F8FAF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IMPLEMENTATION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3550900" y="0"/>
            <a:ext cx="27051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b="1" spc="100" kern="0" dirty="0">
                <a:solidFill>
                  <a:srgbClr val="D9770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DEMONSTRATION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62000" y="660400"/>
            <a:ext cx="10160000" cy="482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b="1" dirty="0">
                <a:solidFill>
                  <a:srgbClr val="1E293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Dual Demonstration: Student Journey</a:t>
            </a:r>
            <a:endParaRPr lang="en-US" sz="2800" dirty="0"/>
          </a:p>
        </p:txBody>
      </p:sp>
      <p:sp>
        <p:nvSpPr>
          <p:cNvPr id="10" name="Shape 8"/>
          <p:cNvSpPr/>
          <p:nvPr/>
        </p:nvSpPr>
        <p:spPr>
          <a:xfrm>
            <a:off x="762000" y="1206500"/>
            <a:ext cx="762000" cy="3810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11" name="Shape 9"/>
          <p:cNvSpPr/>
          <p:nvPr/>
        </p:nvSpPr>
        <p:spPr>
          <a:xfrm>
            <a:off x="762000" y="1524000"/>
            <a:ext cx="508000" cy="508000"/>
          </a:xfrm>
          <a:prstGeom prst="ellipse">
            <a:avLst/>
          </a:prstGeom>
          <a:solidFill>
            <a:srgbClr val="D97706"/>
          </a:solidFill>
          <a:ln/>
        </p:spPr>
      </p:sp>
      <p:sp>
        <p:nvSpPr>
          <p:cNvPr id="12" name="Text 10"/>
          <p:cNvSpPr/>
          <p:nvPr/>
        </p:nvSpPr>
        <p:spPr>
          <a:xfrm>
            <a:off x="762000" y="1524000"/>
            <a:ext cx="508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800" b="1" dirty="0">
                <a:solidFill>
                  <a:srgbClr val="F8FAF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460500" y="1524000"/>
            <a:ext cx="381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Landing Page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460500" y="1879600"/>
            <a:ext cx="635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5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Student arrives at glassmorphism homepage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1016000" y="2032000"/>
            <a:ext cx="0" cy="317500"/>
          </a:xfrm>
          <a:prstGeom prst="straightConnector1">
            <a:avLst/>
          </a:prstGeom>
          <a:noFill/>
          <a:ln w="25400">
            <a:solidFill>
              <a:srgbClr val="E2E8F0"/>
            </a:solidFill>
            <a:prstDash val="solid"/>
            <a:headEnd type="none"/>
            <a:tailEnd type="arrow"/>
          </a:ln>
        </p:spPr>
      </p:sp>
      <p:sp>
        <p:nvSpPr>
          <p:cNvPr id="16" name="Shape 14"/>
          <p:cNvSpPr/>
          <p:nvPr/>
        </p:nvSpPr>
        <p:spPr>
          <a:xfrm>
            <a:off x="762000" y="2349500"/>
            <a:ext cx="508000" cy="508000"/>
          </a:xfrm>
          <a:prstGeom prst="ellipse">
            <a:avLst/>
          </a:prstGeom>
          <a:solidFill>
            <a:srgbClr val="D97706"/>
          </a:solidFill>
          <a:ln/>
        </p:spPr>
      </p:sp>
      <p:sp>
        <p:nvSpPr>
          <p:cNvPr id="17" name="Text 15"/>
          <p:cNvSpPr/>
          <p:nvPr/>
        </p:nvSpPr>
        <p:spPr>
          <a:xfrm>
            <a:off x="762000" y="2349500"/>
            <a:ext cx="508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800" b="1" dirty="0">
                <a:solidFill>
                  <a:srgbClr val="F8FAF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460500" y="2349500"/>
            <a:ext cx="381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Onboarding &amp; Profile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460500" y="2705100"/>
            <a:ext cx="635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5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Multi-step profiling captures academic background and skills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1016000" y="2857500"/>
            <a:ext cx="0" cy="317500"/>
          </a:xfrm>
          <a:prstGeom prst="straightConnector1">
            <a:avLst/>
          </a:prstGeom>
          <a:noFill/>
          <a:ln w="25400">
            <a:solidFill>
              <a:srgbClr val="E2E8F0"/>
            </a:solidFill>
            <a:prstDash val="solid"/>
            <a:headEnd type="none"/>
            <a:tailEnd type="arrow"/>
          </a:ln>
        </p:spPr>
      </p:sp>
      <p:sp>
        <p:nvSpPr>
          <p:cNvPr id="21" name="Shape 19"/>
          <p:cNvSpPr/>
          <p:nvPr/>
        </p:nvSpPr>
        <p:spPr>
          <a:xfrm>
            <a:off x="762000" y="3175000"/>
            <a:ext cx="508000" cy="508000"/>
          </a:xfrm>
          <a:prstGeom prst="ellipse">
            <a:avLst/>
          </a:prstGeom>
          <a:solidFill>
            <a:srgbClr val="D97706"/>
          </a:solidFill>
          <a:ln/>
        </p:spPr>
      </p:sp>
      <p:sp>
        <p:nvSpPr>
          <p:cNvPr id="22" name="Text 20"/>
          <p:cNvSpPr/>
          <p:nvPr/>
        </p:nvSpPr>
        <p:spPr>
          <a:xfrm>
            <a:off x="762000" y="3175000"/>
            <a:ext cx="508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800" b="1" dirty="0">
                <a:solidFill>
                  <a:srgbClr val="F8FAF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460500" y="3175000"/>
            <a:ext cx="381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Career Prediction + XAI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460500" y="3530600"/>
            <a:ext cx="635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5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ML prediction with SHAP driver/inhibitor breakdown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1016000" y="3683000"/>
            <a:ext cx="0" cy="317500"/>
          </a:xfrm>
          <a:prstGeom prst="straightConnector1">
            <a:avLst/>
          </a:prstGeom>
          <a:noFill/>
          <a:ln w="25400">
            <a:solidFill>
              <a:srgbClr val="E2E8F0"/>
            </a:solidFill>
            <a:prstDash val="solid"/>
            <a:headEnd type="none"/>
            <a:tailEnd type="arrow"/>
          </a:ln>
        </p:spPr>
      </p:sp>
      <p:sp>
        <p:nvSpPr>
          <p:cNvPr id="26" name="Shape 24"/>
          <p:cNvSpPr/>
          <p:nvPr/>
        </p:nvSpPr>
        <p:spPr>
          <a:xfrm>
            <a:off x="762000" y="4000500"/>
            <a:ext cx="508000" cy="508000"/>
          </a:xfrm>
          <a:prstGeom prst="ellipse">
            <a:avLst/>
          </a:prstGeom>
          <a:solidFill>
            <a:srgbClr val="D97706"/>
          </a:solidFill>
          <a:ln/>
        </p:spPr>
      </p:sp>
      <p:sp>
        <p:nvSpPr>
          <p:cNvPr id="27" name="Text 25"/>
          <p:cNvSpPr/>
          <p:nvPr/>
        </p:nvSpPr>
        <p:spPr>
          <a:xfrm>
            <a:off x="762000" y="4000500"/>
            <a:ext cx="508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800" b="1" dirty="0">
                <a:solidFill>
                  <a:srgbClr val="F8FAF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4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1460500" y="4000500"/>
            <a:ext cx="381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Personalized Roadmap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1460500" y="4356100"/>
            <a:ext cx="635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5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3-phase learning path auto-generated from skill gaps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8382000" y="1524000"/>
            <a:ext cx="7112000" cy="66675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1" name="Shape 29"/>
          <p:cNvSpPr/>
          <p:nvPr/>
        </p:nvSpPr>
        <p:spPr>
          <a:xfrm>
            <a:off x="11671300" y="4318000"/>
            <a:ext cx="533400" cy="609600"/>
          </a:xfrm>
          <a:custGeom>
            <a:avLst/>
            <a:gdLst/>
            <a:ahLst/>
            <a:cxnLst/>
            <a:rect l="l" t="t" r="r" b="b"/>
            <a:pathLst>
              <a:path w="533400" h="609600">
                <a:moveTo>
                  <a:pt x="76200" y="95250"/>
                </a:moveTo>
                <a:cubicBezTo>
                  <a:pt x="65723" y="95250"/>
                  <a:pt x="57150" y="103823"/>
                  <a:pt x="57150" y="114300"/>
                </a:cubicBezTo>
                <a:lnTo>
                  <a:pt x="57150" y="495300"/>
                </a:lnTo>
                <a:cubicBezTo>
                  <a:pt x="57150" y="505778"/>
                  <a:pt x="65723" y="514350"/>
                  <a:pt x="76200" y="514350"/>
                </a:cubicBezTo>
                <a:lnTo>
                  <a:pt x="457200" y="514350"/>
                </a:lnTo>
                <a:cubicBezTo>
                  <a:pt x="467678" y="514350"/>
                  <a:pt x="476250" y="505778"/>
                  <a:pt x="476250" y="495300"/>
                </a:cubicBezTo>
                <a:lnTo>
                  <a:pt x="476250" y="114300"/>
                </a:lnTo>
                <a:cubicBezTo>
                  <a:pt x="476250" y="103823"/>
                  <a:pt x="467678" y="95250"/>
                  <a:pt x="457200" y="95250"/>
                </a:cubicBezTo>
                <a:lnTo>
                  <a:pt x="76200" y="95250"/>
                </a:lnTo>
                <a:close/>
                <a:moveTo>
                  <a:pt x="0" y="114300"/>
                </a:moveTo>
                <a:cubicBezTo>
                  <a:pt x="0" y="72271"/>
                  <a:pt x="34171" y="38100"/>
                  <a:pt x="76200" y="38100"/>
                </a:cubicBezTo>
                <a:lnTo>
                  <a:pt x="457200" y="38100"/>
                </a:lnTo>
                <a:cubicBezTo>
                  <a:pt x="499229" y="38100"/>
                  <a:pt x="533400" y="72271"/>
                  <a:pt x="533400" y="114300"/>
                </a:cubicBezTo>
                <a:lnTo>
                  <a:pt x="533400" y="495300"/>
                </a:lnTo>
                <a:cubicBezTo>
                  <a:pt x="533400" y="537329"/>
                  <a:pt x="499229" y="571500"/>
                  <a:pt x="457200" y="571500"/>
                </a:cubicBezTo>
                <a:lnTo>
                  <a:pt x="76200" y="571500"/>
                </a:lnTo>
                <a:cubicBezTo>
                  <a:pt x="34171" y="571500"/>
                  <a:pt x="0" y="537329"/>
                  <a:pt x="0" y="495300"/>
                </a:cubicBezTo>
                <a:lnTo>
                  <a:pt x="0" y="114300"/>
                </a:lnTo>
                <a:close/>
                <a:moveTo>
                  <a:pt x="152400" y="152400"/>
                </a:moveTo>
                <a:cubicBezTo>
                  <a:pt x="173428" y="152400"/>
                  <a:pt x="190500" y="169472"/>
                  <a:pt x="190500" y="190500"/>
                </a:cubicBezTo>
                <a:cubicBezTo>
                  <a:pt x="190500" y="211528"/>
                  <a:pt x="173428" y="228600"/>
                  <a:pt x="152400" y="228600"/>
                </a:cubicBezTo>
                <a:cubicBezTo>
                  <a:pt x="131372" y="228600"/>
                  <a:pt x="114300" y="211528"/>
                  <a:pt x="114300" y="190500"/>
                </a:cubicBezTo>
                <a:cubicBezTo>
                  <a:pt x="114300" y="169472"/>
                  <a:pt x="131372" y="152400"/>
                  <a:pt x="152400" y="152400"/>
                </a:cubicBezTo>
                <a:close/>
                <a:moveTo>
                  <a:pt x="314325" y="238125"/>
                </a:moveTo>
                <a:cubicBezTo>
                  <a:pt x="324445" y="238125"/>
                  <a:pt x="333851" y="243483"/>
                  <a:pt x="338971" y="252174"/>
                </a:cubicBezTo>
                <a:lnTo>
                  <a:pt x="434221" y="414099"/>
                </a:lnTo>
                <a:cubicBezTo>
                  <a:pt x="439460" y="422910"/>
                  <a:pt x="439460" y="433864"/>
                  <a:pt x="434340" y="442793"/>
                </a:cubicBezTo>
                <a:cubicBezTo>
                  <a:pt x="429220" y="451723"/>
                  <a:pt x="419814" y="457200"/>
                  <a:pt x="409575" y="457200"/>
                </a:cubicBezTo>
                <a:lnTo>
                  <a:pt x="123825" y="457200"/>
                </a:lnTo>
                <a:cubicBezTo>
                  <a:pt x="113228" y="457200"/>
                  <a:pt x="103346" y="451247"/>
                  <a:pt x="98465" y="441841"/>
                </a:cubicBezTo>
                <a:cubicBezTo>
                  <a:pt x="93583" y="432435"/>
                  <a:pt x="94298" y="421005"/>
                  <a:pt x="100370" y="412313"/>
                </a:cubicBezTo>
                <a:lnTo>
                  <a:pt x="167045" y="317063"/>
                </a:lnTo>
                <a:cubicBezTo>
                  <a:pt x="172403" y="309443"/>
                  <a:pt x="181094" y="304919"/>
                  <a:pt x="190500" y="304919"/>
                </a:cubicBezTo>
                <a:cubicBezTo>
                  <a:pt x="199906" y="304919"/>
                  <a:pt x="208597" y="309443"/>
                  <a:pt x="213955" y="317063"/>
                </a:cubicBezTo>
                <a:lnTo>
                  <a:pt x="234434" y="346353"/>
                </a:lnTo>
                <a:lnTo>
                  <a:pt x="289798" y="252293"/>
                </a:lnTo>
                <a:cubicBezTo>
                  <a:pt x="294918" y="243602"/>
                  <a:pt x="304324" y="238244"/>
                  <a:pt x="314444" y="238244"/>
                </a:cubicBezTo>
                <a:close/>
              </a:path>
            </a:pathLst>
          </a:custGeom>
          <a:solidFill>
            <a:srgbClr val="64748B"/>
          </a:solidFill>
          <a:ln/>
        </p:spPr>
      </p:sp>
      <p:sp>
        <p:nvSpPr>
          <p:cNvPr id="32" name="Text 30"/>
          <p:cNvSpPr/>
          <p:nvPr/>
        </p:nvSpPr>
        <p:spPr>
          <a:xfrm>
            <a:off x="8890000" y="5080000"/>
            <a:ext cx="6096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50000"/>
              </a:lnSpc>
            </a:pPr>
            <a:r>
              <a:rPr lang="en-US" sz="14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[Insert Screenshot: Student UX Flow —</a:t>
            </a:r>
            <a:endParaRPr lang="en-US" sz="1600" dirty="0"/>
          </a:p>
          <a:p>
            <a:pPr algn="ctr">
              <a:lnSpc>
                <a:spcPct val="150000"/>
              </a:lnSpc>
            </a:pPr>
            <a:r>
              <a:rPr lang="en-US" sz="14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Landing → Profile → Prediction → Roadmap]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14986000" y="87630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200" dirty="0">
                <a:solidFill>
                  <a:srgbClr val="64748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34</a:t>
            </a:r>
            <a:endParaRPr lang="en-US" sz="1200" dirty="0"/>
          </a:p>
        </p:txBody>
      </p:sp>
    </p:spTree>
  </p:cSld>
  <p:clrMapOvr>
    <a:masterClrMapping/>
  </p:clrMapOvr>
  <p:transition>
    <p:fade/>
    <p:spd val="med"/>
  </p:transition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AFA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45720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Text 1"/>
          <p:cNvSpPr/>
          <p:nvPr/>
        </p:nvSpPr>
        <p:spPr>
          <a:xfrm>
            <a:off x="0" y="0"/>
            <a:ext cx="27051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spc="100" kern="0" dirty="0">
                <a:solidFill>
                  <a:srgbClr val="F8FAF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INTRODUCTION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2705100" y="0"/>
            <a:ext cx="27051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spc="100" kern="0" dirty="0">
                <a:solidFill>
                  <a:srgbClr val="F8FAF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LITERATURE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10200" y="0"/>
            <a:ext cx="27178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spc="100" kern="0" dirty="0">
                <a:solidFill>
                  <a:srgbClr val="F8FAF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METHODOLOGY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128000" y="0"/>
            <a:ext cx="27051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spc="100" kern="0" dirty="0">
                <a:solidFill>
                  <a:srgbClr val="F8FAF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XAI RESULTS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0833100" y="0"/>
            <a:ext cx="27178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spc="100" kern="0" dirty="0">
                <a:solidFill>
                  <a:srgbClr val="F8FAF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IMPLEMENTATION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3550900" y="0"/>
            <a:ext cx="27051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b="1" spc="100" kern="0" dirty="0">
                <a:solidFill>
                  <a:srgbClr val="D9770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DEMONSTRATION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62000" y="660400"/>
            <a:ext cx="10160000" cy="482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b="1" dirty="0">
                <a:solidFill>
                  <a:srgbClr val="1E293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Dual Demonstration: System Flow</a:t>
            </a:r>
            <a:endParaRPr lang="en-US" sz="2800" dirty="0"/>
          </a:p>
        </p:txBody>
      </p:sp>
      <p:sp>
        <p:nvSpPr>
          <p:cNvPr id="10" name="Shape 8"/>
          <p:cNvSpPr/>
          <p:nvPr/>
        </p:nvSpPr>
        <p:spPr>
          <a:xfrm>
            <a:off x="762000" y="1206500"/>
            <a:ext cx="762000" cy="3810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11" name="Shape 9"/>
          <p:cNvSpPr/>
          <p:nvPr/>
        </p:nvSpPr>
        <p:spPr>
          <a:xfrm>
            <a:off x="762000" y="1587500"/>
            <a:ext cx="3302000" cy="120650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/>
        </p:spPr>
      </p:sp>
      <p:sp>
        <p:nvSpPr>
          <p:cNvPr id="12" name="Text 10"/>
          <p:cNvSpPr/>
          <p:nvPr/>
        </p:nvSpPr>
        <p:spPr>
          <a:xfrm>
            <a:off x="889000" y="1689100"/>
            <a:ext cx="3048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1400" b="1" dirty="0">
                <a:solidFill>
                  <a:srgbClr val="F8FAF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STEP 1</a:t>
            </a:r>
            <a:endParaRPr lang="en-US" sz="1600" dirty="0"/>
          </a:p>
          <a:p>
            <a:pPr algn="ctr">
              <a:lnSpc>
                <a:spcPct val="140000"/>
              </a:lnSpc>
            </a:pPr>
            <a:r>
              <a:rPr lang="en-US" sz="1400" dirty="0">
                <a:solidFill>
                  <a:srgbClr val="F8FAF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Frontend POST /predict</a:t>
            </a:r>
            <a:endParaRPr lang="en-US" sz="1600" dirty="0"/>
          </a:p>
          <a:p>
            <a:pPr algn="ctr">
              <a:lnSpc>
                <a:spcPct val="140000"/>
              </a:lnSpc>
            </a:pPr>
            <a:r>
              <a:rPr lang="en-US" sz="1200" dirty="0">
                <a:solidFill>
                  <a:srgbClr val="F8FAF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Student profile JSON payload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4064000" y="2032000"/>
            <a:ext cx="508000" cy="0"/>
          </a:xfrm>
          <a:prstGeom prst="straightConnector1">
            <a:avLst/>
          </a:prstGeom>
          <a:noFill/>
          <a:ln w="25400">
            <a:solidFill>
              <a:srgbClr val="D97706"/>
            </a:solidFill>
            <a:prstDash val="solid"/>
            <a:headEnd type="none"/>
            <a:tailEnd type="arrow"/>
          </a:ln>
        </p:spPr>
      </p:sp>
      <p:sp>
        <p:nvSpPr>
          <p:cNvPr id="14" name="Shape 12"/>
          <p:cNvSpPr/>
          <p:nvPr/>
        </p:nvSpPr>
        <p:spPr>
          <a:xfrm>
            <a:off x="4572000" y="1587500"/>
            <a:ext cx="3302000" cy="120650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/>
        </p:spPr>
      </p:sp>
      <p:sp>
        <p:nvSpPr>
          <p:cNvPr id="15" name="Text 13"/>
          <p:cNvSpPr/>
          <p:nvPr/>
        </p:nvSpPr>
        <p:spPr>
          <a:xfrm>
            <a:off x="4699000" y="1689100"/>
            <a:ext cx="3048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1400" b="1" dirty="0">
                <a:solidFill>
                  <a:srgbClr val="F8FAF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STEP 2</a:t>
            </a:r>
            <a:endParaRPr lang="en-US" sz="1600" dirty="0"/>
          </a:p>
          <a:p>
            <a:pPr algn="ctr">
              <a:lnSpc>
                <a:spcPct val="140000"/>
              </a:lnSpc>
            </a:pPr>
            <a:r>
              <a:rPr lang="en-US" sz="1400" dirty="0">
                <a:solidFill>
                  <a:srgbClr val="F8FAF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FastAPI + Joblib Model</a:t>
            </a:r>
            <a:endParaRPr lang="en-US" sz="1600" dirty="0"/>
          </a:p>
          <a:p>
            <a:pPr algn="ctr">
              <a:lnSpc>
                <a:spcPct val="140000"/>
              </a:lnSpc>
            </a:pPr>
            <a:r>
              <a:rPr lang="en-US" sz="1200" dirty="0">
                <a:solidFill>
                  <a:srgbClr val="F8FAF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Load serialized Decision Tree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7874000" y="2133600"/>
            <a:ext cx="508000" cy="0"/>
          </a:xfrm>
          <a:prstGeom prst="straightConnector1">
            <a:avLst/>
          </a:prstGeom>
          <a:noFill/>
          <a:ln w="25400">
            <a:solidFill>
              <a:srgbClr val="D97706"/>
            </a:solidFill>
            <a:prstDash val="solid"/>
            <a:headEnd type="none"/>
            <a:tailEnd type="arrow"/>
          </a:ln>
        </p:spPr>
      </p:sp>
      <p:sp>
        <p:nvSpPr>
          <p:cNvPr id="17" name="Shape 15"/>
          <p:cNvSpPr/>
          <p:nvPr/>
        </p:nvSpPr>
        <p:spPr>
          <a:xfrm>
            <a:off x="8382000" y="1587500"/>
            <a:ext cx="3302000" cy="1206500"/>
          </a:xfrm>
          <a:prstGeom prst="roundRect">
            <a:avLst>
              <a:gd name="adj" fmla="val 8000"/>
            </a:avLst>
          </a:prstGeom>
          <a:solidFill>
            <a:srgbClr val="D97706"/>
          </a:solidFill>
          <a:ln/>
        </p:spPr>
      </p:sp>
      <p:sp>
        <p:nvSpPr>
          <p:cNvPr id="18" name="Text 16"/>
          <p:cNvSpPr/>
          <p:nvPr/>
        </p:nvSpPr>
        <p:spPr>
          <a:xfrm>
            <a:off x="8509000" y="1689100"/>
            <a:ext cx="3048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1400" b="1" dirty="0">
                <a:solidFill>
                  <a:srgbClr val="F8FAF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STEP 3</a:t>
            </a:r>
            <a:endParaRPr lang="en-US" sz="1600" dirty="0"/>
          </a:p>
          <a:p>
            <a:pPr algn="ctr">
              <a:lnSpc>
                <a:spcPct val="140000"/>
              </a:lnSpc>
            </a:pPr>
            <a:r>
              <a:rPr lang="en-US" sz="1400" dirty="0">
                <a:solidFill>
                  <a:srgbClr val="F8FAF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SHAP TreeExplainer</a:t>
            </a:r>
            <a:endParaRPr lang="en-US" sz="1600" dirty="0"/>
          </a:p>
          <a:p>
            <a:pPr algn="ctr">
              <a:lnSpc>
                <a:spcPct val="140000"/>
              </a:lnSpc>
            </a:pPr>
            <a:r>
              <a:rPr lang="en-US" sz="1200" dirty="0">
                <a:solidFill>
                  <a:srgbClr val="F8FAF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Compute feature contributions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11684000" y="2133600"/>
            <a:ext cx="508000" cy="0"/>
          </a:xfrm>
          <a:prstGeom prst="straightConnector1">
            <a:avLst/>
          </a:prstGeom>
          <a:noFill/>
          <a:ln w="25400">
            <a:solidFill>
              <a:srgbClr val="D97706"/>
            </a:solidFill>
            <a:prstDash val="solid"/>
            <a:headEnd type="none"/>
            <a:tailEnd type="arrow"/>
          </a:ln>
        </p:spPr>
      </p:sp>
      <p:sp>
        <p:nvSpPr>
          <p:cNvPr id="20" name="Shape 18"/>
          <p:cNvSpPr/>
          <p:nvPr/>
        </p:nvSpPr>
        <p:spPr>
          <a:xfrm>
            <a:off x="12192000" y="1587500"/>
            <a:ext cx="3302000" cy="1206500"/>
          </a:xfrm>
          <a:prstGeom prst="roundRect">
            <a:avLst>
              <a:gd name="adj" fmla="val 8000"/>
            </a:avLst>
          </a:prstGeom>
          <a:solidFill>
            <a:srgbClr val="16A34A"/>
          </a:solidFill>
          <a:ln/>
        </p:spPr>
      </p:sp>
      <p:sp>
        <p:nvSpPr>
          <p:cNvPr id="21" name="Text 19"/>
          <p:cNvSpPr/>
          <p:nvPr/>
        </p:nvSpPr>
        <p:spPr>
          <a:xfrm>
            <a:off x="12319000" y="1689100"/>
            <a:ext cx="3048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1400" b="1" dirty="0">
                <a:solidFill>
                  <a:srgbClr val="F8FAF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STEP 4</a:t>
            </a:r>
            <a:endParaRPr lang="en-US" sz="1600" dirty="0"/>
          </a:p>
          <a:p>
            <a:pPr algn="ctr">
              <a:lnSpc>
                <a:spcPct val="140000"/>
              </a:lnSpc>
            </a:pPr>
            <a:r>
              <a:rPr lang="en-US" sz="1400" dirty="0">
                <a:solidFill>
                  <a:srgbClr val="F8FAF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MongoDB + Response</a:t>
            </a:r>
            <a:endParaRPr lang="en-US" sz="1600" dirty="0"/>
          </a:p>
          <a:p>
            <a:pPr algn="ctr">
              <a:lnSpc>
                <a:spcPct val="140000"/>
              </a:lnSpc>
            </a:pPr>
            <a:r>
              <a:rPr lang="en-US" sz="1200" dirty="0">
                <a:solidFill>
                  <a:srgbClr val="F8FAF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Persist + return explanation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762000" y="3111500"/>
            <a:ext cx="14732000" cy="2159000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079500" y="3238500"/>
            <a:ext cx="5080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b="1" spc="100" kern="0" dirty="0">
                <a:solidFill>
                  <a:srgbClr val="D9770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API REQUEST/RESPONSE FLOW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079500" y="3657600"/>
            <a:ext cx="1409700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500" b="1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Request:</a:t>
            </a:r>
            <a:pPr>
              <a:lnSpc>
                <a:spcPct val="160000"/>
              </a:lnSpc>
            </a:pPr>
            <a:r>
              <a:rPr lang="en-US" sz="1500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POST /api/v1/predict with student profile {GPA, Python, SQL, Java, domains}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500" b="1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Processing:</a:t>
            </a:r>
            <a:pPr>
              <a:lnSpc>
                <a:spcPct val="160000"/>
              </a:lnSpc>
            </a:pPr>
            <a:r>
              <a:rPr lang="en-US" sz="1500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Feature engineering → Model inference → SHAP explanation generation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500" b="1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Response:</a:t>
            </a:r>
            <a:pPr>
              <a:lnSpc>
                <a:spcPct val="160000"/>
              </a:lnSpc>
            </a:pPr>
            <a:r>
              <a:rPr lang="en-US" sz="1500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{predicted_career, confidence, shap_values, drivers, inhibitors, top_alternatives}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500" b="1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Persistence:</a:t>
            </a:r>
            <a:pPr>
              <a:lnSpc>
                <a:spcPct val="160000"/>
              </a:lnSpc>
            </a:pPr>
            <a:r>
              <a:rPr lang="en-US" sz="1500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Full result stored in MongoDB for dashboard retrieval and history tracking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762000" y="5588000"/>
            <a:ext cx="14732000" cy="2667000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6" name="Shape 24"/>
          <p:cNvSpPr/>
          <p:nvPr/>
        </p:nvSpPr>
        <p:spPr>
          <a:xfrm>
            <a:off x="7861300" y="6540500"/>
            <a:ext cx="533400" cy="609600"/>
          </a:xfrm>
          <a:custGeom>
            <a:avLst/>
            <a:gdLst/>
            <a:ahLst/>
            <a:cxnLst/>
            <a:rect l="l" t="t" r="r" b="b"/>
            <a:pathLst>
              <a:path w="533400" h="609600">
                <a:moveTo>
                  <a:pt x="76200" y="95250"/>
                </a:moveTo>
                <a:cubicBezTo>
                  <a:pt x="65723" y="95250"/>
                  <a:pt x="57150" y="103823"/>
                  <a:pt x="57150" y="114300"/>
                </a:cubicBezTo>
                <a:lnTo>
                  <a:pt x="57150" y="495300"/>
                </a:lnTo>
                <a:cubicBezTo>
                  <a:pt x="57150" y="505778"/>
                  <a:pt x="65723" y="514350"/>
                  <a:pt x="76200" y="514350"/>
                </a:cubicBezTo>
                <a:lnTo>
                  <a:pt x="457200" y="514350"/>
                </a:lnTo>
                <a:cubicBezTo>
                  <a:pt x="467678" y="514350"/>
                  <a:pt x="476250" y="505778"/>
                  <a:pt x="476250" y="495300"/>
                </a:cubicBezTo>
                <a:lnTo>
                  <a:pt x="476250" y="114300"/>
                </a:lnTo>
                <a:cubicBezTo>
                  <a:pt x="476250" y="103823"/>
                  <a:pt x="467678" y="95250"/>
                  <a:pt x="457200" y="95250"/>
                </a:cubicBezTo>
                <a:lnTo>
                  <a:pt x="76200" y="95250"/>
                </a:lnTo>
                <a:close/>
                <a:moveTo>
                  <a:pt x="0" y="114300"/>
                </a:moveTo>
                <a:cubicBezTo>
                  <a:pt x="0" y="72271"/>
                  <a:pt x="34171" y="38100"/>
                  <a:pt x="76200" y="38100"/>
                </a:cubicBezTo>
                <a:lnTo>
                  <a:pt x="457200" y="38100"/>
                </a:lnTo>
                <a:cubicBezTo>
                  <a:pt x="499229" y="38100"/>
                  <a:pt x="533400" y="72271"/>
                  <a:pt x="533400" y="114300"/>
                </a:cubicBezTo>
                <a:lnTo>
                  <a:pt x="533400" y="495300"/>
                </a:lnTo>
                <a:cubicBezTo>
                  <a:pt x="533400" y="537329"/>
                  <a:pt x="499229" y="571500"/>
                  <a:pt x="457200" y="571500"/>
                </a:cubicBezTo>
                <a:lnTo>
                  <a:pt x="76200" y="571500"/>
                </a:lnTo>
                <a:cubicBezTo>
                  <a:pt x="34171" y="571500"/>
                  <a:pt x="0" y="537329"/>
                  <a:pt x="0" y="495300"/>
                </a:cubicBezTo>
                <a:lnTo>
                  <a:pt x="0" y="114300"/>
                </a:lnTo>
                <a:close/>
                <a:moveTo>
                  <a:pt x="152400" y="152400"/>
                </a:moveTo>
                <a:cubicBezTo>
                  <a:pt x="173428" y="152400"/>
                  <a:pt x="190500" y="169472"/>
                  <a:pt x="190500" y="190500"/>
                </a:cubicBezTo>
                <a:cubicBezTo>
                  <a:pt x="190500" y="211528"/>
                  <a:pt x="173428" y="228600"/>
                  <a:pt x="152400" y="228600"/>
                </a:cubicBezTo>
                <a:cubicBezTo>
                  <a:pt x="131372" y="228600"/>
                  <a:pt x="114300" y="211528"/>
                  <a:pt x="114300" y="190500"/>
                </a:cubicBezTo>
                <a:cubicBezTo>
                  <a:pt x="114300" y="169472"/>
                  <a:pt x="131372" y="152400"/>
                  <a:pt x="152400" y="152400"/>
                </a:cubicBezTo>
                <a:close/>
                <a:moveTo>
                  <a:pt x="314325" y="238125"/>
                </a:moveTo>
                <a:cubicBezTo>
                  <a:pt x="324445" y="238125"/>
                  <a:pt x="333851" y="243483"/>
                  <a:pt x="338971" y="252174"/>
                </a:cubicBezTo>
                <a:lnTo>
                  <a:pt x="434221" y="414099"/>
                </a:lnTo>
                <a:cubicBezTo>
                  <a:pt x="439460" y="422910"/>
                  <a:pt x="439460" y="433864"/>
                  <a:pt x="434340" y="442793"/>
                </a:cubicBezTo>
                <a:cubicBezTo>
                  <a:pt x="429220" y="451723"/>
                  <a:pt x="419814" y="457200"/>
                  <a:pt x="409575" y="457200"/>
                </a:cubicBezTo>
                <a:lnTo>
                  <a:pt x="123825" y="457200"/>
                </a:lnTo>
                <a:cubicBezTo>
                  <a:pt x="113228" y="457200"/>
                  <a:pt x="103346" y="451247"/>
                  <a:pt x="98465" y="441841"/>
                </a:cubicBezTo>
                <a:cubicBezTo>
                  <a:pt x="93583" y="432435"/>
                  <a:pt x="94298" y="421005"/>
                  <a:pt x="100370" y="412313"/>
                </a:cubicBezTo>
                <a:lnTo>
                  <a:pt x="167045" y="317063"/>
                </a:lnTo>
                <a:cubicBezTo>
                  <a:pt x="172403" y="309443"/>
                  <a:pt x="181094" y="304919"/>
                  <a:pt x="190500" y="304919"/>
                </a:cubicBezTo>
                <a:cubicBezTo>
                  <a:pt x="199906" y="304919"/>
                  <a:pt x="208597" y="309443"/>
                  <a:pt x="213955" y="317063"/>
                </a:cubicBezTo>
                <a:lnTo>
                  <a:pt x="234434" y="346353"/>
                </a:lnTo>
                <a:lnTo>
                  <a:pt x="289798" y="252293"/>
                </a:lnTo>
                <a:cubicBezTo>
                  <a:pt x="294918" y="243602"/>
                  <a:pt x="304324" y="238244"/>
                  <a:pt x="314444" y="238244"/>
                </a:cubicBezTo>
                <a:close/>
              </a:path>
            </a:pathLst>
          </a:custGeom>
          <a:solidFill>
            <a:srgbClr val="64748B"/>
          </a:solidFill>
          <a:ln/>
        </p:spPr>
      </p:sp>
      <p:sp>
        <p:nvSpPr>
          <p:cNvPr id="27" name="Text 25"/>
          <p:cNvSpPr/>
          <p:nvPr/>
        </p:nvSpPr>
        <p:spPr>
          <a:xfrm>
            <a:off x="4318000" y="7302500"/>
            <a:ext cx="7620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50000"/>
              </a:lnSpc>
            </a:pPr>
            <a:r>
              <a:rPr lang="en-US" sz="14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[Insert Diagram: API Sequence Diagram — Request → Model →</a:t>
            </a:r>
            <a:endParaRPr lang="en-US" sz="1600" dirty="0"/>
          </a:p>
          <a:p>
            <a:pPr algn="ctr">
              <a:lnSpc>
                <a:spcPct val="150000"/>
              </a:lnSpc>
            </a:pPr>
            <a:r>
              <a:rPr lang="en-US" sz="14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SHAP → DB → Response]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14986000" y="87630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200" dirty="0">
                <a:solidFill>
                  <a:srgbClr val="64748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35</a:t>
            </a:r>
            <a:endParaRPr lang="en-US" sz="1200" dirty="0"/>
          </a:p>
        </p:txBody>
      </p:sp>
    </p:spTree>
  </p:cSld>
  <p:clrMapOvr>
    <a:masterClrMapping/>
  </p:clrMapOvr>
  <p:transition>
    <p:fade/>
    <p:spd val="med"/>
  </p:transition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AFA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45720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Text 1"/>
          <p:cNvSpPr/>
          <p:nvPr/>
        </p:nvSpPr>
        <p:spPr>
          <a:xfrm>
            <a:off x="0" y="0"/>
            <a:ext cx="27051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spc="100" kern="0" dirty="0">
                <a:solidFill>
                  <a:srgbClr val="F8FAF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INTRODUCTION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2705100" y="0"/>
            <a:ext cx="27051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spc="100" kern="0" dirty="0">
                <a:solidFill>
                  <a:srgbClr val="F8FAF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LITERATURE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10200" y="0"/>
            <a:ext cx="27178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spc="100" kern="0" dirty="0">
                <a:solidFill>
                  <a:srgbClr val="F8FAF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METHODOLOGY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128000" y="0"/>
            <a:ext cx="27051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spc="100" kern="0" dirty="0">
                <a:solidFill>
                  <a:srgbClr val="F8FAF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XAI RESULTS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0833100" y="0"/>
            <a:ext cx="27178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spc="100" kern="0" dirty="0">
                <a:solidFill>
                  <a:srgbClr val="F8FAF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IMPLEMENTATION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3550900" y="0"/>
            <a:ext cx="27051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b="1" spc="100" kern="0" dirty="0">
                <a:solidFill>
                  <a:srgbClr val="D9770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DEMONSTRATION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62000" y="660400"/>
            <a:ext cx="8890000" cy="482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b="1" dirty="0">
                <a:solidFill>
                  <a:srgbClr val="1E293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Future Scalability &amp; Enhancements</a:t>
            </a:r>
            <a:endParaRPr lang="en-US" sz="2800" dirty="0"/>
          </a:p>
        </p:txBody>
      </p:sp>
      <p:sp>
        <p:nvSpPr>
          <p:cNvPr id="10" name="Shape 8"/>
          <p:cNvSpPr/>
          <p:nvPr/>
        </p:nvSpPr>
        <p:spPr>
          <a:xfrm>
            <a:off x="762000" y="1206500"/>
            <a:ext cx="762000" cy="3810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11" name="Shape 9"/>
          <p:cNvSpPr/>
          <p:nvPr/>
        </p:nvSpPr>
        <p:spPr>
          <a:xfrm>
            <a:off x="762000" y="1524000"/>
            <a:ext cx="7112000" cy="16510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62000" y="1524000"/>
            <a:ext cx="76200" cy="165100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13" name="Shape 11"/>
          <p:cNvSpPr/>
          <p:nvPr/>
        </p:nvSpPr>
        <p:spPr>
          <a:xfrm>
            <a:off x="1104900" y="1879600"/>
            <a:ext cx="355600" cy="406400"/>
          </a:xfrm>
          <a:custGeom>
            <a:avLst/>
            <a:gdLst/>
            <a:ahLst/>
            <a:cxnLst/>
            <a:rect l="l" t="t" r="r" b="b"/>
            <a:pathLst>
              <a:path w="355600" h="406400">
                <a:moveTo>
                  <a:pt x="355600" y="163354"/>
                </a:moveTo>
                <a:cubicBezTo>
                  <a:pt x="343853" y="171133"/>
                  <a:pt x="330359" y="177403"/>
                  <a:pt x="316309" y="182404"/>
                </a:cubicBezTo>
                <a:cubicBezTo>
                  <a:pt x="279003" y="195739"/>
                  <a:pt x="230029" y="203200"/>
                  <a:pt x="177800" y="203200"/>
                </a:cubicBezTo>
                <a:cubicBezTo>
                  <a:pt x="125571" y="203200"/>
                  <a:pt x="76518" y="195659"/>
                  <a:pt x="39291" y="182404"/>
                </a:cubicBezTo>
                <a:cubicBezTo>
                  <a:pt x="25321" y="177403"/>
                  <a:pt x="11747" y="171133"/>
                  <a:pt x="0" y="163354"/>
                </a:cubicBezTo>
                <a:lnTo>
                  <a:pt x="0" y="228600"/>
                </a:lnTo>
                <a:cubicBezTo>
                  <a:pt x="0" y="263684"/>
                  <a:pt x="79613" y="292100"/>
                  <a:pt x="177800" y="292100"/>
                </a:cubicBezTo>
                <a:cubicBezTo>
                  <a:pt x="275987" y="292100"/>
                  <a:pt x="355600" y="263684"/>
                  <a:pt x="355600" y="228600"/>
                </a:cubicBezTo>
                <a:lnTo>
                  <a:pt x="355600" y="163354"/>
                </a:lnTo>
                <a:close/>
                <a:moveTo>
                  <a:pt x="355600" y="101600"/>
                </a:moveTo>
                <a:lnTo>
                  <a:pt x="355600" y="63500"/>
                </a:lnTo>
                <a:cubicBezTo>
                  <a:pt x="355600" y="28416"/>
                  <a:pt x="275987" y="0"/>
                  <a:pt x="177800" y="0"/>
                </a:cubicBezTo>
                <a:cubicBezTo>
                  <a:pt x="79613" y="0"/>
                  <a:pt x="0" y="28416"/>
                  <a:pt x="0" y="63500"/>
                </a:cubicBezTo>
                <a:lnTo>
                  <a:pt x="0" y="101600"/>
                </a:lnTo>
                <a:cubicBezTo>
                  <a:pt x="0" y="136684"/>
                  <a:pt x="79613" y="165100"/>
                  <a:pt x="177800" y="165100"/>
                </a:cubicBezTo>
                <a:cubicBezTo>
                  <a:pt x="275987" y="165100"/>
                  <a:pt x="355600" y="136684"/>
                  <a:pt x="355600" y="101600"/>
                </a:cubicBezTo>
                <a:close/>
                <a:moveTo>
                  <a:pt x="316309" y="309404"/>
                </a:moveTo>
                <a:cubicBezTo>
                  <a:pt x="279083" y="322659"/>
                  <a:pt x="230108" y="330200"/>
                  <a:pt x="177800" y="330200"/>
                </a:cubicBezTo>
                <a:cubicBezTo>
                  <a:pt x="125492" y="330200"/>
                  <a:pt x="76518" y="322659"/>
                  <a:pt x="39291" y="309404"/>
                </a:cubicBezTo>
                <a:cubicBezTo>
                  <a:pt x="25321" y="304403"/>
                  <a:pt x="11747" y="298133"/>
                  <a:pt x="0" y="290354"/>
                </a:cubicBezTo>
                <a:lnTo>
                  <a:pt x="0" y="342900"/>
                </a:lnTo>
                <a:cubicBezTo>
                  <a:pt x="0" y="377984"/>
                  <a:pt x="79613" y="406400"/>
                  <a:pt x="177800" y="406400"/>
                </a:cubicBezTo>
                <a:cubicBezTo>
                  <a:pt x="275987" y="406400"/>
                  <a:pt x="355600" y="377984"/>
                  <a:pt x="355600" y="342900"/>
                </a:cubicBezTo>
                <a:lnTo>
                  <a:pt x="355600" y="290354"/>
                </a:lnTo>
                <a:cubicBezTo>
                  <a:pt x="343853" y="298133"/>
                  <a:pt x="330359" y="304403"/>
                  <a:pt x="316309" y="309404"/>
                </a:cubicBezTo>
                <a:close/>
              </a:path>
            </a:pathLst>
          </a:custGeom>
          <a:solidFill>
            <a:srgbClr val="D97706"/>
          </a:solidFill>
          <a:ln/>
        </p:spPr>
      </p:sp>
      <p:sp>
        <p:nvSpPr>
          <p:cNvPr id="14" name="Text 12"/>
          <p:cNvSpPr/>
          <p:nvPr/>
        </p:nvSpPr>
        <p:spPr>
          <a:xfrm>
            <a:off x="1651000" y="1752600"/>
            <a:ext cx="5080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Multi-Institution Dataset Expansion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079500" y="2184400"/>
            <a:ext cx="647700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Expand dataset beyond CS students to include multiple institutions, departments, and broader career coverage for generalizability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8382000" y="1524000"/>
            <a:ext cx="7112000" cy="16510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382000" y="1524000"/>
            <a:ext cx="76200" cy="165100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18" name="Shape 16"/>
          <p:cNvSpPr/>
          <p:nvPr/>
        </p:nvSpPr>
        <p:spPr>
          <a:xfrm>
            <a:off x="8674100" y="1879600"/>
            <a:ext cx="457200" cy="406400"/>
          </a:xfrm>
          <a:custGeom>
            <a:avLst/>
            <a:gdLst/>
            <a:ahLst/>
            <a:cxnLst/>
            <a:rect l="l" t="t" r="r" b="b"/>
            <a:pathLst>
              <a:path w="457200" h="406400">
                <a:moveTo>
                  <a:pt x="38100" y="155416"/>
                </a:moveTo>
                <a:lnTo>
                  <a:pt x="204152" y="223758"/>
                </a:lnTo>
                <a:cubicBezTo>
                  <a:pt x="211931" y="226933"/>
                  <a:pt x="220186" y="228600"/>
                  <a:pt x="228600" y="228600"/>
                </a:cubicBezTo>
                <a:cubicBezTo>
                  <a:pt x="237014" y="228600"/>
                  <a:pt x="245269" y="226933"/>
                  <a:pt x="253048" y="223758"/>
                </a:cubicBezTo>
                <a:lnTo>
                  <a:pt x="445453" y="144542"/>
                </a:lnTo>
                <a:cubicBezTo>
                  <a:pt x="452596" y="141605"/>
                  <a:pt x="457200" y="134699"/>
                  <a:pt x="457200" y="127000"/>
                </a:cubicBezTo>
                <a:cubicBezTo>
                  <a:pt x="457200" y="119301"/>
                  <a:pt x="452596" y="112395"/>
                  <a:pt x="445453" y="109458"/>
                </a:cubicBezTo>
                <a:lnTo>
                  <a:pt x="253048" y="30242"/>
                </a:lnTo>
                <a:cubicBezTo>
                  <a:pt x="245269" y="27067"/>
                  <a:pt x="237014" y="25400"/>
                  <a:pt x="228600" y="25400"/>
                </a:cubicBezTo>
                <a:cubicBezTo>
                  <a:pt x="220186" y="25400"/>
                  <a:pt x="211931" y="27067"/>
                  <a:pt x="204152" y="30242"/>
                </a:cubicBezTo>
                <a:lnTo>
                  <a:pt x="11748" y="109458"/>
                </a:lnTo>
                <a:cubicBezTo>
                  <a:pt x="4604" y="112395"/>
                  <a:pt x="0" y="119301"/>
                  <a:pt x="0" y="127000"/>
                </a:cubicBezTo>
                <a:lnTo>
                  <a:pt x="0" y="361950"/>
                </a:lnTo>
                <a:cubicBezTo>
                  <a:pt x="0" y="372507"/>
                  <a:pt x="8493" y="381000"/>
                  <a:pt x="19050" y="381000"/>
                </a:cubicBezTo>
                <a:cubicBezTo>
                  <a:pt x="29607" y="381000"/>
                  <a:pt x="38100" y="372507"/>
                  <a:pt x="38100" y="361950"/>
                </a:cubicBezTo>
                <a:lnTo>
                  <a:pt x="38100" y="155416"/>
                </a:lnTo>
                <a:close/>
                <a:moveTo>
                  <a:pt x="76200" y="212328"/>
                </a:moveTo>
                <a:lnTo>
                  <a:pt x="76200" y="304800"/>
                </a:lnTo>
                <a:cubicBezTo>
                  <a:pt x="76200" y="346869"/>
                  <a:pt x="144463" y="381000"/>
                  <a:pt x="228600" y="381000"/>
                </a:cubicBezTo>
                <a:cubicBezTo>
                  <a:pt x="312738" y="381000"/>
                  <a:pt x="381000" y="346869"/>
                  <a:pt x="381000" y="304800"/>
                </a:cubicBezTo>
                <a:lnTo>
                  <a:pt x="381000" y="212249"/>
                </a:lnTo>
                <a:lnTo>
                  <a:pt x="267573" y="259001"/>
                </a:lnTo>
                <a:cubicBezTo>
                  <a:pt x="255191" y="264081"/>
                  <a:pt x="242014" y="266700"/>
                  <a:pt x="228600" y="266700"/>
                </a:cubicBezTo>
                <a:cubicBezTo>
                  <a:pt x="215186" y="266700"/>
                  <a:pt x="202009" y="264081"/>
                  <a:pt x="189627" y="259001"/>
                </a:cubicBezTo>
                <a:lnTo>
                  <a:pt x="76200" y="212249"/>
                </a:lnTo>
                <a:close/>
              </a:path>
            </a:pathLst>
          </a:custGeom>
          <a:solidFill>
            <a:srgbClr val="D97706"/>
          </a:solidFill>
          <a:ln/>
        </p:spPr>
      </p:sp>
      <p:sp>
        <p:nvSpPr>
          <p:cNvPr id="19" name="Text 17"/>
          <p:cNvSpPr/>
          <p:nvPr/>
        </p:nvSpPr>
        <p:spPr>
          <a:xfrm>
            <a:off x="9271000" y="1752600"/>
            <a:ext cx="5080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LMS Integration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8699500" y="2184400"/>
            <a:ext cx="647700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Integration with Learning Management Systems (Canvas, Blackboard) for real-time grade synchronization and dynamic profile updates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762000" y="3492500"/>
            <a:ext cx="7112000" cy="16510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62000" y="3492500"/>
            <a:ext cx="76200" cy="165100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23" name="Shape 21"/>
          <p:cNvSpPr/>
          <p:nvPr/>
        </p:nvSpPr>
        <p:spPr>
          <a:xfrm>
            <a:off x="1028700" y="3848100"/>
            <a:ext cx="508000" cy="406400"/>
          </a:xfrm>
          <a:custGeom>
            <a:avLst/>
            <a:gdLst/>
            <a:ahLst/>
            <a:cxnLst/>
            <a:rect l="l" t="t" r="r" b="b"/>
            <a:pathLst>
              <a:path w="508000" h="406400">
                <a:moveTo>
                  <a:pt x="279400" y="0"/>
                </a:moveTo>
                <a:cubicBezTo>
                  <a:pt x="279400" y="-14049"/>
                  <a:pt x="268049" y="-25400"/>
                  <a:pt x="254000" y="-25400"/>
                </a:cubicBezTo>
                <a:cubicBezTo>
                  <a:pt x="239951" y="-25400"/>
                  <a:pt x="228600" y="-14049"/>
                  <a:pt x="228600" y="0"/>
                </a:cubicBezTo>
                <a:lnTo>
                  <a:pt x="228600" y="50800"/>
                </a:lnTo>
                <a:lnTo>
                  <a:pt x="152400" y="50800"/>
                </a:lnTo>
                <a:cubicBezTo>
                  <a:pt x="110331" y="50800"/>
                  <a:pt x="76200" y="84931"/>
                  <a:pt x="76200" y="127000"/>
                </a:cubicBezTo>
                <a:lnTo>
                  <a:pt x="76200" y="304800"/>
                </a:lnTo>
                <a:cubicBezTo>
                  <a:pt x="76200" y="346869"/>
                  <a:pt x="110331" y="381000"/>
                  <a:pt x="152400" y="381000"/>
                </a:cubicBezTo>
                <a:lnTo>
                  <a:pt x="355600" y="381000"/>
                </a:lnTo>
                <a:cubicBezTo>
                  <a:pt x="397669" y="381000"/>
                  <a:pt x="431800" y="346869"/>
                  <a:pt x="431800" y="304800"/>
                </a:cubicBezTo>
                <a:lnTo>
                  <a:pt x="431800" y="127000"/>
                </a:lnTo>
                <a:cubicBezTo>
                  <a:pt x="431800" y="84931"/>
                  <a:pt x="397669" y="50800"/>
                  <a:pt x="355600" y="50800"/>
                </a:cubicBezTo>
                <a:lnTo>
                  <a:pt x="279400" y="50800"/>
                </a:lnTo>
                <a:lnTo>
                  <a:pt x="279400" y="0"/>
                </a:lnTo>
                <a:close/>
                <a:moveTo>
                  <a:pt x="127000" y="292100"/>
                </a:moveTo>
                <a:cubicBezTo>
                  <a:pt x="127000" y="281543"/>
                  <a:pt x="135493" y="273050"/>
                  <a:pt x="146050" y="273050"/>
                </a:cubicBezTo>
                <a:lnTo>
                  <a:pt x="171450" y="273050"/>
                </a:lnTo>
                <a:cubicBezTo>
                  <a:pt x="182007" y="273050"/>
                  <a:pt x="190500" y="281543"/>
                  <a:pt x="190500" y="292100"/>
                </a:cubicBezTo>
                <a:cubicBezTo>
                  <a:pt x="190500" y="302657"/>
                  <a:pt x="182007" y="311150"/>
                  <a:pt x="171450" y="311150"/>
                </a:cubicBezTo>
                <a:lnTo>
                  <a:pt x="146050" y="311150"/>
                </a:lnTo>
                <a:cubicBezTo>
                  <a:pt x="135493" y="311150"/>
                  <a:pt x="127000" y="302657"/>
                  <a:pt x="127000" y="292100"/>
                </a:cubicBezTo>
                <a:close/>
                <a:moveTo>
                  <a:pt x="222250" y="292100"/>
                </a:moveTo>
                <a:cubicBezTo>
                  <a:pt x="222250" y="281543"/>
                  <a:pt x="230743" y="273050"/>
                  <a:pt x="241300" y="273050"/>
                </a:cubicBezTo>
                <a:lnTo>
                  <a:pt x="266700" y="273050"/>
                </a:lnTo>
                <a:cubicBezTo>
                  <a:pt x="277257" y="273050"/>
                  <a:pt x="285750" y="281543"/>
                  <a:pt x="285750" y="292100"/>
                </a:cubicBezTo>
                <a:cubicBezTo>
                  <a:pt x="285750" y="302657"/>
                  <a:pt x="277257" y="311150"/>
                  <a:pt x="266700" y="311150"/>
                </a:cubicBezTo>
                <a:lnTo>
                  <a:pt x="241300" y="311150"/>
                </a:lnTo>
                <a:cubicBezTo>
                  <a:pt x="230743" y="311150"/>
                  <a:pt x="222250" y="302657"/>
                  <a:pt x="222250" y="292100"/>
                </a:cubicBezTo>
                <a:close/>
                <a:moveTo>
                  <a:pt x="317500" y="292100"/>
                </a:moveTo>
                <a:cubicBezTo>
                  <a:pt x="317500" y="281543"/>
                  <a:pt x="325993" y="273050"/>
                  <a:pt x="336550" y="273050"/>
                </a:cubicBezTo>
                <a:lnTo>
                  <a:pt x="361950" y="273050"/>
                </a:lnTo>
                <a:cubicBezTo>
                  <a:pt x="372507" y="273050"/>
                  <a:pt x="381000" y="281543"/>
                  <a:pt x="381000" y="292100"/>
                </a:cubicBezTo>
                <a:cubicBezTo>
                  <a:pt x="381000" y="302657"/>
                  <a:pt x="372507" y="311150"/>
                  <a:pt x="361950" y="311150"/>
                </a:cubicBezTo>
                <a:lnTo>
                  <a:pt x="336550" y="311150"/>
                </a:lnTo>
                <a:cubicBezTo>
                  <a:pt x="325993" y="311150"/>
                  <a:pt x="317500" y="302657"/>
                  <a:pt x="317500" y="292100"/>
                </a:cubicBezTo>
                <a:close/>
                <a:moveTo>
                  <a:pt x="177800" y="139700"/>
                </a:moveTo>
                <a:cubicBezTo>
                  <a:pt x="198828" y="139700"/>
                  <a:pt x="215900" y="156772"/>
                  <a:pt x="215900" y="177800"/>
                </a:cubicBezTo>
                <a:cubicBezTo>
                  <a:pt x="215900" y="198828"/>
                  <a:pt x="198828" y="215900"/>
                  <a:pt x="177800" y="215900"/>
                </a:cubicBezTo>
                <a:cubicBezTo>
                  <a:pt x="156772" y="215900"/>
                  <a:pt x="139700" y="198828"/>
                  <a:pt x="139700" y="177800"/>
                </a:cubicBezTo>
                <a:cubicBezTo>
                  <a:pt x="139700" y="156772"/>
                  <a:pt x="156772" y="139700"/>
                  <a:pt x="177800" y="139700"/>
                </a:cubicBezTo>
                <a:close/>
                <a:moveTo>
                  <a:pt x="292100" y="177800"/>
                </a:moveTo>
                <a:cubicBezTo>
                  <a:pt x="292100" y="156772"/>
                  <a:pt x="309172" y="139700"/>
                  <a:pt x="330200" y="139700"/>
                </a:cubicBezTo>
                <a:cubicBezTo>
                  <a:pt x="351228" y="139700"/>
                  <a:pt x="368300" y="156772"/>
                  <a:pt x="368300" y="177800"/>
                </a:cubicBezTo>
                <a:cubicBezTo>
                  <a:pt x="368300" y="198828"/>
                  <a:pt x="351228" y="215900"/>
                  <a:pt x="330200" y="215900"/>
                </a:cubicBezTo>
                <a:cubicBezTo>
                  <a:pt x="309172" y="215900"/>
                  <a:pt x="292100" y="198828"/>
                  <a:pt x="292100" y="177800"/>
                </a:cubicBezTo>
                <a:close/>
                <a:moveTo>
                  <a:pt x="50800" y="177800"/>
                </a:moveTo>
                <a:cubicBezTo>
                  <a:pt x="50800" y="163751"/>
                  <a:pt x="39449" y="152400"/>
                  <a:pt x="25400" y="152400"/>
                </a:cubicBezTo>
                <a:cubicBezTo>
                  <a:pt x="11351" y="152400"/>
                  <a:pt x="0" y="163751"/>
                  <a:pt x="0" y="177800"/>
                </a:cubicBezTo>
                <a:lnTo>
                  <a:pt x="0" y="254000"/>
                </a:lnTo>
                <a:cubicBezTo>
                  <a:pt x="0" y="268049"/>
                  <a:pt x="11351" y="279400"/>
                  <a:pt x="25400" y="279400"/>
                </a:cubicBezTo>
                <a:cubicBezTo>
                  <a:pt x="39449" y="279400"/>
                  <a:pt x="50800" y="268049"/>
                  <a:pt x="50800" y="254000"/>
                </a:cubicBezTo>
                <a:lnTo>
                  <a:pt x="50800" y="177800"/>
                </a:lnTo>
                <a:close/>
                <a:moveTo>
                  <a:pt x="482600" y="152400"/>
                </a:moveTo>
                <a:cubicBezTo>
                  <a:pt x="468551" y="152400"/>
                  <a:pt x="457200" y="163751"/>
                  <a:pt x="457200" y="177800"/>
                </a:cubicBezTo>
                <a:lnTo>
                  <a:pt x="457200" y="254000"/>
                </a:lnTo>
                <a:cubicBezTo>
                  <a:pt x="457200" y="268049"/>
                  <a:pt x="468551" y="279400"/>
                  <a:pt x="482600" y="279400"/>
                </a:cubicBezTo>
                <a:cubicBezTo>
                  <a:pt x="496649" y="279400"/>
                  <a:pt x="508000" y="268049"/>
                  <a:pt x="508000" y="254000"/>
                </a:cubicBezTo>
                <a:lnTo>
                  <a:pt x="508000" y="177800"/>
                </a:lnTo>
                <a:cubicBezTo>
                  <a:pt x="508000" y="163751"/>
                  <a:pt x="496649" y="152400"/>
                  <a:pt x="482600" y="152400"/>
                </a:cubicBezTo>
                <a:close/>
              </a:path>
            </a:pathLst>
          </a:custGeom>
          <a:solidFill>
            <a:srgbClr val="1E293B"/>
          </a:solidFill>
          <a:ln/>
        </p:spPr>
      </p:sp>
      <p:sp>
        <p:nvSpPr>
          <p:cNvPr id="24" name="Text 22"/>
          <p:cNvSpPr/>
          <p:nvPr/>
        </p:nvSpPr>
        <p:spPr>
          <a:xfrm>
            <a:off x="1651000" y="3721100"/>
            <a:ext cx="5080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LLM-Powered Career Counseling Agent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1270000" y="4152900"/>
            <a:ext cx="628650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Long-term memory agent that maintains student conversation history and provides increasingly personalized guidance over time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8382000" y="3492500"/>
            <a:ext cx="7112000" cy="16510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382000" y="3492500"/>
            <a:ext cx="76200" cy="165100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28" name="Shape 26"/>
          <p:cNvSpPr/>
          <p:nvPr/>
        </p:nvSpPr>
        <p:spPr>
          <a:xfrm>
            <a:off x="8750300" y="3848100"/>
            <a:ext cx="304800" cy="406400"/>
          </a:xfrm>
          <a:custGeom>
            <a:avLst/>
            <a:gdLst/>
            <a:ahLst/>
            <a:cxnLst/>
            <a:rect l="l" t="t" r="r" b="b"/>
            <a:pathLst>
              <a:path w="304800" h="406400">
                <a:moveTo>
                  <a:pt x="12700" y="50800"/>
                </a:moveTo>
                <a:cubicBezTo>
                  <a:pt x="12700" y="22781"/>
                  <a:pt x="35481" y="0"/>
                  <a:pt x="63500" y="0"/>
                </a:cubicBezTo>
                <a:lnTo>
                  <a:pt x="241300" y="0"/>
                </a:lnTo>
                <a:cubicBezTo>
                  <a:pt x="269319" y="0"/>
                  <a:pt x="292100" y="22781"/>
                  <a:pt x="292100" y="50800"/>
                </a:cubicBezTo>
                <a:lnTo>
                  <a:pt x="292100" y="355600"/>
                </a:lnTo>
                <a:cubicBezTo>
                  <a:pt x="292100" y="383619"/>
                  <a:pt x="269319" y="406400"/>
                  <a:pt x="241300" y="406400"/>
                </a:cubicBezTo>
                <a:lnTo>
                  <a:pt x="63500" y="406400"/>
                </a:lnTo>
                <a:cubicBezTo>
                  <a:pt x="35481" y="406400"/>
                  <a:pt x="12700" y="383619"/>
                  <a:pt x="12700" y="355600"/>
                </a:cubicBezTo>
                <a:lnTo>
                  <a:pt x="12700" y="50800"/>
                </a:lnTo>
                <a:close/>
                <a:moveTo>
                  <a:pt x="101600" y="349250"/>
                </a:moveTo>
                <a:cubicBezTo>
                  <a:pt x="101600" y="359807"/>
                  <a:pt x="110093" y="368300"/>
                  <a:pt x="120650" y="368300"/>
                </a:cubicBezTo>
                <a:lnTo>
                  <a:pt x="184150" y="368300"/>
                </a:lnTo>
                <a:cubicBezTo>
                  <a:pt x="194707" y="368300"/>
                  <a:pt x="203200" y="359807"/>
                  <a:pt x="203200" y="349250"/>
                </a:cubicBezTo>
                <a:cubicBezTo>
                  <a:pt x="203200" y="338693"/>
                  <a:pt x="194707" y="330200"/>
                  <a:pt x="184150" y="330200"/>
                </a:cubicBezTo>
                <a:lnTo>
                  <a:pt x="120650" y="330200"/>
                </a:lnTo>
                <a:cubicBezTo>
                  <a:pt x="110093" y="330200"/>
                  <a:pt x="101600" y="338693"/>
                  <a:pt x="101600" y="349250"/>
                </a:cubicBezTo>
                <a:close/>
                <a:moveTo>
                  <a:pt x="241300" y="50800"/>
                </a:moveTo>
                <a:lnTo>
                  <a:pt x="63500" y="50800"/>
                </a:lnTo>
                <a:lnTo>
                  <a:pt x="63500" y="292100"/>
                </a:lnTo>
                <a:lnTo>
                  <a:pt x="241300" y="292100"/>
                </a:lnTo>
                <a:lnTo>
                  <a:pt x="241300" y="50800"/>
                </a:lnTo>
                <a:close/>
              </a:path>
            </a:pathLst>
          </a:custGeom>
          <a:solidFill>
            <a:srgbClr val="1E293B"/>
          </a:solidFill>
          <a:ln/>
        </p:spPr>
      </p:sp>
      <p:sp>
        <p:nvSpPr>
          <p:cNvPr id="29" name="Text 27"/>
          <p:cNvSpPr/>
          <p:nvPr/>
        </p:nvSpPr>
        <p:spPr>
          <a:xfrm>
            <a:off x="9271000" y="3721100"/>
            <a:ext cx="5080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Mobile Application (React Native)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8890000" y="4152900"/>
            <a:ext cx="628650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Cross-platform mobile app for on-the-go access to career predictions, roadmaps, and the AI tutor with push notifications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762000" y="5524500"/>
            <a:ext cx="14732000" cy="2667000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2" name="Shape 30"/>
          <p:cNvSpPr/>
          <p:nvPr/>
        </p:nvSpPr>
        <p:spPr>
          <a:xfrm>
            <a:off x="7861300" y="6350000"/>
            <a:ext cx="533400" cy="609600"/>
          </a:xfrm>
          <a:custGeom>
            <a:avLst/>
            <a:gdLst/>
            <a:ahLst/>
            <a:cxnLst/>
            <a:rect l="l" t="t" r="r" b="b"/>
            <a:pathLst>
              <a:path w="533400" h="609600">
                <a:moveTo>
                  <a:pt x="76200" y="95250"/>
                </a:moveTo>
                <a:cubicBezTo>
                  <a:pt x="65723" y="95250"/>
                  <a:pt x="57150" y="103823"/>
                  <a:pt x="57150" y="114300"/>
                </a:cubicBezTo>
                <a:lnTo>
                  <a:pt x="57150" y="495300"/>
                </a:lnTo>
                <a:cubicBezTo>
                  <a:pt x="57150" y="505778"/>
                  <a:pt x="65723" y="514350"/>
                  <a:pt x="76200" y="514350"/>
                </a:cubicBezTo>
                <a:lnTo>
                  <a:pt x="457200" y="514350"/>
                </a:lnTo>
                <a:cubicBezTo>
                  <a:pt x="467678" y="514350"/>
                  <a:pt x="476250" y="505778"/>
                  <a:pt x="476250" y="495300"/>
                </a:cubicBezTo>
                <a:lnTo>
                  <a:pt x="476250" y="114300"/>
                </a:lnTo>
                <a:cubicBezTo>
                  <a:pt x="476250" y="103823"/>
                  <a:pt x="467678" y="95250"/>
                  <a:pt x="457200" y="95250"/>
                </a:cubicBezTo>
                <a:lnTo>
                  <a:pt x="76200" y="95250"/>
                </a:lnTo>
                <a:close/>
                <a:moveTo>
                  <a:pt x="0" y="114300"/>
                </a:moveTo>
                <a:cubicBezTo>
                  <a:pt x="0" y="72271"/>
                  <a:pt x="34171" y="38100"/>
                  <a:pt x="76200" y="38100"/>
                </a:cubicBezTo>
                <a:lnTo>
                  <a:pt x="457200" y="38100"/>
                </a:lnTo>
                <a:cubicBezTo>
                  <a:pt x="499229" y="38100"/>
                  <a:pt x="533400" y="72271"/>
                  <a:pt x="533400" y="114300"/>
                </a:cubicBezTo>
                <a:lnTo>
                  <a:pt x="533400" y="495300"/>
                </a:lnTo>
                <a:cubicBezTo>
                  <a:pt x="533400" y="537329"/>
                  <a:pt x="499229" y="571500"/>
                  <a:pt x="457200" y="571500"/>
                </a:cubicBezTo>
                <a:lnTo>
                  <a:pt x="76200" y="571500"/>
                </a:lnTo>
                <a:cubicBezTo>
                  <a:pt x="34171" y="571500"/>
                  <a:pt x="0" y="537329"/>
                  <a:pt x="0" y="495300"/>
                </a:cubicBezTo>
                <a:lnTo>
                  <a:pt x="0" y="114300"/>
                </a:lnTo>
                <a:close/>
                <a:moveTo>
                  <a:pt x="152400" y="152400"/>
                </a:moveTo>
                <a:cubicBezTo>
                  <a:pt x="173428" y="152400"/>
                  <a:pt x="190500" y="169472"/>
                  <a:pt x="190500" y="190500"/>
                </a:cubicBezTo>
                <a:cubicBezTo>
                  <a:pt x="190500" y="211528"/>
                  <a:pt x="173428" y="228600"/>
                  <a:pt x="152400" y="228600"/>
                </a:cubicBezTo>
                <a:cubicBezTo>
                  <a:pt x="131372" y="228600"/>
                  <a:pt x="114300" y="211528"/>
                  <a:pt x="114300" y="190500"/>
                </a:cubicBezTo>
                <a:cubicBezTo>
                  <a:pt x="114300" y="169472"/>
                  <a:pt x="131372" y="152400"/>
                  <a:pt x="152400" y="152400"/>
                </a:cubicBezTo>
                <a:close/>
                <a:moveTo>
                  <a:pt x="314325" y="238125"/>
                </a:moveTo>
                <a:cubicBezTo>
                  <a:pt x="324445" y="238125"/>
                  <a:pt x="333851" y="243483"/>
                  <a:pt x="338971" y="252174"/>
                </a:cubicBezTo>
                <a:lnTo>
                  <a:pt x="434221" y="414099"/>
                </a:lnTo>
                <a:cubicBezTo>
                  <a:pt x="439460" y="422910"/>
                  <a:pt x="439460" y="433864"/>
                  <a:pt x="434340" y="442793"/>
                </a:cubicBezTo>
                <a:cubicBezTo>
                  <a:pt x="429220" y="451723"/>
                  <a:pt x="419814" y="457200"/>
                  <a:pt x="409575" y="457200"/>
                </a:cubicBezTo>
                <a:lnTo>
                  <a:pt x="123825" y="457200"/>
                </a:lnTo>
                <a:cubicBezTo>
                  <a:pt x="113228" y="457200"/>
                  <a:pt x="103346" y="451247"/>
                  <a:pt x="98465" y="441841"/>
                </a:cubicBezTo>
                <a:cubicBezTo>
                  <a:pt x="93583" y="432435"/>
                  <a:pt x="94298" y="421005"/>
                  <a:pt x="100370" y="412313"/>
                </a:cubicBezTo>
                <a:lnTo>
                  <a:pt x="167045" y="317063"/>
                </a:lnTo>
                <a:cubicBezTo>
                  <a:pt x="172403" y="309443"/>
                  <a:pt x="181094" y="304919"/>
                  <a:pt x="190500" y="304919"/>
                </a:cubicBezTo>
                <a:cubicBezTo>
                  <a:pt x="199906" y="304919"/>
                  <a:pt x="208597" y="309443"/>
                  <a:pt x="213955" y="317063"/>
                </a:cubicBezTo>
                <a:lnTo>
                  <a:pt x="234434" y="346353"/>
                </a:lnTo>
                <a:lnTo>
                  <a:pt x="289798" y="252293"/>
                </a:lnTo>
                <a:cubicBezTo>
                  <a:pt x="294918" y="243602"/>
                  <a:pt x="304324" y="238244"/>
                  <a:pt x="314444" y="238244"/>
                </a:cubicBezTo>
                <a:close/>
              </a:path>
            </a:pathLst>
          </a:custGeom>
          <a:solidFill>
            <a:srgbClr val="64748B"/>
          </a:solidFill>
          <a:ln/>
        </p:spPr>
      </p:sp>
      <p:sp>
        <p:nvSpPr>
          <p:cNvPr id="33" name="Text 31"/>
          <p:cNvSpPr/>
          <p:nvPr/>
        </p:nvSpPr>
        <p:spPr>
          <a:xfrm>
            <a:off x="4826000" y="7112000"/>
            <a:ext cx="6604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[Insert Diagram: Future Roadmap / Enhancement Timeline]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14986000" y="87630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200" dirty="0">
                <a:solidFill>
                  <a:srgbClr val="64748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36</a:t>
            </a:r>
            <a:endParaRPr lang="en-US" sz="1200" dirty="0"/>
          </a:p>
        </p:txBody>
      </p:sp>
    </p:spTree>
  </p:cSld>
  <p:clrMapOvr>
    <a:masterClrMapping/>
  </p:clrMapOvr>
  <p:transition>
    <p:fade/>
    <p:spd val="med"/>
  </p:transition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okc/7emsas32o6uyo/mnt/agents/output/xai-academic-guidance/images/4_Minimalist_Glowing_Neural_Network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gradFill rotWithShape="1" flip="none">
            <a:gsLst>
              <a:gs pos="0">
                <a:srgbClr val="0F172A">
                  <a:alpha val="80000"/>
                </a:srgbClr>
              </a:gs>
              <a:gs pos="100000">
                <a:srgbClr val="0F172A">
                  <a:alpha val="95000"/>
                </a:srgbClr>
              </a:gs>
            </a:gsLst>
            <a:path path="circle"/>
          </a:gradFill>
          <a:ln w="12700">
            <a:solidFill>
              <a:srgbClr val="333333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6858000" y="2794000"/>
            <a:ext cx="2540000" cy="3810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5" name="Text 2"/>
          <p:cNvSpPr/>
          <p:nvPr/>
        </p:nvSpPr>
        <p:spPr>
          <a:xfrm>
            <a:off x="2540000" y="3048000"/>
            <a:ext cx="11176000" cy="889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4800" b="1" spc="400" kern="0" dirty="0">
                <a:solidFill>
                  <a:srgbClr val="F8FAF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THANK YOU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2540000" y="4064000"/>
            <a:ext cx="11176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0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Explainable Agent-Based AI for Student Academic Guidance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6858000" y="4826000"/>
            <a:ext cx="2540000" cy="25400"/>
          </a:xfrm>
          <a:prstGeom prst="rect">
            <a:avLst/>
          </a:prstGeom>
          <a:solidFill>
            <a:srgbClr val="64748B">
              <a:alpha val="50196"/>
            </a:srgbClr>
          </a:solidFill>
          <a:ln/>
        </p:spPr>
      </p:sp>
      <p:sp>
        <p:nvSpPr>
          <p:cNvPr id="8" name="Text 5"/>
          <p:cNvSpPr/>
          <p:nvPr/>
        </p:nvSpPr>
        <p:spPr>
          <a:xfrm>
            <a:off x="3810000" y="5080000"/>
            <a:ext cx="8636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60000"/>
              </a:lnSpc>
            </a:pPr>
            <a:r>
              <a:rPr lang="en-US" sz="1800" dirty="0">
                <a:solidFill>
                  <a:srgbClr val="F8FAF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Questions &amp; Discussion</a:t>
            </a:r>
            <a:endParaRPr lang="en-US" sz="1600" dirty="0"/>
          </a:p>
          <a:p>
            <a:pPr algn="ctr">
              <a:lnSpc>
                <a:spcPct val="160000"/>
              </a:lnSpc>
            </a:pPr>
            <a:r>
              <a:rPr lang="en-US" sz="14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Computer Science Department — Final Year Project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theme/theme1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8daac2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37</Slides>
  <Notes>37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37</vt:i4>
      </vt:variant>
    </vt:vector>
  </HeadingPairs>
  <TitlesOfParts>
    <vt:vector size="4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</vt:vector>
  </TitlesOfParts>
  <Company>Moonshot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Explainable Agent-Based AI for Student Academic Guidance</dc:title>
  <dc:subject>Explainable Agent-Based AI for Student Academic Guidance</dc:subject>
  <dc:creator>Kimi</dc:creator>
  <cp:lastModifiedBy>Kimi</cp:lastModifiedBy>
  <cp:revision>1</cp:revision>
  <dcterms:created xsi:type="dcterms:W3CDTF">2026-05-04T20:43:39Z</dcterms:created>
  <dcterms:modified xsi:type="dcterms:W3CDTF">2026-05-04T20:43:39Z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4" name="AIGC">
    <vt:lpwstr>{"Label":"Explainable Agent-Based AI for Student Academic Guidance","ContentProducer":"001191110108MACG2KBH8F10000","ProduceID":"19df4b9c-ebb2-84ef-8000-00006aa7ae3a","ReservedCode1":"","ContentPropagator":"001191110108MACG2KBH8F20000","PropagateID":"19df4b9c-ebb2-84ef-8000-00006aa7ae3a","ReservedCode2":""}</vt:lpwstr>
  </property>
</Properties>
</file>